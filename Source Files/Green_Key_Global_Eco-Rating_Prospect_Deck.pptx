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c:v>
                </c:pt>
              </c:strCache>
            </c:strRef>
          </c:tx>
          <c:spPr>
            <a:solidFill>
              <a:srgbClr val="196B24"/>
            </a:solidFill>
            <a:effectLst/>
          </c:spPr>
          <c:invertIfNegative val="0"/>
          <c:dLbls>
            <c:numFmt formatCode="0&quot;%&quot;" sourceLinked="0"/>
            <c:txPr>
              <a:bodyPr/>
              <a:lstStyle/>
              <a:p>
                <a:pPr>
                  <a:defRPr b="1" i="0" strike="noStrike" sz="1400" u="none">
                    <a:solidFill>
                      <a:srgbClr val="1A1A1A"/>
                    </a:solidFill>
                    <a:latin typeface="Arial"/>
                  </a:defRPr>
                </a:pPr>
              </a:p>
            </c:txPr>
            <c:showLegendKey val="0"/>
            <c:showVal val="1"/>
            <c:showCatName val="0"/>
            <c:showSerName val="0"/>
            <c:showPercent val="0"/>
            <c:showBubbleSize val="0"/>
            <c:showLeaderLines val="0"/>
          </c:dLbls>
          <c:cat>
            <c:multiLvlStrRef>
              <c:f>Sheet1!$A$2:$A$4</c:f>
              <c:multiLvlStrCache>
                <c:ptCount val="3"/>
                <c:lvl>
                  <c:pt idx="0">
                    <c:v>Travel buyers adding sustainability
clauses to supplier contracts</c:v>
                  </c:pt>
                  <c:pt idx="1">
                    <c:v>Global travelers who say
sustainable travel is vital</c:v>
                  </c:pt>
                  <c:pt idx="2">
                    <c:v>Consumers who look for sustainable
options when traveling</c:v>
                  </c:pt>
                </c:lvl>
              </c:multiLvlStrCache>
            </c:multiLvlStrRef>
          </c:cat>
          <c:val>
            <c:numRef>
              <c:f>Sheet1!$B$2:$B$4</c:f>
              <c:numCache>
                <c:formatCode>General</c:formatCode>
                <c:ptCount val="3"/>
                <c:pt idx="0">
                  <c:v>76</c:v>
                </c:pt>
                <c:pt idx="1">
                  <c:v>83</c:v>
                </c:pt>
                <c:pt idx="2">
                  <c:v>90</c:v>
                </c:pt>
              </c:numCache>
            </c:numRef>
          </c:val>
        </c:ser>
        <c:dLbls>
          <c:numFmt formatCode="0&quot;%&quot;" sourceLinked="0"/>
          <c:txPr>
            <a:bodyPr/>
            <a:lstStyle/>
            <a:p>
              <a:pPr>
                <a:defRPr b="1" i="0" strike="noStrike" sz="14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Montserrat Medium"/>
              </a:defRPr>
            </a:pPr>
            <a:endParaRPr lang="en-US"/>
          </a:p>
        </c:txPr>
        <c:crossAx val="2094734552"/>
        <c:crosses val="autoZero"/>
        <c:auto val="1"/>
        <c:lblAlgn val="ctr"/>
        <c:noMultiLvlLbl val="1"/>
      </c:catAx>
      <c:valAx>
        <c:axId val="2094734552"/>
        <c:scaling>
          <c:orientation val="minMax"/>
          <c:max val="1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A1A1A"/>
                </a:solidFill>
                <a:latin typeface="Montserrat Medium"/>
              </a:defRPr>
            </a:pPr>
            <a:r>
              <a:rPr sz="1250" b="0" i="0" u="none" strike="noStrike">
                <a:solidFill>
                  <a:srgbClr val="1A1A1A"/>
                </a:solidFill>
                <a:latin typeface="Montserrat Medium"/>
              </a:rPr>
              <a:t>Average corporate room nights per hotel, by Alō sustainability score (2025)</a:t>
            </a:r>
          </a:p>
        </c:rich>
      </c:tx>
      <c:layout/>
      <c:overlay val="0"/>
    </c:title>
    <c:autoTitleDeleted val="0"/>
    <c:plotArea>
      <c:layout/>
      <c:barChart>
        <c:barDir val="col"/>
        <c:grouping val="clustered"/>
        <c:varyColors val="0"/>
        <c:ser>
          <c:idx val="0"/>
          <c:order val="0"/>
          <c:tx>
            <c:strRef>
              <c:f>Sheet1!$B$1</c:f>
              <c:strCache>
                <c:ptCount val="1"/>
                <c:pt idx="0">
                  <c:v>Avg room nights</c:v>
                </c:pt>
              </c:strCache>
            </c:strRef>
          </c:tx>
          <c:spPr>
            <a:solidFill>
              <a:srgbClr val="C9CFCB"/>
            </a:solidFill>
            <a:effectLst/>
          </c:spPr>
          <c:invertIfNegative val="0"/>
          <c:dLbls>
            <c:numFmt formatCode="#,##0" sourceLinked="0"/>
            <c:txPr>
              <a:bodyPr/>
              <a:lstStyle/>
              <a:p>
                <a:pPr>
                  <a:defRPr b="1" i="0" strike="noStrike" sz="1200" u="none">
                    <a:solidFill>
                      <a:srgbClr val="1A1A1A"/>
                    </a:solidFill>
                    <a:latin typeface="Arial"/>
                  </a:defRPr>
                </a:pPr>
              </a:p>
            </c:txPr>
            <c:showLegendKey val="0"/>
            <c:showVal val="1"/>
            <c:showCatName val="0"/>
            <c:showSerName val="0"/>
            <c:showPercent val="0"/>
            <c:showBubbleSize val="0"/>
            <c:showLeaderLines val="0"/>
          </c:dLbls>
          <c:dPt>
            <c:idx val="0"/>
            <c:invertIfNegative val="0"/>
            <c:bubble3D val="0"/>
            <c:spPr>
              <a:solidFill>
                <a:srgbClr val="C9CFCB"/>
              </a:solidFill>
              <a:effectLst/>
            </c:spPr>
          </c:dPt>
          <c:dPt>
            <c:idx val="1"/>
            <c:invertIfNegative val="0"/>
            <c:bubble3D val="0"/>
            <c:spPr>
              <a:solidFill>
                <a:srgbClr val="C9CFCB"/>
              </a:solidFill>
              <a:effectLst/>
            </c:spPr>
          </c:dPt>
          <c:dPt>
            <c:idx val="2"/>
            <c:invertIfNegative val="0"/>
            <c:bubble3D val="0"/>
            <c:spPr>
              <a:solidFill>
                <a:srgbClr val="92D050"/>
              </a:solidFill>
              <a:effectLst/>
            </c:spPr>
          </c:dPt>
          <c:dPt>
            <c:idx val="3"/>
            <c:invertIfNegative val="0"/>
            <c:bubble3D val="0"/>
            <c:spPr>
              <a:solidFill>
                <a:srgbClr val="196B24"/>
              </a:solidFill>
              <a:effectLst/>
            </c:spPr>
          </c:dPt>
          <c:cat>
            <c:multiLvlStrRef>
              <c:f>Sheet1!$A$2:$A$5</c:f>
              <c:multiLvlStrCache>
                <c:ptCount val="4"/>
                <c:lvl>
                  <c:pt idx="0">
                    <c:v>Score 0</c:v>
                  </c:pt>
                  <c:pt idx="1">
                    <c:v>Score 1-60</c:v>
                  </c:pt>
                  <c:pt idx="2">
                    <c:v>Score 61-80</c:v>
                  </c:pt>
                  <c:pt idx="3">
                    <c:v>Score 81-100</c:v>
                  </c:pt>
                </c:lvl>
              </c:multiLvlStrCache>
            </c:multiLvlStrRef>
          </c:cat>
          <c:val>
            <c:numRef>
              <c:f>Sheet1!$B$2:$B$5</c:f>
              <c:numCache>
                <c:formatCode>General</c:formatCode>
                <c:ptCount val="4"/>
                <c:pt idx="0">
                  <c:v>126</c:v>
                </c:pt>
                <c:pt idx="1">
                  <c:v>134</c:v>
                </c:pt>
                <c:pt idx="2">
                  <c:v>484</c:v>
                </c:pt>
                <c:pt idx="3">
                  <c:v>1189</c:v>
                </c:pt>
              </c:numCache>
            </c:numRef>
          </c:val>
        </c:ser>
        <c:dLbls>
          <c:numFmt formatCode="#,##0" sourceLinked="0"/>
          <c:txPr>
            <a:bodyPr/>
            <a:lstStyle/>
            <a:p>
              <a:pPr>
                <a:defRPr b="1" i="0" strike="noStrike" sz="12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222"/>
                </a:solidFill>
                <a:latin typeface="Montserrat Medium"/>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Core</c:v>
                </c:pt>
              </c:strCache>
            </c:strRef>
          </c:tx>
          <c:spPr>
            <a:solidFill>
              <a:schemeClr val="accent1"/>
            </a:solidFill>
            <a:ln w="9525" cap="flat">
              <a:solidFill>
                <a:srgbClr val="F9F9F9"/>
              </a:solidFill>
              <a:prstDash val="solid"/>
              <a:round/>
            </a:ln>
            <a:effectLst/>
          </c:spPr>
          <c:dPt>
            <c:idx val="0"/>
            <c:bubble3D val="0"/>
            <c:spPr>
              <a:solidFill>
                <a:srgbClr val="196B24"/>
              </a:solidFill>
              <a:effectLst/>
            </c:spPr>
          </c:dPt>
          <c:dPt>
            <c:idx val="1"/>
            <c:bubble3D val="0"/>
            <c:spPr>
              <a:solidFill>
                <a:srgbClr val="E2EEDC"/>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Core Criteria (mandatory)</c:v>
                </c:pt>
                <c:pt idx="1">
                  <c:v>Additional questions</c:v>
                </c:pt>
              </c:strCache>
            </c:strRef>
          </c:cat>
          <c:val>
            <c:numRef>
              <c:f>Sheet1!$B$2:$B$3</c:f>
              <c:numCache>
                <c:ptCount val="2"/>
                <c:pt idx="0">
                  <c:v>37</c:v>
                </c:pt>
                <c:pt idx="1">
                  <c:v>176</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audience's world: every hotel in the portfolio is already being asked about sustainability by a buyer, an OTA, a brand, or an owner. This deck shows how Eco-Rating turns that question into won business, and how a portfolio partnership makes it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Whatever market a property is in, one of these four is already on the GM's desk. Certification answers all four with one credential.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framing borrowed from the partnership playbook: give the audience a map of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industry asked AHLA for one trusted certification rather than another framework. AHLA joined the program with the 30-year track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studies, not our numbers. The demand signal shows up in every segment, leisure OTA traffic through managed corporate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newest, most commercial evidence: certification drives business. Our 2026 Alō partnership feeds certified properties into corporate travel visibility.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 point matters even domestically: it is where green-claims rules are heading, and our compliance and revocation architecture already meets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bet on a trend: regulators, the global industry body, and owners' advisors are moving to the same model. Early movers get the market benefit; late movers get a compliance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Department-based structure: each section lands with the person who already owns the answers. Nothing lands on a sustainability specialist you do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Meeting the 37 earns a first Key and audit eligibility; everything beyond is climbing. Not chosen to be easy, chosen to be foundational.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the credibility question before it is asked: a label the issuer can never take away is not a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Economy properties certify honestly at 1 Key and climb; a flagship pursues 4 or 5. The performance report makes the climb a capital-planning tool: spend where it pays twice, in utilities and in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against outcomes: one RFP won, one OTA booking lift, or a small utility reduction each independently outruns the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is informed by our Partnership Development Playbook: the value exchange, the onboarding experience, and the ongoing account management a partner receives.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from our partnership model: commitment in exchange for discount, a named Account Manager after handoff from the sales team, an activation meeting with marketing present, promo codes for enrollment, and quarterly and annual progress reports. Destinations increasingly sponsor certification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the phases our own team runs internally: partnership sales, onboarding and initiation, execution, and closing and renewal. What the partner experiences is a managed, predictable journey with clear ownership at every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automated: travelers and planners see certified properties on the channels where they already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ask: a portfolio conversation, not property-by-property signup. Leave behind the executive brief; offer the full report for the operations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8288" y="-18288"/>
            <a:ext cx="12207240" cy="6135624"/>
          </a:xfrm>
          <a:prstGeom prst="rect">
            <a:avLst/>
          </a:prstGeom>
        </p:spPr>
      </p:pic>
      <p:pic>
        <p:nvPicPr>
          <p:cNvPr id="3" name="Image 1" descr="preencoded.png">    </p:cNvPr>
          <p:cNvPicPr>
            <a:picLocks noChangeAspect="1"/>
          </p:cNvPicPr>
          <p:nvPr/>
        </p:nvPicPr>
        <p:blipFill>
          <a:blip r:embed="rId2"/>
          <a:stretch>
            <a:fillRect/>
          </a:stretch>
        </p:blipFill>
        <p:spPr>
          <a:xfrm>
            <a:off x="7488936" y="2798064"/>
            <a:ext cx="4169664" cy="3108960"/>
          </a:xfrm>
          <a:prstGeom prst="rect">
            <a:avLst/>
          </a:prstGeom>
        </p:spPr>
      </p:pic>
      <p:sp>
        <p:nvSpPr>
          <p:cNvPr id="4" name="Text 0"/>
          <p:cNvSpPr/>
          <p:nvPr/>
        </p:nvSpPr>
        <p:spPr>
          <a:xfrm>
            <a:off x="685800" y="2240280"/>
            <a:ext cx="7589520" cy="1737360"/>
          </a:xfrm>
          <a:prstGeom prst="rect">
            <a:avLst/>
          </a:prstGeom>
          <a:noFill/>
          <a:ln/>
        </p:spPr>
        <p:txBody>
          <a:bodyPr wrap="square" lIns="0" tIns="0" rIns="0" bIns="0" rtlCol="0" anchor="ctr"/>
          <a:lstStyle/>
          <a:p>
            <a:pPr indent="0" marL="0">
              <a:lnSpc>
                <a:spcPct val="105000"/>
              </a:lnSpc>
              <a:buNone/>
            </a:pPr>
            <a:r>
              <a:rPr lang="en-US" sz="4000" b="1" dirty="0">
                <a:solidFill>
                  <a:srgbClr val="1A1A1A"/>
                </a:solidFill>
                <a:latin typeface="Montserrat Medium" pitchFamily="34" charset="0"/>
                <a:ea typeface="Montserrat Medium" pitchFamily="34" charset="-122"/>
                <a:cs typeface="Montserrat Medium" pitchFamily="34" charset="-120"/>
              </a:rPr>
              <a:t>A Hotel's Roadmap to</a:t>
            </a:r>
            <a:endParaRPr lang="en-US" sz="4000" dirty="0"/>
          </a:p>
          <a:p>
            <a:pPr indent="0" marL="0">
              <a:lnSpc>
                <a:spcPct val="105000"/>
              </a:lnSpc>
              <a:buNone/>
            </a:pPr>
            <a:r>
              <a:rPr lang="en-US" sz="4000" b="1" dirty="0">
                <a:solidFill>
                  <a:srgbClr val="1A1A1A"/>
                </a:solidFill>
                <a:latin typeface="Montserrat Medium" pitchFamily="34" charset="0"/>
                <a:ea typeface="Montserrat Medium" pitchFamily="34" charset="-122"/>
                <a:cs typeface="Montserrat Medium" pitchFamily="34" charset="-120"/>
              </a:rPr>
              <a:t>Eco-Rating Certification</a:t>
            </a:r>
            <a:endParaRPr lang="en-US" sz="4000" dirty="0"/>
          </a:p>
        </p:txBody>
      </p:sp>
      <p:sp>
        <p:nvSpPr>
          <p:cNvPr id="5" name="Text 1"/>
          <p:cNvSpPr/>
          <p:nvPr/>
        </p:nvSpPr>
        <p:spPr>
          <a:xfrm>
            <a:off x="713232" y="4069080"/>
            <a:ext cx="6766560" cy="685800"/>
          </a:xfrm>
          <a:prstGeom prst="rect">
            <a:avLst/>
          </a:prstGeom>
          <a:noFill/>
          <a:ln/>
        </p:spPr>
        <p:txBody>
          <a:bodyPr wrap="square" lIns="0" tIns="0" rIns="0" bIns="0" rtlCol="0" anchor="ctr"/>
          <a:lstStyle/>
          <a:p>
            <a:pPr indent="0" marL="0">
              <a:buNone/>
            </a:pPr>
            <a:r>
              <a:rPr lang="en-US" sz="1500" b="1" dirty="0">
                <a:solidFill>
                  <a:srgbClr val="196B24"/>
                </a:solidFill>
                <a:latin typeface="Montserrat Medium" pitchFamily="34" charset="0"/>
                <a:ea typeface="Montserrat Medium" pitchFamily="34" charset="-122"/>
                <a:cs typeface="Montserrat Medium" pitchFamily="34" charset="-120"/>
              </a:rPr>
              <a:t>The Leading North American Standard in Sustainable Hospitality Certification</a:t>
            </a:r>
            <a:endParaRPr lang="en-US" sz="1500" dirty="0"/>
          </a:p>
        </p:txBody>
      </p:sp>
      <p:sp>
        <p:nvSpPr>
          <p:cNvPr id="6" name="Text 2"/>
          <p:cNvSpPr/>
          <p:nvPr/>
        </p:nvSpPr>
        <p:spPr>
          <a:xfrm>
            <a:off x="859536" y="5148072"/>
            <a:ext cx="7863840" cy="365760"/>
          </a:xfrm>
          <a:prstGeom prst="rect">
            <a:avLst/>
          </a:prstGeom>
          <a:noFill/>
          <a:ln/>
        </p:spPr>
        <p:txBody>
          <a:bodyPr wrap="square" lIns="0" tIns="0" rIns="0" bIns="0" rtlCol="0" anchor="ctr"/>
          <a:lstStyle/>
          <a:p>
            <a:pPr indent="0" marL="0">
              <a:buNone/>
            </a:pPr>
            <a:r>
              <a:rPr lang="en-US" sz="1300" dirty="0">
                <a:solidFill>
                  <a:srgbClr val="595959"/>
                </a:solidFill>
                <a:latin typeface="Montserrat Medium" pitchFamily="34" charset="0"/>
                <a:ea typeface="Montserrat Medium" pitchFamily="34" charset="-122"/>
                <a:cs typeface="Montserrat Medium" pitchFamily="34" charset="-120"/>
              </a:rPr>
              <a:t>For hotel leadership and management company operations teams  |  Last Updated: July 2026</a:t>
            </a:r>
            <a:endParaRPr lang="en-US" sz="1300" dirty="0"/>
          </a:p>
        </p:txBody>
      </p:sp>
      <p:pic>
        <p:nvPicPr>
          <p:cNvPr id="7" name="Image 2" descr="preencoded.png">    </p:cNvPr>
          <p:cNvPicPr>
            <a:picLocks noChangeAspect="1"/>
          </p:cNvPicPr>
          <p:nvPr/>
        </p:nvPicPr>
        <p:blipFill>
          <a:blip r:embed="rId3"/>
          <a:stretch>
            <a:fillRect/>
          </a:stretch>
        </p:blipFill>
        <p:spPr>
          <a:xfrm>
            <a:off x="0" y="6117336"/>
            <a:ext cx="12188952" cy="740664"/>
          </a:xfrm>
          <a:prstGeom prst="rect">
            <a:avLst/>
          </a:prstGeom>
        </p:spPr>
      </p:pic>
      <p:sp>
        <p:nvSpPr>
          <p:cNvPr id="8" name="Text 3"/>
          <p:cNvSpPr/>
          <p:nvPr/>
        </p:nvSpPr>
        <p:spPr>
          <a:xfrm>
            <a:off x="7863840" y="6117336"/>
            <a:ext cx="3931920" cy="740664"/>
          </a:xfrm>
          <a:prstGeom prst="rect">
            <a:avLst/>
          </a:prstGeom>
          <a:noFill/>
          <a:ln/>
        </p:spPr>
        <p:txBody>
          <a:bodyPr wrap="square" lIns="1905" tIns="1905" rIns="1905" bIns="1905" rtlCol="0" anchor="ctr"/>
          <a:lstStyle/>
          <a:p>
            <a:pPr algn="r" indent="0" marL="0">
              <a:buNone/>
            </a:pPr>
            <a:r>
              <a:rPr lang="en-US" sz="1300" spc="400" kern="0" dirty="0">
                <a:solidFill>
                  <a:srgbClr val="FFFFFF"/>
                </a:solidFill>
                <a:latin typeface="Montserrat Light" pitchFamily="34" charset="0"/>
                <a:ea typeface="Montserrat Light" pitchFamily="34" charset="-122"/>
                <a:cs typeface="Montserrat Light" pitchFamily="34" charset="-120"/>
              </a:rPr>
              <a:t>GREENKEYGLOBAL.COM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STARTING POINT</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Every hotel gets asked the same question</a:t>
            </a:r>
            <a:endParaRPr lang="en-US" sz="1700" dirty="0"/>
          </a:p>
        </p:txBody>
      </p:sp>
      <p:sp>
        <p:nvSpPr>
          <p:cNvPr id="4" name="Shape 2"/>
          <p:cNvSpPr/>
          <p:nvPr/>
        </p:nvSpPr>
        <p:spPr>
          <a:xfrm>
            <a:off x="640080" y="1828800"/>
            <a:ext cx="2606040" cy="3017520"/>
          </a:xfrm>
          <a:prstGeom prst="roundRect">
            <a:avLst>
              <a:gd name="adj" fmla="val 3158"/>
            </a:avLst>
          </a:prstGeom>
          <a:solidFill>
            <a:srgbClr val="F2F8EC"/>
          </a:solidFill>
          <a:ln/>
        </p:spPr>
      </p:sp>
      <p:sp>
        <p:nvSpPr>
          <p:cNvPr id="5" name="Shape 3"/>
          <p:cNvSpPr/>
          <p:nvPr/>
        </p:nvSpPr>
        <p:spPr>
          <a:xfrm>
            <a:off x="1623060" y="2084832"/>
            <a:ext cx="640080" cy="640080"/>
          </a:xfrm>
          <a:prstGeom prst="ellipse">
            <a:avLst/>
          </a:prstGeom>
          <a:solidFill>
            <a:srgbClr val="FFFFFF"/>
          </a:solidFill>
          <a:ln w="15875">
            <a:solidFill>
              <a:srgbClr val="196B24"/>
            </a:solidFill>
            <a:prstDash val="solid"/>
          </a:ln>
        </p:spPr>
      </p:sp>
      <p:pic>
        <p:nvPicPr>
          <p:cNvPr id="6" name="Image 0" descr="preencoded.png">    </p:cNvPr>
          <p:cNvPicPr>
            <a:picLocks noChangeAspect="1"/>
          </p:cNvPicPr>
          <p:nvPr/>
        </p:nvPicPr>
        <p:blipFill>
          <a:blip r:embed="rId1"/>
          <a:stretch>
            <a:fillRect/>
          </a:stretch>
        </p:blipFill>
        <p:spPr>
          <a:xfrm>
            <a:off x="1778508" y="2240280"/>
            <a:ext cx="329184" cy="329184"/>
          </a:xfrm>
          <a:prstGeom prst="rect">
            <a:avLst/>
          </a:prstGeom>
        </p:spPr>
      </p:pic>
      <p:sp>
        <p:nvSpPr>
          <p:cNvPr id="7" name="Text 4"/>
          <p:cNvSpPr/>
          <p:nvPr/>
        </p:nvSpPr>
        <p:spPr>
          <a:xfrm>
            <a:off x="758952" y="2852928"/>
            <a:ext cx="2368296"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Corporate RFPs</a:t>
            </a:r>
            <a:endParaRPr lang="en-US" sz="1450" dirty="0"/>
          </a:p>
        </p:txBody>
      </p:sp>
      <p:sp>
        <p:nvSpPr>
          <p:cNvPr id="8" name="Text 5"/>
          <p:cNvSpPr/>
          <p:nvPr/>
        </p:nvSpPr>
        <p:spPr>
          <a:xfrm>
            <a:off x="822960" y="3255264"/>
            <a:ext cx="2240280" cy="1417320"/>
          </a:xfrm>
          <a:prstGeom prst="rect">
            <a:avLst/>
          </a:prstGeom>
          <a:noFill/>
          <a:ln/>
        </p:spPr>
        <p:txBody>
          <a:bodyPr wrap="square" lIns="0" tIns="0" rIns="0" bIns="0" rtlCol="0" anchor="ctr"/>
          <a:lstStyle/>
          <a:p>
            <a:pPr algn="ctr" indent="0" marL="0">
              <a:buNone/>
            </a:pPr>
            <a:r>
              <a:rPr lang="en-US" sz="1150" dirty="0">
                <a:solidFill>
                  <a:srgbClr val="595959"/>
                </a:solidFill>
                <a:latin typeface="Montserrat Medium" pitchFamily="34" charset="0"/>
                <a:ea typeface="Montserrat Medium" pitchFamily="34" charset="-122"/>
                <a:cs typeface="Montserrat Medium" pitchFamily="34" charset="-120"/>
              </a:rPr>
              <a:t>Travel buyers ask for recognized certification before shortlisting your property</a:t>
            </a:r>
            <a:endParaRPr lang="en-US" sz="1150" dirty="0"/>
          </a:p>
        </p:txBody>
      </p:sp>
      <p:sp>
        <p:nvSpPr>
          <p:cNvPr id="9" name="Shape 6"/>
          <p:cNvSpPr/>
          <p:nvPr/>
        </p:nvSpPr>
        <p:spPr>
          <a:xfrm>
            <a:off x="3410712" y="1828800"/>
            <a:ext cx="2606040" cy="3017520"/>
          </a:xfrm>
          <a:prstGeom prst="roundRect">
            <a:avLst>
              <a:gd name="adj" fmla="val 3158"/>
            </a:avLst>
          </a:prstGeom>
          <a:solidFill>
            <a:srgbClr val="F2F8EC"/>
          </a:solidFill>
          <a:ln/>
        </p:spPr>
      </p:sp>
      <p:sp>
        <p:nvSpPr>
          <p:cNvPr id="10" name="Shape 7"/>
          <p:cNvSpPr/>
          <p:nvPr/>
        </p:nvSpPr>
        <p:spPr>
          <a:xfrm>
            <a:off x="4393692" y="2084832"/>
            <a:ext cx="640080" cy="640080"/>
          </a:xfrm>
          <a:prstGeom prst="ellipse">
            <a:avLst/>
          </a:prstGeom>
          <a:solidFill>
            <a:srgbClr val="FFFFFF"/>
          </a:solidFill>
          <a:ln w="15875">
            <a:solidFill>
              <a:srgbClr val="196B24"/>
            </a:solidFill>
            <a:prstDash val="solid"/>
          </a:ln>
        </p:spPr>
      </p:sp>
      <p:pic>
        <p:nvPicPr>
          <p:cNvPr id="11" name="Image 1" descr="preencoded.png">    </p:cNvPr>
          <p:cNvPicPr>
            <a:picLocks noChangeAspect="1"/>
          </p:cNvPicPr>
          <p:nvPr/>
        </p:nvPicPr>
        <p:blipFill>
          <a:blip r:embed="rId2"/>
          <a:stretch>
            <a:fillRect/>
          </a:stretch>
        </p:blipFill>
        <p:spPr>
          <a:xfrm>
            <a:off x="4549140" y="2240280"/>
            <a:ext cx="329184" cy="329184"/>
          </a:xfrm>
          <a:prstGeom prst="rect">
            <a:avLst/>
          </a:prstGeom>
        </p:spPr>
      </p:pic>
      <p:sp>
        <p:nvSpPr>
          <p:cNvPr id="12" name="Text 8"/>
          <p:cNvSpPr/>
          <p:nvPr/>
        </p:nvSpPr>
        <p:spPr>
          <a:xfrm>
            <a:off x="3529584" y="2852928"/>
            <a:ext cx="2368296"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Booking platforms</a:t>
            </a:r>
            <a:endParaRPr lang="en-US" sz="1450" dirty="0"/>
          </a:p>
        </p:txBody>
      </p:sp>
      <p:sp>
        <p:nvSpPr>
          <p:cNvPr id="13" name="Text 9"/>
          <p:cNvSpPr/>
          <p:nvPr/>
        </p:nvSpPr>
        <p:spPr>
          <a:xfrm>
            <a:off x="3593592" y="3255264"/>
            <a:ext cx="2240280" cy="1417320"/>
          </a:xfrm>
          <a:prstGeom prst="rect">
            <a:avLst/>
          </a:prstGeom>
          <a:noFill/>
          <a:ln/>
        </p:spPr>
        <p:txBody>
          <a:bodyPr wrap="square" lIns="0" tIns="0" rIns="0" bIns="0" rtlCol="0" anchor="ctr"/>
          <a:lstStyle/>
          <a:p>
            <a:pPr algn="ctr" indent="0" marL="0">
              <a:buNone/>
            </a:pPr>
            <a:r>
              <a:rPr lang="en-US" sz="1150" dirty="0">
                <a:solidFill>
                  <a:srgbClr val="595959"/>
                </a:solidFill>
                <a:latin typeface="Montserrat Medium" pitchFamily="34" charset="0"/>
                <a:ea typeface="Montserrat Medium" pitchFamily="34" charset="-122"/>
                <a:cs typeface="Montserrat Medium" pitchFamily="34" charset="-120"/>
              </a:rPr>
              <a:t>OTAs ask for third-party verification before showing a sustainability badge</a:t>
            </a:r>
            <a:endParaRPr lang="en-US" sz="1150" dirty="0"/>
          </a:p>
        </p:txBody>
      </p:sp>
      <p:sp>
        <p:nvSpPr>
          <p:cNvPr id="14" name="Shape 10"/>
          <p:cNvSpPr/>
          <p:nvPr/>
        </p:nvSpPr>
        <p:spPr>
          <a:xfrm>
            <a:off x="6181344" y="1828800"/>
            <a:ext cx="2606040" cy="3017520"/>
          </a:xfrm>
          <a:prstGeom prst="roundRect">
            <a:avLst>
              <a:gd name="adj" fmla="val 3158"/>
            </a:avLst>
          </a:prstGeom>
          <a:solidFill>
            <a:srgbClr val="F2F8EC"/>
          </a:solidFill>
          <a:ln/>
        </p:spPr>
      </p:sp>
      <p:sp>
        <p:nvSpPr>
          <p:cNvPr id="15" name="Shape 11"/>
          <p:cNvSpPr/>
          <p:nvPr/>
        </p:nvSpPr>
        <p:spPr>
          <a:xfrm>
            <a:off x="7164324" y="2084832"/>
            <a:ext cx="640080" cy="640080"/>
          </a:xfrm>
          <a:prstGeom prst="ellipse">
            <a:avLst/>
          </a:prstGeom>
          <a:solidFill>
            <a:srgbClr val="FFFFFF"/>
          </a:solidFill>
          <a:ln w="15875">
            <a:solidFill>
              <a:srgbClr val="196B24"/>
            </a:solidFill>
            <a:prstDash val="solid"/>
          </a:ln>
        </p:spPr>
      </p:sp>
      <p:pic>
        <p:nvPicPr>
          <p:cNvPr id="16" name="Image 2" descr="preencoded.png">    </p:cNvPr>
          <p:cNvPicPr>
            <a:picLocks noChangeAspect="1"/>
          </p:cNvPicPr>
          <p:nvPr/>
        </p:nvPicPr>
        <p:blipFill>
          <a:blip r:embed="rId3"/>
          <a:stretch>
            <a:fillRect/>
          </a:stretch>
        </p:blipFill>
        <p:spPr>
          <a:xfrm>
            <a:off x="7319772" y="2240280"/>
            <a:ext cx="329184" cy="329184"/>
          </a:xfrm>
          <a:prstGeom prst="rect">
            <a:avLst/>
          </a:prstGeom>
        </p:spPr>
      </p:pic>
      <p:sp>
        <p:nvSpPr>
          <p:cNvPr id="17" name="Text 12"/>
          <p:cNvSpPr/>
          <p:nvPr/>
        </p:nvSpPr>
        <p:spPr>
          <a:xfrm>
            <a:off x="6300216" y="2852928"/>
            <a:ext cx="2368296"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Brand standards</a:t>
            </a:r>
            <a:endParaRPr lang="en-US" sz="1450" dirty="0"/>
          </a:p>
        </p:txBody>
      </p:sp>
      <p:sp>
        <p:nvSpPr>
          <p:cNvPr id="18" name="Text 13"/>
          <p:cNvSpPr/>
          <p:nvPr/>
        </p:nvSpPr>
        <p:spPr>
          <a:xfrm>
            <a:off x="6364224" y="3255264"/>
            <a:ext cx="2240280" cy="1417320"/>
          </a:xfrm>
          <a:prstGeom prst="rect">
            <a:avLst/>
          </a:prstGeom>
          <a:noFill/>
          <a:ln/>
        </p:spPr>
        <p:txBody>
          <a:bodyPr wrap="square" lIns="0" tIns="0" rIns="0" bIns="0" rtlCol="0" anchor="ctr"/>
          <a:lstStyle/>
          <a:p>
            <a:pPr algn="ctr" indent="0" marL="0">
              <a:buNone/>
            </a:pPr>
            <a:r>
              <a:rPr lang="en-US" sz="1150" dirty="0">
                <a:solidFill>
                  <a:srgbClr val="595959"/>
                </a:solidFill>
                <a:latin typeface="Montserrat Medium" pitchFamily="34" charset="0"/>
                <a:ea typeface="Montserrat Medium" pitchFamily="34" charset="-122"/>
                <a:cs typeface="Montserrat Medium" pitchFamily="34" charset="-120"/>
              </a:rPr>
              <a:t>Flags are adding certification to brand requirements</a:t>
            </a:r>
            <a:endParaRPr lang="en-US" sz="1150" dirty="0"/>
          </a:p>
        </p:txBody>
      </p:sp>
      <p:sp>
        <p:nvSpPr>
          <p:cNvPr id="19" name="Shape 14"/>
          <p:cNvSpPr/>
          <p:nvPr/>
        </p:nvSpPr>
        <p:spPr>
          <a:xfrm>
            <a:off x="8951976" y="1828800"/>
            <a:ext cx="2606040" cy="3017520"/>
          </a:xfrm>
          <a:prstGeom prst="roundRect">
            <a:avLst>
              <a:gd name="adj" fmla="val 3158"/>
            </a:avLst>
          </a:prstGeom>
          <a:solidFill>
            <a:srgbClr val="F2F8EC"/>
          </a:solidFill>
          <a:ln/>
        </p:spPr>
      </p:sp>
      <p:sp>
        <p:nvSpPr>
          <p:cNvPr id="20" name="Shape 15"/>
          <p:cNvSpPr/>
          <p:nvPr/>
        </p:nvSpPr>
        <p:spPr>
          <a:xfrm>
            <a:off x="9934956" y="2084832"/>
            <a:ext cx="640080" cy="640080"/>
          </a:xfrm>
          <a:prstGeom prst="ellipse">
            <a:avLst/>
          </a:prstGeom>
          <a:solidFill>
            <a:srgbClr val="FFFFFF"/>
          </a:solidFill>
          <a:ln w="15875">
            <a:solidFill>
              <a:srgbClr val="196B24"/>
            </a:solidFill>
            <a:prstDash val="solid"/>
          </a:ln>
        </p:spPr>
      </p:sp>
      <p:pic>
        <p:nvPicPr>
          <p:cNvPr id="21" name="Image 3" descr="preencoded.png">    </p:cNvPr>
          <p:cNvPicPr>
            <a:picLocks noChangeAspect="1"/>
          </p:cNvPicPr>
          <p:nvPr/>
        </p:nvPicPr>
        <p:blipFill>
          <a:blip r:embed="rId4"/>
          <a:stretch>
            <a:fillRect/>
          </a:stretch>
        </p:blipFill>
        <p:spPr>
          <a:xfrm>
            <a:off x="10090404" y="2240280"/>
            <a:ext cx="329184" cy="329184"/>
          </a:xfrm>
          <a:prstGeom prst="rect">
            <a:avLst/>
          </a:prstGeom>
        </p:spPr>
      </p:pic>
      <p:sp>
        <p:nvSpPr>
          <p:cNvPr id="22" name="Text 16"/>
          <p:cNvSpPr/>
          <p:nvPr/>
        </p:nvSpPr>
        <p:spPr>
          <a:xfrm>
            <a:off x="9070848" y="2852928"/>
            <a:ext cx="2368296"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The utility line</a:t>
            </a:r>
            <a:endParaRPr lang="en-US" sz="1450" dirty="0"/>
          </a:p>
        </p:txBody>
      </p:sp>
      <p:sp>
        <p:nvSpPr>
          <p:cNvPr id="23" name="Text 17"/>
          <p:cNvSpPr/>
          <p:nvPr/>
        </p:nvSpPr>
        <p:spPr>
          <a:xfrm>
            <a:off x="9134856" y="3255264"/>
            <a:ext cx="2240280" cy="1417320"/>
          </a:xfrm>
          <a:prstGeom prst="rect">
            <a:avLst/>
          </a:prstGeom>
          <a:noFill/>
          <a:ln/>
        </p:spPr>
        <p:txBody>
          <a:bodyPr wrap="square" lIns="0" tIns="0" rIns="0" bIns="0" rtlCol="0" anchor="ctr"/>
          <a:lstStyle/>
          <a:p>
            <a:pPr algn="ctr" indent="0" marL="0">
              <a:buNone/>
            </a:pPr>
            <a:r>
              <a:rPr lang="en-US" sz="1150" dirty="0">
                <a:solidFill>
                  <a:srgbClr val="595959"/>
                </a:solidFill>
                <a:latin typeface="Montserrat Medium" pitchFamily="34" charset="0"/>
                <a:ea typeface="Montserrat Medium" pitchFamily="34" charset="-122"/>
                <a:cs typeface="Montserrat Medium" pitchFamily="34" charset="-120"/>
              </a:rPr>
              <a:t>Owners ask why energy, water, and waste costs keep climbing</a:t>
            </a:r>
            <a:endParaRPr lang="en-US" sz="1150" dirty="0"/>
          </a:p>
        </p:txBody>
      </p:sp>
      <p:sp>
        <p:nvSpPr>
          <p:cNvPr id="24" name="Text 18"/>
          <p:cNvSpPr/>
          <p:nvPr/>
        </p:nvSpPr>
        <p:spPr>
          <a:xfrm>
            <a:off x="640080" y="5212080"/>
            <a:ext cx="10908792" cy="548640"/>
          </a:xfrm>
          <a:prstGeom prst="rect">
            <a:avLst/>
          </a:prstGeom>
          <a:noFill/>
          <a:ln/>
        </p:spPr>
        <p:txBody>
          <a:bodyPr wrap="square" lIns="0" tIns="0" rIns="0" bIns="0" rtlCol="0" anchor="ctr"/>
          <a:lstStyle/>
          <a:p>
            <a:pPr algn="ctr" indent="0" marL="0">
              <a:buNone/>
            </a:pPr>
            <a:r>
              <a:rPr lang="en-US" sz="1800" dirty="0">
                <a:solidFill>
                  <a:srgbClr val="222222"/>
                </a:solidFill>
                <a:latin typeface="Montserrat Medium" pitchFamily="34" charset="0"/>
                <a:ea typeface="Montserrat Medium" pitchFamily="34" charset="-122"/>
                <a:cs typeface="Montserrat Medium" pitchFamily="34" charset="-120"/>
              </a:rPr>
              <a:t>It is always the same question underneath: </a:t>
            </a:r>
            <a:pPr algn="ctr" indent="0" marL="0">
              <a:buNone/>
            </a:pPr>
            <a:r>
              <a:rPr lang="en-US" sz="1800" b="1" dirty="0">
                <a:solidFill>
                  <a:srgbClr val="196B24"/>
                </a:solidFill>
                <a:latin typeface="Montserrat Medium" pitchFamily="34" charset="0"/>
                <a:ea typeface="Montserrat Medium" pitchFamily="34" charset="-122"/>
                <a:cs typeface="Montserrat Medium" pitchFamily="34" charset="-120"/>
              </a:rPr>
              <a:t>can this hotel prove, credibly, how it operates?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4128" y="1399032"/>
            <a:ext cx="10058400" cy="914400"/>
          </a:xfrm>
          <a:prstGeom prst="rect">
            <a:avLst/>
          </a:prstGeom>
          <a:noFill/>
          <a:ln/>
        </p:spPr>
        <p:txBody>
          <a:bodyPr wrap="square" lIns="0" tIns="0" rIns="0" bIns="0" rtlCol="0" anchor="ctr"/>
          <a:lstStyle/>
          <a:p>
            <a:pPr indent="0" marL="0">
              <a:buNone/>
            </a:pPr>
            <a:r>
              <a:rPr lang="en-US" sz="4000" b="1" dirty="0">
                <a:solidFill>
                  <a:srgbClr val="1A1A1A"/>
                </a:solidFill>
                <a:latin typeface="Montserrat" pitchFamily="34" charset="0"/>
                <a:ea typeface="Montserrat" pitchFamily="34" charset="-122"/>
                <a:cs typeface="Montserrat" pitchFamily="34" charset="-120"/>
              </a:rPr>
              <a:t>WHY GREEN KEY</a:t>
            </a:r>
            <a:endParaRPr lang="en-US" sz="4000" dirty="0"/>
          </a:p>
        </p:txBody>
      </p:sp>
      <p:sp>
        <p:nvSpPr>
          <p:cNvPr id="3" name="Text 1"/>
          <p:cNvSpPr/>
          <p:nvPr/>
        </p:nvSpPr>
        <p:spPr>
          <a:xfrm>
            <a:off x="1024128" y="2377440"/>
            <a:ext cx="6766560" cy="1097280"/>
          </a:xfrm>
          <a:prstGeom prst="rect">
            <a:avLst/>
          </a:prstGeom>
          <a:noFill/>
          <a:ln/>
        </p:spPr>
        <p:txBody>
          <a:bodyPr wrap="square" lIns="0" tIns="0" rIns="0" bIns="0" rtlCol="0" anchor="ctr"/>
          <a:lstStyle/>
          <a:p>
            <a:pPr indent="0" marL="0">
              <a:buNone/>
            </a:pPr>
            <a:r>
              <a:rPr lang="en-US" sz="1900" b="1" dirty="0">
                <a:solidFill>
                  <a:srgbClr val="196B24"/>
                </a:solidFill>
                <a:latin typeface="Montserrat Medium" pitchFamily="34" charset="0"/>
                <a:ea typeface="Montserrat Medium" pitchFamily="34" charset="-122"/>
                <a:cs typeface="Montserrat Medium" pitchFamily="34" charset="-120"/>
              </a:rPr>
              <a:t>The credibility, the demand, and the commercial evidence behind the leading North American standard.</a:t>
            </a:r>
            <a:endParaRPr lang="en-US" sz="1900" dirty="0"/>
          </a:p>
        </p:txBody>
      </p:sp>
      <p:pic>
        <p:nvPicPr>
          <p:cNvPr id="4" name="Image 0" descr="preencoded.png">    </p:cNvPr>
          <p:cNvPicPr>
            <a:picLocks noChangeAspect="1"/>
          </p:cNvPicPr>
          <p:nvPr/>
        </p:nvPicPr>
        <p:blipFill>
          <a:blip r:embed="rId1"/>
          <a:stretch>
            <a:fillRect/>
          </a:stretch>
        </p:blipFill>
        <p:spPr>
          <a:xfrm>
            <a:off x="7543800" y="3968496"/>
            <a:ext cx="4169664" cy="31089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WHO WE ARE</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Built by hoteliers, for hoteliers</a:t>
            </a:r>
            <a:endParaRPr lang="en-US" sz="1700" dirty="0"/>
          </a:p>
        </p:txBody>
      </p:sp>
      <p:sp>
        <p:nvSpPr>
          <p:cNvPr id="4" name="Shape 2"/>
          <p:cNvSpPr/>
          <p:nvPr/>
        </p:nvSpPr>
        <p:spPr>
          <a:xfrm>
            <a:off x="640080" y="1828800"/>
            <a:ext cx="2606040" cy="1691640"/>
          </a:xfrm>
          <a:prstGeom prst="roundRect">
            <a:avLst>
              <a:gd name="adj" fmla="val 4865"/>
            </a:avLst>
          </a:prstGeom>
          <a:solidFill>
            <a:srgbClr val="F2F8EC"/>
          </a:solidFill>
          <a:ln/>
        </p:spPr>
      </p:sp>
      <p:sp>
        <p:nvSpPr>
          <p:cNvPr id="5" name="Text 3"/>
          <p:cNvSpPr/>
          <p:nvPr/>
        </p:nvSpPr>
        <p:spPr>
          <a:xfrm>
            <a:off x="640080" y="1975104"/>
            <a:ext cx="2606040" cy="685800"/>
          </a:xfrm>
          <a:prstGeom prst="rect">
            <a:avLst/>
          </a:prstGeom>
          <a:noFill/>
          <a:ln/>
        </p:spPr>
        <p:txBody>
          <a:bodyPr wrap="square" lIns="0" tIns="0" rIns="0" bIns="0" rtlCol="0" anchor="ctr"/>
          <a:lstStyle/>
          <a:p>
            <a:pPr algn="ctr" indent="0" marL="0">
              <a:buNone/>
            </a:pPr>
            <a:r>
              <a:rPr lang="en-US" sz="3100" b="1" dirty="0">
                <a:solidFill>
                  <a:srgbClr val="196B24"/>
                </a:solidFill>
                <a:latin typeface="Montserrat" pitchFamily="34" charset="0"/>
                <a:ea typeface="Montserrat" pitchFamily="34" charset="-122"/>
                <a:cs typeface="Montserrat" pitchFamily="34" charset="-120"/>
              </a:rPr>
              <a:t>1993</a:t>
            </a:r>
            <a:endParaRPr lang="en-US" sz="3100" dirty="0"/>
          </a:p>
        </p:txBody>
      </p:sp>
      <p:sp>
        <p:nvSpPr>
          <p:cNvPr id="6" name="Text 4"/>
          <p:cNvSpPr/>
          <p:nvPr/>
        </p:nvSpPr>
        <p:spPr>
          <a:xfrm>
            <a:off x="731520" y="2697480"/>
            <a:ext cx="2423160" cy="731520"/>
          </a:xfrm>
          <a:prstGeom prst="rect">
            <a:avLst/>
          </a:prstGeom>
          <a:noFill/>
          <a:ln/>
        </p:spPr>
        <p:txBody>
          <a:bodyPr wrap="square" lIns="0" tIns="0" rIns="0" bIns="0" rtlCol="0" anchor="ctr"/>
          <a:lstStyle/>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founded by the Hotel</a:t>
            </a:r>
            <a:endParaRPr lang="en-US" sz="1100" dirty="0"/>
          </a:p>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Association of Canada</a:t>
            </a:r>
            <a:endParaRPr lang="en-US" sz="1100" dirty="0"/>
          </a:p>
        </p:txBody>
      </p:sp>
      <p:sp>
        <p:nvSpPr>
          <p:cNvPr id="7" name="Shape 5"/>
          <p:cNvSpPr/>
          <p:nvPr/>
        </p:nvSpPr>
        <p:spPr>
          <a:xfrm>
            <a:off x="3410712" y="1828800"/>
            <a:ext cx="2606040" cy="1691640"/>
          </a:xfrm>
          <a:prstGeom prst="roundRect">
            <a:avLst>
              <a:gd name="adj" fmla="val 4865"/>
            </a:avLst>
          </a:prstGeom>
          <a:solidFill>
            <a:srgbClr val="F2F8EC"/>
          </a:solidFill>
          <a:ln/>
        </p:spPr>
      </p:sp>
      <p:sp>
        <p:nvSpPr>
          <p:cNvPr id="8" name="Text 6"/>
          <p:cNvSpPr/>
          <p:nvPr/>
        </p:nvSpPr>
        <p:spPr>
          <a:xfrm>
            <a:off x="3410712" y="1975104"/>
            <a:ext cx="2606040" cy="685800"/>
          </a:xfrm>
          <a:prstGeom prst="rect">
            <a:avLst/>
          </a:prstGeom>
          <a:noFill/>
          <a:ln/>
        </p:spPr>
        <p:txBody>
          <a:bodyPr wrap="square" lIns="0" tIns="0" rIns="0" bIns="0" rtlCol="0" anchor="ctr"/>
          <a:lstStyle/>
          <a:p>
            <a:pPr algn="ctr" indent="0" marL="0">
              <a:buNone/>
            </a:pPr>
            <a:r>
              <a:rPr lang="en-US" sz="3100" b="1" dirty="0">
                <a:solidFill>
                  <a:srgbClr val="196B24"/>
                </a:solidFill>
                <a:latin typeface="Montserrat" pitchFamily="34" charset="0"/>
                <a:ea typeface="Montserrat" pitchFamily="34" charset="-122"/>
                <a:cs typeface="Montserrat" pitchFamily="34" charset="-120"/>
              </a:rPr>
              <a:t>2024</a:t>
            </a:r>
            <a:endParaRPr lang="en-US" sz="3100" dirty="0"/>
          </a:p>
        </p:txBody>
      </p:sp>
      <p:sp>
        <p:nvSpPr>
          <p:cNvPr id="9" name="Text 7"/>
          <p:cNvSpPr/>
          <p:nvPr/>
        </p:nvSpPr>
        <p:spPr>
          <a:xfrm>
            <a:off x="3502152" y="2697480"/>
            <a:ext cx="2423160" cy="731520"/>
          </a:xfrm>
          <a:prstGeom prst="rect">
            <a:avLst/>
          </a:prstGeom>
          <a:noFill/>
          <a:ln/>
        </p:spPr>
        <p:txBody>
          <a:bodyPr wrap="square" lIns="0" tIns="0" rIns="0" bIns="0" rtlCol="0" anchor="ctr"/>
          <a:lstStyle/>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joint venture of AHLA</a:t>
            </a:r>
            <a:endParaRPr lang="en-US" sz="1100" dirty="0"/>
          </a:p>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and Hotels Canada</a:t>
            </a:r>
            <a:endParaRPr lang="en-US" sz="1100" dirty="0"/>
          </a:p>
        </p:txBody>
      </p:sp>
      <p:sp>
        <p:nvSpPr>
          <p:cNvPr id="10" name="Shape 8"/>
          <p:cNvSpPr/>
          <p:nvPr/>
        </p:nvSpPr>
        <p:spPr>
          <a:xfrm>
            <a:off x="6181344" y="1828800"/>
            <a:ext cx="2606040" cy="1691640"/>
          </a:xfrm>
          <a:prstGeom prst="roundRect">
            <a:avLst>
              <a:gd name="adj" fmla="val 4865"/>
            </a:avLst>
          </a:prstGeom>
          <a:solidFill>
            <a:srgbClr val="F2F8EC"/>
          </a:solidFill>
          <a:ln/>
        </p:spPr>
      </p:sp>
      <p:sp>
        <p:nvSpPr>
          <p:cNvPr id="11" name="Text 9"/>
          <p:cNvSpPr/>
          <p:nvPr/>
        </p:nvSpPr>
        <p:spPr>
          <a:xfrm>
            <a:off x="6181344" y="1975104"/>
            <a:ext cx="2606040" cy="685800"/>
          </a:xfrm>
          <a:prstGeom prst="rect">
            <a:avLst/>
          </a:prstGeom>
          <a:noFill/>
          <a:ln/>
        </p:spPr>
        <p:txBody>
          <a:bodyPr wrap="square" lIns="0" tIns="0" rIns="0" bIns="0" rtlCol="0" anchor="ctr"/>
          <a:lstStyle/>
          <a:p>
            <a:pPr algn="ctr" indent="0" marL="0">
              <a:buNone/>
            </a:pPr>
            <a:r>
              <a:rPr lang="en-US" sz="3100" b="1" dirty="0">
                <a:solidFill>
                  <a:srgbClr val="196B24"/>
                </a:solidFill>
                <a:latin typeface="Montserrat" pitchFamily="34" charset="0"/>
                <a:ea typeface="Montserrat" pitchFamily="34" charset="-122"/>
                <a:cs typeface="Montserrat" pitchFamily="34" charset="-120"/>
              </a:rPr>
              <a:t>3,000+</a:t>
            </a:r>
            <a:endParaRPr lang="en-US" sz="3100" dirty="0"/>
          </a:p>
        </p:txBody>
      </p:sp>
      <p:sp>
        <p:nvSpPr>
          <p:cNvPr id="12" name="Text 10"/>
          <p:cNvSpPr/>
          <p:nvPr/>
        </p:nvSpPr>
        <p:spPr>
          <a:xfrm>
            <a:off x="6272784" y="2697480"/>
            <a:ext cx="2423160" cy="731520"/>
          </a:xfrm>
          <a:prstGeom prst="rect">
            <a:avLst/>
          </a:prstGeom>
          <a:noFill/>
          <a:ln/>
        </p:spPr>
        <p:txBody>
          <a:bodyPr wrap="square" lIns="0" tIns="0" rIns="0" bIns="0" rtlCol="0" anchor="ctr"/>
          <a:lstStyle/>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certified properties</a:t>
            </a:r>
            <a:endParaRPr lang="en-US" sz="1100" dirty="0"/>
          </a:p>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across North America</a:t>
            </a:r>
            <a:endParaRPr lang="en-US" sz="1100" dirty="0"/>
          </a:p>
        </p:txBody>
      </p:sp>
      <p:sp>
        <p:nvSpPr>
          <p:cNvPr id="13" name="Shape 11"/>
          <p:cNvSpPr/>
          <p:nvPr/>
        </p:nvSpPr>
        <p:spPr>
          <a:xfrm>
            <a:off x="8951976" y="1828800"/>
            <a:ext cx="2606040" cy="1691640"/>
          </a:xfrm>
          <a:prstGeom prst="roundRect">
            <a:avLst>
              <a:gd name="adj" fmla="val 4865"/>
            </a:avLst>
          </a:prstGeom>
          <a:solidFill>
            <a:srgbClr val="F2F8EC"/>
          </a:solidFill>
          <a:ln/>
        </p:spPr>
      </p:sp>
      <p:sp>
        <p:nvSpPr>
          <p:cNvPr id="14" name="Text 12"/>
          <p:cNvSpPr/>
          <p:nvPr/>
        </p:nvSpPr>
        <p:spPr>
          <a:xfrm>
            <a:off x="8951976" y="1975104"/>
            <a:ext cx="2606040" cy="685800"/>
          </a:xfrm>
          <a:prstGeom prst="rect">
            <a:avLst/>
          </a:prstGeom>
          <a:noFill/>
          <a:ln/>
        </p:spPr>
        <p:txBody>
          <a:bodyPr wrap="square" lIns="0" tIns="0" rIns="0" bIns="0" rtlCol="0" anchor="ctr"/>
          <a:lstStyle/>
          <a:p>
            <a:pPr algn="ctr" indent="0" marL="0">
              <a:buNone/>
            </a:pPr>
            <a:r>
              <a:rPr lang="en-US" sz="3100" b="1" dirty="0">
                <a:solidFill>
                  <a:srgbClr val="196B24"/>
                </a:solidFill>
                <a:latin typeface="Montserrat" pitchFamily="34" charset="0"/>
                <a:ea typeface="Montserrat" pitchFamily="34" charset="-122"/>
                <a:cs typeface="Montserrat" pitchFamily="34" charset="-120"/>
              </a:rPr>
              <a:t>13,000+</a:t>
            </a:r>
            <a:endParaRPr lang="en-US" sz="3100" dirty="0"/>
          </a:p>
        </p:txBody>
      </p:sp>
      <p:sp>
        <p:nvSpPr>
          <p:cNvPr id="15" name="Text 13"/>
          <p:cNvSpPr/>
          <p:nvPr/>
        </p:nvSpPr>
        <p:spPr>
          <a:xfrm>
            <a:off x="9043416" y="2697480"/>
            <a:ext cx="2423160" cy="731520"/>
          </a:xfrm>
          <a:prstGeom prst="rect">
            <a:avLst/>
          </a:prstGeom>
          <a:noFill/>
          <a:ln/>
        </p:spPr>
        <p:txBody>
          <a:bodyPr wrap="square" lIns="0" tIns="0" rIns="0" bIns="0" rtlCol="0" anchor="ctr"/>
          <a:lstStyle/>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trees planted, one for</a:t>
            </a:r>
            <a:endParaRPr lang="en-US" sz="1100" dirty="0"/>
          </a:p>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every new member</a:t>
            </a:r>
            <a:endParaRPr lang="en-US" sz="1100" dirty="0"/>
          </a:p>
        </p:txBody>
      </p:sp>
      <p:sp>
        <p:nvSpPr>
          <p:cNvPr id="16" name="Text 14"/>
          <p:cNvSpPr/>
          <p:nvPr/>
        </p:nvSpPr>
        <p:spPr>
          <a:xfrm>
            <a:off x="640080" y="3931920"/>
            <a:ext cx="10908792" cy="914400"/>
          </a:xfrm>
          <a:prstGeom prst="rect">
            <a:avLst/>
          </a:prstGeom>
          <a:noFill/>
          <a:ln/>
        </p:spPr>
        <p:txBody>
          <a:bodyPr wrap="square" lIns="0" tIns="0" rIns="0" bIns="0" rtlCol="0" anchor="ctr"/>
          <a:lstStyle/>
          <a:p>
            <a:pPr indent="0" marL="0">
              <a:buNone/>
            </a:pPr>
            <a:r>
              <a:rPr lang="en-US" sz="1400" b="1" dirty="0">
                <a:solidFill>
                  <a:srgbClr val="1A1A1A"/>
                </a:solidFill>
                <a:latin typeface="Montserrat Medium" pitchFamily="34" charset="0"/>
                <a:ea typeface="Montserrat Medium" pitchFamily="34" charset="-122"/>
                <a:cs typeface="Montserrat Medium" pitchFamily="34" charset="-120"/>
              </a:rPr>
              <a:t>We certify operations, not construction. </a:t>
            </a:r>
            <a:pPr indent="0" marL="0">
              <a:buNone/>
            </a:pPr>
            <a:r>
              <a:rPr lang="en-US" sz="1400" dirty="0">
                <a:solidFill>
                  <a:srgbClr val="595959"/>
                </a:solidFill>
                <a:latin typeface="Montserrat Medium" pitchFamily="34" charset="0"/>
                <a:ea typeface="Montserrat Medium" pitchFamily="34" charset="-122"/>
                <a:cs typeface="Montserrat Medium" pitchFamily="34" charset="-120"/>
              </a:rPr>
              <a:t>Unlike building certifications, Eco-Rating measures how a hotel runs: daily practice, procurement, waste, water, energy, and people. A 1970s roadside property and a new-build lifestyle hotel compete on the same terms.</a:t>
            </a:r>
            <a:endParaRPr lang="en-US" sz="1400" dirty="0"/>
          </a:p>
        </p:txBody>
      </p:sp>
      <p:sp>
        <p:nvSpPr>
          <p:cNvPr id="17" name="Text 15"/>
          <p:cNvSpPr/>
          <p:nvPr/>
        </p:nvSpPr>
        <p:spPr>
          <a:xfrm>
            <a:off x="640080" y="4937760"/>
            <a:ext cx="10908792" cy="914400"/>
          </a:xfrm>
          <a:prstGeom prst="rect">
            <a:avLst/>
          </a:prstGeom>
          <a:noFill/>
          <a:ln/>
        </p:spPr>
        <p:txBody>
          <a:bodyPr wrap="square" lIns="0" tIns="0" rIns="0" bIns="0" rtlCol="0" anchor="ctr"/>
          <a:lstStyle/>
          <a:p>
            <a:pPr indent="0" marL="0">
              <a:buNone/>
            </a:pPr>
            <a:r>
              <a:rPr lang="en-US" sz="1400" b="1" dirty="0">
                <a:solidFill>
                  <a:srgbClr val="1A1A1A"/>
                </a:solidFill>
                <a:latin typeface="Montserrat Medium" pitchFamily="34" charset="0"/>
                <a:ea typeface="Montserrat Medium" pitchFamily="34" charset="-122"/>
                <a:cs typeface="Montserrat Medium" pitchFamily="34" charset="-120"/>
              </a:rPr>
              <a:t>No capital spend is required to certify. </a:t>
            </a:r>
            <a:pPr indent="0" marL="0">
              <a:buNone/>
            </a:pPr>
            <a:r>
              <a:rPr lang="en-US" sz="1400" dirty="0">
                <a:solidFill>
                  <a:srgbClr val="595959"/>
                </a:solidFill>
                <a:latin typeface="Montserrat Medium" pitchFamily="34" charset="0"/>
                <a:ea typeface="Montserrat Medium" pitchFamily="34" charset="-122"/>
                <a:cs typeface="Montserrat Medium" pitchFamily="34" charset="-120"/>
              </a:rPr>
              <a:t>The assessment scores what a property already does and recommends improvement over time. Sections that do not apply (F&amp;B, Conference) opt out with no scoring penalty.</a:t>
            </a:r>
            <a:endParaRPr lang="en-US" sz="1400" dirty="0"/>
          </a:p>
        </p:txBody>
      </p:sp>
      <p:sp>
        <p:nvSpPr>
          <p:cNvPr id="18" name="Text 16"/>
          <p:cNvSpPr/>
          <p:nvPr/>
        </p:nvSpPr>
        <p:spPr>
          <a:xfrm>
            <a:off x="960120" y="6419088"/>
            <a:ext cx="10607040" cy="310896"/>
          </a:xfrm>
          <a:prstGeom prst="rect">
            <a:avLst/>
          </a:prstGeom>
          <a:noFill/>
          <a:ln/>
        </p:spPr>
        <p:txBody>
          <a:bodyPr wrap="square" lIns="0" tIns="0" rIns="0" bIns="0" rtlCol="0" anchor="ctr"/>
          <a:lstStyle/>
          <a:p>
            <a:pPr indent="0" marL="0">
              <a:buNone/>
            </a:pPr>
            <a:r>
              <a:rPr lang="en-US" sz="950" i="1" dirty="0">
                <a:solidFill>
                  <a:srgbClr val="595959"/>
                </a:solidFill>
                <a:latin typeface="Montserrat Medium" pitchFamily="34" charset="0"/>
                <a:ea typeface="Montserrat Medium" pitchFamily="34" charset="-122"/>
                <a:cs typeface="Montserrat Medium" pitchFamily="34" charset="-120"/>
              </a:rPr>
              <a:t>Tree planting in partnership with One Tree Planted (onetreeplanted.org).</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DEMAND</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Documented by independent industry research</a:t>
            </a:r>
            <a:endParaRPr lang="en-US" sz="1700" dirty="0"/>
          </a:p>
        </p:txBody>
      </p:sp>
      <p:graphicFrame>
        <p:nvGraphicFramePr>
          <p:cNvPr id="4" name="Chart 0" descr=""/>
          <p:cNvGraphicFramePr/>
          <p:nvPr/>
        </p:nvGraphicFramePr>
        <p:xfrm>
          <a:off x="640080" y="1783080"/>
          <a:ext cx="71323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092440" y="1828800"/>
            <a:ext cx="3456432" cy="4069080"/>
          </a:xfrm>
          <a:prstGeom prst="roundRect">
            <a:avLst>
              <a:gd name="adj" fmla="val 2381"/>
            </a:avLst>
          </a:prstGeom>
          <a:solidFill>
            <a:srgbClr val="F2F8EC"/>
          </a:solidFill>
          <a:ln/>
        </p:spPr>
      </p:sp>
      <p:sp>
        <p:nvSpPr>
          <p:cNvPr id="6" name="Text 3"/>
          <p:cNvSpPr/>
          <p:nvPr/>
        </p:nvSpPr>
        <p:spPr>
          <a:xfrm>
            <a:off x="8321040" y="2057400"/>
            <a:ext cx="3017520" cy="548640"/>
          </a:xfrm>
          <a:prstGeom prst="rect">
            <a:avLst/>
          </a:prstGeom>
          <a:noFill/>
          <a:ln/>
        </p:spPr>
        <p:txBody>
          <a:bodyPr wrap="square" lIns="0" tIns="0" rIns="0" bIns="0" rtlCol="0" anchor="ctr"/>
          <a:lstStyle/>
          <a:p>
            <a:pPr indent="0" marL="0">
              <a:buNone/>
            </a:pPr>
            <a:r>
              <a:rPr lang="en-US" sz="1400" b="1" dirty="0">
                <a:solidFill>
                  <a:srgbClr val="196B24"/>
                </a:solidFill>
                <a:latin typeface="Montserrat Medium" pitchFamily="34" charset="0"/>
                <a:ea typeface="Montserrat Medium" pitchFamily="34" charset="-122"/>
                <a:cs typeface="Montserrat Medium" pitchFamily="34" charset="-120"/>
              </a:rPr>
              <a:t>What this means on property</a:t>
            </a:r>
            <a:endParaRPr lang="en-US" sz="1400" dirty="0"/>
          </a:p>
        </p:txBody>
      </p:sp>
      <p:sp>
        <p:nvSpPr>
          <p:cNvPr id="7" name="Text 4"/>
          <p:cNvSpPr/>
          <p:nvPr/>
        </p:nvSpPr>
        <p:spPr>
          <a:xfrm>
            <a:off x="8321040" y="2651760"/>
            <a:ext cx="3108960" cy="301752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222222"/>
                </a:solidFill>
                <a:latin typeface="Montserrat Medium" pitchFamily="34" charset="0"/>
                <a:ea typeface="Montserrat Medium" pitchFamily="34" charset="-122"/>
                <a:cs typeface="Montserrat Medium" pitchFamily="34" charset="-120"/>
              </a:rPr>
              <a:t>RFP eligibility for corporate and group business</a:t>
            </a:r>
            <a:endParaRPr lang="en-US" sz="1200" dirty="0"/>
          </a:p>
          <a:p>
            <a:pPr marL="342900" indent="-342900">
              <a:spcAft>
                <a:spcPts val="1000"/>
              </a:spcAft>
              <a:buSzPct val="100000"/>
              <a:buChar char="•"/>
            </a:pPr>
            <a:r>
              <a:rPr lang="en-US" sz="1200" dirty="0">
                <a:solidFill>
                  <a:srgbClr val="222222"/>
                </a:solidFill>
                <a:latin typeface="Montserrat Medium" pitchFamily="34" charset="0"/>
                <a:ea typeface="Montserrat Medium" pitchFamily="34" charset="-122"/>
                <a:cs typeface="Montserrat Medium" pitchFamily="34" charset="-120"/>
              </a:rPr>
              <a:t>Sustainability badges on the OTAs where guests book</a:t>
            </a:r>
            <a:endParaRPr lang="en-US" sz="1200" dirty="0"/>
          </a:p>
          <a:p>
            <a:pPr marL="342900" indent="-342900">
              <a:spcAft>
                <a:spcPts val="1000"/>
              </a:spcAft>
              <a:buSzPct val="100000"/>
              <a:buChar char="•"/>
            </a:pPr>
            <a:r>
              <a:rPr lang="en-US" sz="1200" dirty="0">
                <a:solidFill>
                  <a:srgbClr val="222222"/>
                </a:solidFill>
                <a:latin typeface="Montserrat Medium" pitchFamily="34" charset="0"/>
                <a:ea typeface="Montserrat Medium" pitchFamily="34" charset="-122"/>
                <a:cs typeface="Montserrat Medium" pitchFamily="34" charset="-120"/>
              </a:rPr>
              <a:t>A credible answer for owners, brands, and planners</a:t>
            </a:r>
            <a:endParaRPr lang="en-US" sz="1200" dirty="0"/>
          </a:p>
        </p:txBody>
      </p:sp>
      <p:sp>
        <p:nvSpPr>
          <p:cNvPr id="8" name="Text 5"/>
          <p:cNvSpPr/>
          <p:nvPr/>
        </p:nvSpPr>
        <p:spPr>
          <a:xfrm>
            <a:off x="960120" y="6419088"/>
            <a:ext cx="10607040" cy="310896"/>
          </a:xfrm>
          <a:prstGeom prst="rect">
            <a:avLst/>
          </a:prstGeom>
          <a:noFill/>
          <a:ln/>
        </p:spPr>
        <p:txBody>
          <a:bodyPr wrap="square" lIns="0" tIns="0" rIns="0" bIns="0" rtlCol="0" anchor="ctr"/>
          <a:lstStyle/>
          <a:p>
            <a:pPr indent="0" marL="0">
              <a:buNone/>
            </a:pPr>
            <a:r>
              <a:rPr lang="en-US" sz="950" i="1" dirty="0">
                <a:solidFill>
                  <a:srgbClr val="595959"/>
                </a:solidFill>
                <a:latin typeface="Montserrat Medium" pitchFamily="34" charset="0"/>
                <a:ea typeface="Montserrat Medium" pitchFamily="34" charset="-122"/>
                <a:cs typeface="Montserrat Medium" pitchFamily="34" charset="-120"/>
              </a:rPr>
              <a:t>Sources: Expedia Group, Sustainable Travel Study (2022); Booking.com, Sustainable Travel Report (2021); GBTA Foundation, The State of Climate Action in Business Travel (2023).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COMMERCIAL EVIDENCE</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Certified hotels win more corporate business</a:t>
            </a:r>
            <a:endParaRPr lang="en-US" sz="1700" dirty="0"/>
          </a:p>
        </p:txBody>
      </p:sp>
      <p:graphicFrame>
        <p:nvGraphicFramePr>
          <p:cNvPr id="4" name="Chart 0" descr=""/>
          <p:cNvGraphicFramePr/>
          <p:nvPr/>
        </p:nvGraphicFramePr>
        <p:xfrm>
          <a:off x="640080" y="1920240"/>
          <a:ext cx="66751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920240"/>
            <a:ext cx="3794760" cy="1828800"/>
          </a:xfrm>
          <a:prstGeom prst="roundRect">
            <a:avLst>
              <a:gd name="adj" fmla="val 4500"/>
            </a:avLst>
          </a:prstGeom>
          <a:solidFill>
            <a:srgbClr val="F2F8EC"/>
          </a:solidFill>
          <a:ln/>
        </p:spPr>
      </p:sp>
      <p:sp>
        <p:nvSpPr>
          <p:cNvPr id="6" name="Text 3"/>
          <p:cNvSpPr/>
          <p:nvPr/>
        </p:nvSpPr>
        <p:spPr>
          <a:xfrm>
            <a:off x="7772400" y="2084832"/>
            <a:ext cx="3794760" cy="731520"/>
          </a:xfrm>
          <a:prstGeom prst="rect">
            <a:avLst/>
          </a:prstGeom>
          <a:noFill/>
          <a:ln/>
        </p:spPr>
        <p:txBody>
          <a:bodyPr wrap="square" lIns="0" tIns="0" rIns="0" bIns="0" rtlCol="0" anchor="ctr"/>
          <a:lstStyle/>
          <a:p>
            <a:pPr algn="ctr" indent="0" marL="0">
              <a:buNone/>
            </a:pPr>
            <a:r>
              <a:rPr lang="en-US" sz="3800" b="1" dirty="0">
                <a:solidFill>
                  <a:srgbClr val="196B24"/>
                </a:solidFill>
                <a:latin typeface="Montserrat" pitchFamily="34" charset="0"/>
                <a:ea typeface="Montserrat" pitchFamily="34" charset="-122"/>
                <a:cs typeface="Montserrat" pitchFamily="34" charset="-120"/>
              </a:rPr>
              <a:t>3x</a:t>
            </a:r>
            <a:endParaRPr lang="en-US" sz="3800" dirty="0"/>
          </a:p>
        </p:txBody>
      </p:sp>
      <p:sp>
        <p:nvSpPr>
          <p:cNvPr id="7" name="Text 4"/>
          <p:cNvSpPr/>
          <p:nvPr/>
        </p:nvSpPr>
        <p:spPr>
          <a:xfrm>
            <a:off x="8001000" y="2871216"/>
            <a:ext cx="3337560" cy="777240"/>
          </a:xfrm>
          <a:prstGeom prst="rect">
            <a:avLst/>
          </a:prstGeom>
          <a:noFill/>
          <a:ln/>
        </p:spPr>
        <p:txBody>
          <a:bodyPr wrap="square" lIns="0" tIns="0" rIns="0" bIns="0" rtlCol="0" anchor="ctr"/>
          <a:lstStyle/>
          <a:p>
            <a:pPr algn="ctr" indent="0" marL="0">
              <a:buNone/>
            </a:pPr>
            <a:r>
              <a:rPr lang="en-US" sz="1150" dirty="0">
                <a:solidFill>
                  <a:srgbClr val="222222"/>
                </a:solidFill>
                <a:latin typeface="Montserrat Medium" pitchFamily="34" charset="0"/>
                <a:ea typeface="Montserrat Medium" pitchFamily="34" charset="-122"/>
                <a:cs typeface="Montserrat Medium" pitchFamily="34" charset="-120"/>
              </a:rPr>
              <a:t>the corporate room nights at certified hotels: 622 per year versus 202 at non-certified</a:t>
            </a:r>
            <a:endParaRPr lang="en-US" sz="1150" dirty="0"/>
          </a:p>
        </p:txBody>
      </p:sp>
      <p:sp>
        <p:nvSpPr>
          <p:cNvPr id="8" name="Shape 5"/>
          <p:cNvSpPr/>
          <p:nvPr/>
        </p:nvSpPr>
        <p:spPr>
          <a:xfrm>
            <a:off x="7772400" y="4023360"/>
            <a:ext cx="3794760" cy="1828800"/>
          </a:xfrm>
          <a:prstGeom prst="roundRect">
            <a:avLst>
              <a:gd name="adj" fmla="val 4500"/>
            </a:avLst>
          </a:prstGeom>
          <a:solidFill>
            <a:srgbClr val="196B24"/>
          </a:solidFill>
          <a:ln/>
        </p:spPr>
      </p:sp>
      <p:sp>
        <p:nvSpPr>
          <p:cNvPr id="9" name="Text 6"/>
          <p:cNvSpPr/>
          <p:nvPr/>
        </p:nvSpPr>
        <p:spPr>
          <a:xfrm>
            <a:off x="7772400" y="4187952"/>
            <a:ext cx="3794760" cy="685800"/>
          </a:xfrm>
          <a:prstGeom prst="rect">
            <a:avLst/>
          </a:prstGeom>
          <a:noFill/>
          <a:ln/>
        </p:spPr>
        <p:txBody>
          <a:bodyPr wrap="square" lIns="0" tIns="0" rIns="0" bIns="0" rtlCol="0" anchor="ctr"/>
          <a:lstStyle/>
          <a:p>
            <a:pPr algn="ctr" indent="0" marL="0">
              <a:buNone/>
            </a:pPr>
            <a:r>
              <a:rPr lang="en-US" sz="2500" b="1" dirty="0">
                <a:solidFill>
                  <a:srgbClr val="FFFFFF"/>
                </a:solidFill>
                <a:latin typeface="Montserrat" pitchFamily="34" charset="0"/>
                <a:ea typeface="Montserrat" pitchFamily="34" charset="-122"/>
                <a:cs typeface="Montserrat" pitchFamily="34" charset="-120"/>
              </a:rPr>
              <a:t>97% vs 70%</a:t>
            </a:r>
            <a:endParaRPr lang="en-US" sz="2500" dirty="0"/>
          </a:p>
        </p:txBody>
      </p:sp>
      <p:sp>
        <p:nvSpPr>
          <p:cNvPr id="10" name="Text 7"/>
          <p:cNvSpPr/>
          <p:nvPr/>
        </p:nvSpPr>
        <p:spPr>
          <a:xfrm>
            <a:off x="8028432" y="4919472"/>
            <a:ext cx="3291840" cy="777240"/>
          </a:xfrm>
          <a:prstGeom prst="rect">
            <a:avLst/>
          </a:prstGeom>
          <a:noFill/>
          <a:ln/>
        </p:spPr>
        <p:txBody>
          <a:bodyPr wrap="square" lIns="0" tIns="0" rIns="0" bIns="0" rtlCol="0" anchor="ctr"/>
          <a:lstStyle/>
          <a:p>
            <a:pPr algn="ctr" indent="0" marL="0">
              <a:buNone/>
            </a:pPr>
            <a:r>
              <a:rPr lang="en-US" sz="1150" dirty="0">
                <a:solidFill>
                  <a:srgbClr val="FFFFFF"/>
                </a:solidFill>
                <a:latin typeface="Montserrat Medium" pitchFamily="34" charset="0"/>
                <a:ea typeface="Montserrat Medium" pitchFamily="34" charset="-122"/>
                <a:cs typeface="Montserrat Medium" pitchFamily="34" charset="-120"/>
              </a:rPr>
              <a:t>certified hotels that won corporate business, versus non-certified</a:t>
            </a:r>
            <a:endParaRPr lang="en-US" sz="1150" dirty="0"/>
          </a:p>
        </p:txBody>
      </p:sp>
      <p:sp>
        <p:nvSpPr>
          <p:cNvPr id="11" name="Text 8"/>
          <p:cNvSpPr/>
          <p:nvPr/>
        </p:nvSpPr>
        <p:spPr>
          <a:xfrm>
            <a:off x="960120" y="6419088"/>
            <a:ext cx="10607040" cy="310896"/>
          </a:xfrm>
          <a:prstGeom prst="rect">
            <a:avLst/>
          </a:prstGeom>
          <a:noFill/>
          <a:ln/>
        </p:spPr>
        <p:txBody>
          <a:bodyPr wrap="square" lIns="0" tIns="0" rIns="0" bIns="0" rtlCol="0" anchor="ctr"/>
          <a:lstStyle/>
          <a:p>
            <a:pPr indent="0" marL="0">
              <a:buNone/>
            </a:pPr>
            <a:r>
              <a:rPr lang="en-US" sz="950" i="1" dirty="0">
                <a:solidFill>
                  <a:srgbClr val="595959"/>
                </a:solidFill>
                <a:latin typeface="Montserrat Medium" pitchFamily="34" charset="0"/>
                <a:ea typeface="Montserrat Medium" pitchFamily="34" charset="-122"/>
                <a:cs typeface="Montserrat Medium" pitchFamily="34" charset="-120"/>
              </a:rPr>
              <a:t>Source: Alō Index, analysis of 5,082 assessed hotels, 2025 full year. Green Key Global partnered with the Alō Index in 2026.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A RECOGNIZED STANDARD</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The answers when a buyer or regulator asks "says who?"</a:t>
            </a:r>
            <a:endParaRPr lang="en-US" sz="1700" dirty="0"/>
          </a:p>
        </p:txBody>
      </p:sp>
      <p:sp>
        <p:nvSpPr>
          <p:cNvPr id="4" name="Shape 2"/>
          <p:cNvSpPr/>
          <p:nvPr/>
        </p:nvSpPr>
        <p:spPr>
          <a:xfrm>
            <a:off x="777240" y="1938528"/>
            <a:ext cx="566928" cy="566928"/>
          </a:xfrm>
          <a:prstGeom prst="ellipse">
            <a:avLst/>
          </a:prstGeom>
          <a:solidFill>
            <a:srgbClr val="F2F8EC"/>
          </a:solidFill>
          <a:ln/>
        </p:spPr>
      </p:sp>
      <p:pic>
        <p:nvPicPr>
          <p:cNvPr id="5" name="Image 0" descr="preencoded.png">    </p:cNvPr>
          <p:cNvPicPr>
            <a:picLocks noChangeAspect="1"/>
          </p:cNvPicPr>
          <p:nvPr/>
        </p:nvPicPr>
        <p:blipFill>
          <a:blip r:embed="rId1"/>
          <a:stretch>
            <a:fillRect/>
          </a:stretch>
        </p:blipFill>
        <p:spPr>
          <a:xfrm>
            <a:off x="918972" y="2071116"/>
            <a:ext cx="283464" cy="283464"/>
          </a:xfrm>
          <a:prstGeom prst="rect">
            <a:avLst/>
          </a:prstGeom>
        </p:spPr>
      </p:pic>
      <p:sp>
        <p:nvSpPr>
          <p:cNvPr id="6" name="Text 3"/>
          <p:cNvSpPr/>
          <p:nvPr/>
        </p:nvSpPr>
        <p:spPr>
          <a:xfrm>
            <a:off x="1600200" y="1828800"/>
            <a:ext cx="3291840" cy="822960"/>
          </a:xfrm>
          <a:prstGeom prst="rect">
            <a:avLst/>
          </a:prstGeom>
          <a:noFill/>
          <a:ln/>
        </p:spPr>
        <p:txBody>
          <a:bodyPr wrap="square" lIns="0" tIns="0" rIns="0" bIns="0" rtlCol="0" anchor="ctr"/>
          <a:lstStyle/>
          <a:p>
            <a:pPr indent="0" marL="0">
              <a:buNone/>
            </a:pPr>
            <a:r>
              <a:rPr lang="en-US" sz="1550" b="1" dirty="0">
                <a:solidFill>
                  <a:srgbClr val="1A1A1A"/>
                </a:solidFill>
                <a:latin typeface="Montserrat Medium" pitchFamily="34" charset="0"/>
                <a:ea typeface="Montserrat Medium" pitchFamily="34" charset="-122"/>
                <a:cs typeface="Montserrat Medium" pitchFamily="34" charset="-120"/>
              </a:rPr>
              <a:t>United Nations SDGs</a:t>
            </a:r>
            <a:endParaRPr lang="en-US" sz="1550" dirty="0"/>
          </a:p>
        </p:txBody>
      </p:sp>
      <p:sp>
        <p:nvSpPr>
          <p:cNvPr id="7" name="Text 4"/>
          <p:cNvSpPr/>
          <p:nvPr/>
        </p:nvSpPr>
        <p:spPr>
          <a:xfrm>
            <a:off x="4983480" y="1828800"/>
            <a:ext cx="6583680" cy="822960"/>
          </a:xfrm>
          <a:prstGeom prst="rect">
            <a:avLst/>
          </a:prstGeom>
          <a:noFill/>
          <a:ln/>
        </p:spPr>
        <p:txBody>
          <a:bodyPr wrap="square" lIns="0" tIns="0" rIns="0" bIns="0" rtlCol="0" anchor="ctr"/>
          <a:lstStyle/>
          <a:p>
            <a:pPr indent="0" marL="0">
              <a:buNone/>
            </a:pPr>
            <a:r>
              <a:rPr lang="en-US" sz="1250" dirty="0">
                <a:solidFill>
                  <a:srgbClr val="595959"/>
                </a:solidFill>
                <a:latin typeface="Montserrat Medium" pitchFamily="34" charset="0"/>
                <a:ea typeface="Montserrat Medium" pitchFamily="34" charset="-122"/>
                <a:cs typeface="Montserrat Medium" pitchFamily="34" charset="-120"/>
              </a:rPr>
              <a:t>Aligned with all 17 Sustainable Development Goals, the shared vocabulary of corporate sustainability</a:t>
            </a:r>
            <a:endParaRPr lang="en-US" sz="1250" dirty="0"/>
          </a:p>
        </p:txBody>
      </p:sp>
      <p:sp>
        <p:nvSpPr>
          <p:cNvPr id="8" name="Shape 5"/>
          <p:cNvSpPr/>
          <p:nvPr/>
        </p:nvSpPr>
        <p:spPr>
          <a:xfrm>
            <a:off x="777240" y="3017520"/>
            <a:ext cx="566928" cy="566928"/>
          </a:xfrm>
          <a:prstGeom prst="ellipse">
            <a:avLst/>
          </a:prstGeom>
          <a:solidFill>
            <a:srgbClr val="F2F8EC"/>
          </a:solidFill>
          <a:ln/>
        </p:spPr>
      </p:sp>
      <p:pic>
        <p:nvPicPr>
          <p:cNvPr id="9" name="Image 1" descr="preencoded.png">    </p:cNvPr>
          <p:cNvPicPr>
            <a:picLocks noChangeAspect="1"/>
          </p:cNvPicPr>
          <p:nvPr/>
        </p:nvPicPr>
        <p:blipFill>
          <a:blip r:embed="rId2"/>
          <a:stretch>
            <a:fillRect/>
          </a:stretch>
        </p:blipFill>
        <p:spPr>
          <a:xfrm>
            <a:off x="918972" y="3150108"/>
            <a:ext cx="283464" cy="283464"/>
          </a:xfrm>
          <a:prstGeom prst="rect">
            <a:avLst/>
          </a:prstGeom>
        </p:spPr>
      </p:pic>
      <p:sp>
        <p:nvSpPr>
          <p:cNvPr id="10" name="Text 6"/>
          <p:cNvSpPr/>
          <p:nvPr/>
        </p:nvSpPr>
        <p:spPr>
          <a:xfrm>
            <a:off x="1600200" y="2907792"/>
            <a:ext cx="3291840" cy="822960"/>
          </a:xfrm>
          <a:prstGeom prst="rect">
            <a:avLst/>
          </a:prstGeom>
          <a:noFill/>
          <a:ln/>
        </p:spPr>
        <p:txBody>
          <a:bodyPr wrap="square" lIns="0" tIns="0" rIns="0" bIns="0" rtlCol="0" anchor="ctr"/>
          <a:lstStyle/>
          <a:p>
            <a:pPr indent="0" marL="0">
              <a:buNone/>
            </a:pPr>
            <a:r>
              <a:rPr lang="en-US" sz="1550" b="1" dirty="0">
                <a:solidFill>
                  <a:srgbClr val="1A1A1A"/>
                </a:solidFill>
                <a:latin typeface="Montserrat Medium" pitchFamily="34" charset="0"/>
                <a:ea typeface="Montserrat Medium" pitchFamily="34" charset="-122"/>
                <a:cs typeface="Montserrat Medium" pitchFamily="34" charset="-120"/>
              </a:rPr>
              <a:t>GSTC-Recognized</a:t>
            </a:r>
            <a:endParaRPr lang="en-US" sz="1550" dirty="0"/>
          </a:p>
        </p:txBody>
      </p:sp>
      <p:sp>
        <p:nvSpPr>
          <p:cNvPr id="11" name="Text 7"/>
          <p:cNvSpPr/>
          <p:nvPr/>
        </p:nvSpPr>
        <p:spPr>
          <a:xfrm>
            <a:off x="4983480" y="2907792"/>
            <a:ext cx="6583680" cy="822960"/>
          </a:xfrm>
          <a:prstGeom prst="rect">
            <a:avLst/>
          </a:prstGeom>
          <a:noFill/>
          <a:ln/>
        </p:spPr>
        <p:txBody>
          <a:bodyPr wrap="square" lIns="0" tIns="0" rIns="0" bIns="0" rtlCol="0" anchor="ctr"/>
          <a:lstStyle/>
          <a:p>
            <a:pPr indent="0" marL="0">
              <a:buNone/>
            </a:pPr>
            <a:r>
              <a:rPr lang="en-US" sz="1250" dirty="0">
                <a:solidFill>
                  <a:srgbClr val="595959"/>
                </a:solidFill>
                <a:latin typeface="Montserrat Medium" pitchFamily="34" charset="0"/>
                <a:ea typeface="Montserrat Medium" pitchFamily="34" charset="-122"/>
                <a:cs typeface="Montserrat Medium" pitchFamily="34" charset="-120"/>
              </a:rPr>
              <a:t>Standard recognized by the Global Sustainable Tourism Council</a:t>
            </a:r>
            <a:endParaRPr lang="en-US" sz="1250" dirty="0"/>
          </a:p>
        </p:txBody>
      </p:sp>
      <p:sp>
        <p:nvSpPr>
          <p:cNvPr id="12" name="Shape 8"/>
          <p:cNvSpPr/>
          <p:nvPr/>
        </p:nvSpPr>
        <p:spPr>
          <a:xfrm>
            <a:off x="777240" y="4096512"/>
            <a:ext cx="566928" cy="566928"/>
          </a:xfrm>
          <a:prstGeom prst="ellipse">
            <a:avLst/>
          </a:prstGeom>
          <a:solidFill>
            <a:srgbClr val="F2F8EC"/>
          </a:solidFill>
          <a:ln/>
        </p:spPr>
      </p:sp>
      <p:pic>
        <p:nvPicPr>
          <p:cNvPr id="13" name="Image 2" descr="preencoded.png">    </p:cNvPr>
          <p:cNvPicPr>
            <a:picLocks noChangeAspect="1"/>
          </p:cNvPicPr>
          <p:nvPr/>
        </p:nvPicPr>
        <p:blipFill>
          <a:blip r:embed="rId3"/>
          <a:stretch>
            <a:fillRect/>
          </a:stretch>
        </p:blipFill>
        <p:spPr>
          <a:xfrm>
            <a:off x="918972" y="4229100"/>
            <a:ext cx="283464" cy="283464"/>
          </a:xfrm>
          <a:prstGeom prst="rect">
            <a:avLst/>
          </a:prstGeom>
        </p:spPr>
      </p:pic>
      <p:sp>
        <p:nvSpPr>
          <p:cNvPr id="14" name="Text 9"/>
          <p:cNvSpPr/>
          <p:nvPr/>
        </p:nvSpPr>
        <p:spPr>
          <a:xfrm>
            <a:off x="1600200" y="3986784"/>
            <a:ext cx="3291840" cy="822960"/>
          </a:xfrm>
          <a:prstGeom prst="rect">
            <a:avLst/>
          </a:prstGeom>
          <a:noFill/>
          <a:ln/>
        </p:spPr>
        <p:txBody>
          <a:bodyPr wrap="square" lIns="0" tIns="0" rIns="0" bIns="0" rtlCol="0" anchor="ctr"/>
          <a:lstStyle/>
          <a:p>
            <a:pPr indent="0" marL="0">
              <a:buNone/>
            </a:pPr>
            <a:r>
              <a:rPr lang="en-US" sz="1550" b="1" dirty="0">
                <a:solidFill>
                  <a:srgbClr val="1A1A1A"/>
                </a:solidFill>
                <a:latin typeface="Montserrat Medium" pitchFamily="34" charset="0"/>
                <a:ea typeface="Montserrat Medium" pitchFamily="34" charset="-122"/>
                <a:cs typeface="Montserrat Medium" pitchFamily="34" charset="-120"/>
              </a:rPr>
              <a:t>Travalyst</a:t>
            </a:r>
            <a:endParaRPr lang="en-US" sz="1550" dirty="0"/>
          </a:p>
        </p:txBody>
      </p:sp>
      <p:sp>
        <p:nvSpPr>
          <p:cNvPr id="15" name="Text 10"/>
          <p:cNvSpPr/>
          <p:nvPr/>
        </p:nvSpPr>
        <p:spPr>
          <a:xfrm>
            <a:off x="4983480" y="3986784"/>
            <a:ext cx="6583680" cy="822960"/>
          </a:xfrm>
          <a:prstGeom prst="rect">
            <a:avLst/>
          </a:prstGeom>
          <a:noFill/>
          <a:ln/>
        </p:spPr>
        <p:txBody>
          <a:bodyPr wrap="square" lIns="0" tIns="0" rIns="0" bIns="0" rtlCol="0" anchor="ctr"/>
          <a:lstStyle/>
          <a:p>
            <a:pPr indent="0" marL="0">
              <a:buNone/>
            </a:pPr>
            <a:r>
              <a:rPr lang="en-US" sz="1250" dirty="0">
                <a:solidFill>
                  <a:srgbClr val="595959"/>
                </a:solidFill>
                <a:latin typeface="Montserrat Medium" pitchFamily="34" charset="0"/>
                <a:ea typeface="Montserrat Medium" pitchFamily="34" charset="-122"/>
                <a:cs typeface="Montserrat Medium" pitchFamily="34" charset="-120"/>
              </a:rPr>
              <a:t>Recognized by the coalition behind sustainability labels on major booking platforms</a:t>
            </a:r>
            <a:endParaRPr lang="en-US" sz="1250" dirty="0"/>
          </a:p>
        </p:txBody>
      </p:sp>
      <p:sp>
        <p:nvSpPr>
          <p:cNvPr id="16" name="Shape 11"/>
          <p:cNvSpPr/>
          <p:nvPr/>
        </p:nvSpPr>
        <p:spPr>
          <a:xfrm>
            <a:off x="777240" y="5175504"/>
            <a:ext cx="566928" cy="566928"/>
          </a:xfrm>
          <a:prstGeom prst="ellipse">
            <a:avLst/>
          </a:prstGeom>
          <a:solidFill>
            <a:srgbClr val="F2F8EC"/>
          </a:solidFill>
          <a:ln/>
        </p:spPr>
      </p:sp>
      <p:pic>
        <p:nvPicPr>
          <p:cNvPr id="17" name="Image 3" descr="preencoded.png">    </p:cNvPr>
          <p:cNvPicPr>
            <a:picLocks noChangeAspect="1"/>
          </p:cNvPicPr>
          <p:nvPr/>
        </p:nvPicPr>
        <p:blipFill>
          <a:blip r:embed="rId4"/>
          <a:stretch>
            <a:fillRect/>
          </a:stretch>
        </p:blipFill>
        <p:spPr>
          <a:xfrm>
            <a:off x="918972" y="5308092"/>
            <a:ext cx="283464" cy="283464"/>
          </a:xfrm>
          <a:prstGeom prst="rect">
            <a:avLst/>
          </a:prstGeom>
        </p:spPr>
      </p:pic>
      <p:sp>
        <p:nvSpPr>
          <p:cNvPr id="18" name="Text 12"/>
          <p:cNvSpPr/>
          <p:nvPr/>
        </p:nvSpPr>
        <p:spPr>
          <a:xfrm>
            <a:off x="1600200" y="5065776"/>
            <a:ext cx="3291840" cy="822960"/>
          </a:xfrm>
          <a:prstGeom prst="rect">
            <a:avLst/>
          </a:prstGeom>
          <a:noFill/>
          <a:ln/>
        </p:spPr>
        <p:txBody>
          <a:bodyPr wrap="square" lIns="0" tIns="0" rIns="0" bIns="0" rtlCol="0" anchor="ctr"/>
          <a:lstStyle/>
          <a:p>
            <a:pPr indent="0" marL="0">
              <a:buNone/>
            </a:pPr>
            <a:r>
              <a:rPr lang="en-US" sz="1550" b="1" dirty="0">
                <a:solidFill>
                  <a:srgbClr val="1A1A1A"/>
                </a:solidFill>
                <a:latin typeface="Montserrat Medium" pitchFamily="34" charset="0"/>
                <a:ea typeface="Montserrat Medium" pitchFamily="34" charset="-122"/>
                <a:cs typeface="Montserrat Medium" pitchFamily="34" charset="-120"/>
              </a:rPr>
              <a:t>ISO-aligned, EU-ready</a:t>
            </a:r>
            <a:endParaRPr lang="en-US" sz="1550" dirty="0"/>
          </a:p>
        </p:txBody>
      </p:sp>
      <p:sp>
        <p:nvSpPr>
          <p:cNvPr id="19" name="Text 13"/>
          <p:cNvSpPr/>
          <p:nvPr/>
        </p:nvSpPr>
        <p:spPr>
          <a:xfrm>
            <a:off x="4983480" y="5065776"/>
            <a:ext cx="6583680" cy="822960"/>
          </a:xfrm>
          <a:prstGeom prst="rect">
            <a:avLst/>
          </a:prstGeom>
          <a:noFill/>
          <a:ln/>
        </p:spPr>
        <p:txBody>
          <a:bodyPr wrap="square" lIns="0" tIns="0" rIns="0" bIns="0" rtlCol="0" anchor="ctr"/>
          <a:lstStyle/>
          <a:p>
            <a:pPr indent="0" marL="0">
              <a:buNone/>
            </a:pPr>
            <a:r>
              <a:rPr lang="en-US" sz="1250" dirty="0">
                <a:solidFill>
                  <a:srgbClr val="595959"/>
                </a:solidFill>
                <a:latin typeface="Montserrat Medium" pitchFamily="34" charset="0"/>
                <a:ea typeface="Montserrat Medium" pitchFamily="34" charset="-122"/>
                <a:cs typeface="Montserrat Medium" pitchFamily="34" charset="-120"/>
              </a:rPr>
              <a:t>Certification structured around ISO/IEC 17065; compliant architecture for the EU green-claims directive in force September 2026</a:t>
            </a:r>
            <a:endParaRPr lang="en-US" sz="1250" dirty="0"/>
          </a:p>
        </p:txBody>
      </p:sp>
      <p:sp>
        <p:nvSpPr>
          <p:cNvPr id="20" name="Text 14"/>
          <p:cNvSpPr/>
          <p:nvPr/>
        </p:nvSpPr>
        <p:spPr>
          <a:xfrm>
            <a:off x="960120" y="6419088"/>
            <a:ext cx="10607040" cy="310896"/>
          </a:xfrm>
          <a:prstGeom prst="rect">
            <a:avLst/>
          </a:prstGeom>
          <a:noFill/>
          <a:ln/>
        </p:spPr>
        <p:txBody>
          <a:bodyPr wrap="square" lIns="0" tIns="0" rIns="0" bIns="0" rtlCol="0" anchor="ctr"/>
          <a:lstStyle/>
          <a:p>
            <a:pPr indent="0" marL="0">
              <a:buNone/>
            </a:pPr>
            <a:r>
              <a:rPr lang="en-US" sz="950" i="1" dirty="0">
                <a:solidFill>
                  <a:srgbClr val="595959"/>
                </a:solidFill>
                <a:latin typeface="Montserrat Medium" pitchFamily="34" charset="0"/>
                <a:ea typeface="Montserrat Medium" pitchFamily="34" charset="-122"/>
                <a:cs typeface="Montserrat Medium" pitchFamily="34" charset="-120"/>
              </a:rPr>
              <a:t>Sources: United Nations 2030 Agenda (2015); Global Sustainable Tourism Council, gstc.org; Travalyst, travalyst.org/industry; Directive (EU) 2024/825.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TRAJECTORY</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The entire industry is converging on independent certification</a:t>
            </a:r>
            <a:endParaRPr lang="en-US" sz="1700" dirty="0"/>
          </a:p>
        </p:txBody>
      </p:sp>
      <p:sp>
        <p:nvSpPr>
          <p:cNvPr id="4" name="Shape 2"/>
          <p:cNvSpPr/>
          <p:nvPr/>
        </p:nvSpPr>
        <p:spPr>
          <a:xfrm>
            <a:off x="640080" y="1828800"/>
            <a:ext cx="3520440" cy="3611880"/>
          </a:xfrm>
          <a:prstGeom prst="roundRect">
            <a:avLst>
              <a:gd name="adj" fmla="val 2338"/>
            </a:avLst>
          </a:prstGeom>
          <a:solidFill>
            <a:srgbClr val="F2F8EC"/>
          </a:solidFill>
          <a:ln/>
        </p:spPr>
      </p:sp>
      <p:sp>
        <p:nvSpPr>
          <p:cNvPr id="5" name="Text 3"/>
          <p:cNvSpPr/>
          <p:nvPr/>
        </p:nvSpPr>
        <p:spPr>
          <a:xfrm>
            <a:off x="868680" y="2057400"/>
            <a:ext cx="3063240" cy="457200"/>
          </a:xfrm>
          <a:prstGeom prst="rect">
            <a:avLst/>
          </a:prstGeom>
          <a:noFill/>
          <a:ln/>
        </p:spPr>
        <p:txBody>
          <a:bodyPr wrap="square" lIns="0" tIns="0" rIns="0" bIns="0" rtlCol="0" anchor="ctr"/>
          <a:lstStyle/>
          <a:p>
            <a:pPr indent="0" marL="0">
              <a:buNone/>
            </a:pPr>
            <a:r>
              <a:rPr lang="en-US" sz="1650" b="1" dirty="0">
                <a:solidFill>
                  <a:srgbClr val="196B24"/>
                </a:solidFill>
                <a:latin typeface="Montserrat" pitchFamily="34" charset="0"/>
                <a:ea typeface="Montserrat" pitchFamily="34" charset="-122"/>
                <a:cs typeface="Montserrat" pitchFamily="34" charset="-120"/>
              </a:rPr>
              <a:t>WTTC</a:t>
            </a:r>
            <a:endParaRPr lang="en-US" sz="1650" dirty="0"/>
          </a:p>
        </p:txBody>
      </p:sp>
      <p:sp>
        <p:nvSpPr>
          <p:cNvPr id="6" name="Text 4"/>
          <p:cNvSpPr/>
          <p:nvPr/>
        </p:nvSpPr>
        <p:spPr>
          <a:xfrm>
            <a:off x="868680" y="2606040"/>
            <a:ext cx="3063240" cy="2240280"/>
          </a:xfrm>
          <a:prstGeom prst="rect">
            <a:avLst/>
          </a:prstGeom>
          <a:noFill/>
          <a:ln/>
        </p:spPr>
        <p:txBody>
          <a:bodyPr wrap="square" lIns="0" tIns="0" rIns="0" bIns="0" rtlCol="0" anchor="ctr"/>
          <a:lstStyle/>
          <a:p>
            <a:pPr indent="0" marL="0">
              <a:buNone/>
            </a:pPr>
            <a:r>
              <a:rPr lang="en-US" sz="1200" dirty="0">
                <a:solidFill>
                  <a:srgbClr val="222222"/>
                </a:solidFill>
                <a:latin typeface="Montserrat Medium" pitchFamily="34" charset="0"/>
                <a:ea typeface="Montserrat Medium" pitchFamily="34" charset="-122"/>
                <a:cs typeface="Montserrat Medium" pitchFamily="34" charset="-120"/>
              </a:rPr>
              <a:t>The World Travel &amp; Tourism Council is elevating Hotel Sustainability Basics, adopted by 8,000+ hotels in 85 countries, into an independent third-party certification scheme.</a:t>
            </a:r>
            <a:endParaRPr lang="en-US" sz="1200" dirty="0"/>
          </a:p>
        </p:txBody>
      </p:sp>
      <p:sp>
        <p:nvSpPr>
          <p:cNvPr id="7" name="Text 5"/>
          <p:cNvSpPr/>
          <p:nvPr/>
        </p:nvSpPr>
        <p:spPr>
          <a:xfrm>
            <a:off x="868680" y="4983480"/>
            <a:ext cx="3063240" cy="320040"/>
          </a:xfrm>
          <a:prstGeom prst="rect">
            <a:avLst/>
          </a:prstGeom>
          <a:noFill/>
          <a:ln/>
        </p:spPr>
        <p:txBody>
          <a:bodyPr wrap="square" lIns="0" tIns="0" rIns="0" bIns="0" rtlCol="0" anchor="ctr"/>
          <a:lstStyle/>
          <a:p>
            <a:pPr indent="0" marL="0">
              <a:buNone/>
            </a:pPr>
            <a:r>
              <a:rPr lang="en-US" sz="1000" i="1" dirty="0">
                <a:solidFill>
                  <a:srgbClr val="595959"/>
                </a:solidFill>
                <a:latin typeface="Montserrat Medium" pitchFamily="34" charset="0"/>
                <a:ea typeface="Montserrat Medium" pitchFamily="34" charset="-122"/>
                <a:cs typeface="Montserrat Medium" pitchFamily="34" charset="-120"/>
              </a:rPr>
              <a:t>WTTC, 25 June 2026</a:t>
            </a:r>
            <a:endParaRPr lang="en-US" sz="1000" dirty="0"/>
          </a:p>
        </p:txBody>
      </p:sp>
      <p:sp>
        <p:nvSpPr>
          <p:cNvPr id="8" name="Shape 6"/>
          <p:cNvSpPr/>
          <p:nvPr/>
        </p:nvSpPr>
        <p:spPr>
          <a:xfrm>
            <a:off x="4370832" y="1828800"/>
            <a:ext cx="3520440" cy="3611880"/>
          </a:xfrm>
          <a:prstGeom prst="roundRect">
            <a:avLst>
              <a:gd name="adj" fmla="val 2338"/>
            </a:avLst>
          </a:prstGeom>
          <a:solidFill>
            <a:srgbClr val="196B24"/>
          </a:solidFill>
          <a:ln/>
        </p:spPr>
      </p:sp>
      <p:sp>
        <p:nvSpPr>
          <p:cNvPr id="9" name="Text 7"/>
          <p:cNvSpPr/>
          <p:nvPr/>
        </p:nvSpPr>
        <p:spPr>
          <a:xfrm>
            <a:off x="4599432" y="2057400"/>
            <a:ext cx="3063240" cy="457200"/>
          </a:xfrm>
          <a:prstGeom prst="rect">
            <a:avLst/>
          </a:prstGeom>
          <a:noFill/>
          <a:ln/>
        </p:spPr>
        <p:txBody>
          <a:bodyPr wrap="square" lIns="0" tIns="0" rIns="0" bIns="0" rtlCol="0" anchor="ctr"/>
          <a:lstStyle/>
          <a:p>
            <a:pPr indent="0" marL="0">
              <a:buNone/>
            </a:pPr>
            <a:r>
              <a:rPr lang="en-US" sz="1650" b="1" dirty="0">
                <a:solidFill>
                  <a:srgbClr val="FFFFFF"/>
                </a:solidFill>
                <a:latin typeface="Montserrat" pitchFamily="34" charset="0"/>
                <a:ea typeface="Montserrat" pitchFamily="34" charset="-122"/>
                <a:cs typeface="Montserrat" pitchFamily="34" charset="-120"/>
              </a:rPr>
              <a:t>EU regulation</a:t>
            </a:r>
            <a:endParaRPr lang="en-US" sz="1650" dirty="0"/>
          </a:p>
        </p:txBody>
      </p:sp>
      <p:sp>
        <p:nvSpPr>
          <p:cNvPr id="10" name="Text 8"/>
          <p:cNvSpPr/>
          <p:nvPr/>
        </p:nvSpPr>
        <p:spPr>
          <a:xfrm>
            <a:off x="4599432" y="2606040"/>
            <a:ext cx="3063240" cy="2240280"/>
          </a:xfrm>
          <a:prstGeom prst="rect">
            <a:avLst/>
          </a:prstGeom>
          <a:noFill/>
          <a:ln/>
        </p:spPr>
        <p:txBody>
          <a:bodyPr wrap="square" lIns="0" tIns="0" rIns="0" bIns="0" rtlCol="0" anchor="ctr"/>
          <a:lstStyle/>
          <a:p>
            <a:pPr indent="0" marL="0">
              <a:buNone/>
            </a:pPr>
            <a:r>
              <a:rPr lang="en-US" sz="1200" dirty="0">
                <a:solidFill>
                  <a:srgbClr val="FFFFFF"/>
                </a:solidFill>
                <a:latin typeface="Montserrat Medium" pitchFamily="34" charset="0"/>
                <a:ea typeface="Montserrat Medium" pitchFamily="34" charset="-122"/>
                <a:cs typeface="Montserrat Medium" pitchFamily="34" charset="-120"/>
              </a:rPr>
              <a:t>The Empowering Consumers for the Green Transition Directive takes force September 2026: sustainability labels shown to EU travelers require independent verification.</a:t>
            </a:r>
            <a:endParaRPr lang="en-US" sz="1200" dirty="0"/>
          </a:p>
        </p:txBody>
      </p:sp>
      <p:sp>
        <p:nvSpPr>
          <p:cNvPr id="11" name="Text 9"/>
          <p:cNvSpPr/>
          <p:nvPr/>
        </p:nvSpPr>
        <p:spPr>
          <a:xfrm>
            <a:off x="4599432" y="4983480"/>
            <a:ext cx="3063240" cy="320040"/>
          </a:xfrm>
          <a:prstGeom prst="rect">
            <a:avLst/>
          </a:prstGeom>
          <a:noFill/>
          <a:ln/>
        </p:spPr>
        <p:txBody>
          <a:bodyPr wrap="square" lIns="0" tIns="0" rIns="0" bIns="0" rtlCol="0" anchor="ctr"/>
          <a:lstStyle/>
          <a:p>
            <a:pPr indent="0" marL="0">
              <a:buNone/>
            </a:pPr>
            <a:r>
              <a:rPr lang="en-US" sz="1000" i="1" dirty="0">
                <a:solidFill>
                  <a:srgbClr val="DCEFDB"/>
                </a:solidFill>
                <a:latin typeface="Montserrat Medium" pitchFamily="34" charset="0"/>
                <a:ea typeface="Montserrat Medium" pitchFamily="34" charset="-122"/>
                <a:cs typeface="Montserrat Medium" pitchFamily="34" charset="-120"/>
              </a:rPr>
              <a:t>Directive (EU) 2024/825</a:t>
            </a:r>
            <a:endParaRPr lang="en-US" sz="1000" dirty="0"/>
          </a:p>
        </p:txBody>
      </p:sp>
      <p:sp>
        <p:nvSpPr>
          <p:cNvPr id="12" name="Shape 10"/>
          <p:cNvSpPr/>
          <p:nvPr/>
        </p:nvSpPr>
        <p:spPr>
          <a:xfrm>
            <a:off x="8101584" y="1828800"/>
            <a:ext cx="3520440" cy="3611880"/>
          </a:xfrm>
          <a:prstGeom prst="roundRect">
            <a:avLst>
              <a:gd name="adj" fmla="val 2338"/>
            </a:avLst>
          </a:prstGeom>
          <a:solidFill>
            <a:srgbClr val="F2F8EC"/>
          </a:solidFill>
          <a:ln/>
        </p:spPr>
      </p:sp>
      <p:sp>
        <p:nvSpPr>
          <p:cNvPr id="13" name="Text 11"/>
          <p:cNvSpPr/>
          <p:nvPr/>
        </p:nvSpPr>
        <p:spPr>
          <a:xfrm>
            <a:off x="8330184" y="2057400"/>
            <a:ext cx="3063240" cy="457200"/>
          </a:xfrm>
          <a:prstGeom prst="rect">
            <a:avLst/>
          </a:prstGeom>
          <a:noFill/>
          <a:ln/>
        </p:spPr>
        <p:txBody>
          <a:bodyPr wrap="square" lIns="0" tIns="0" rIns="0" bIns="0" rtlCol="0" anchor="ctr"/>
          <a:lstStyle/>
          <a:p>
            <a:pPr indent="0" marL="0">
              <a:buNone/>
            </a:pPr>
            <a:r>
              <a:rPr lang="en-US" sz="1650" b="1" dirty="0">
                <a:solidFill>
                  <a:srgbClr val="196B24"/>
                </a:solidFill>
                <a:latin typeface="Montserrat" pitchFamily="34" charset="0"/>
                <a:ea typeface="Montserrat" pitchFamily="34" charset="-122"/>
                <a:cs typeface="Montserrat" pitchFamily="34" charset="-120"/>
              </a:rPr>
              <a:t>Owners' advisors</a:t>
            </a:r>
            <a:endParaRPr lang="en-US" sz="1650" dirty="0"/>
          </a:p>
        </p:txBody>
      </p:sp>
      <p:sp>
        <p:nvSpPr>
          <p:cNvPr id="14" name="Text 12"/>
          <p:cNvSpPr/>
          <p:nvPr/>
        </p:nvSpPr>
        <p:spPr>
          <a:xfrm>
            <a:off x="8330184" y="2606040"/>
            <a:ext cx="3063240" cy="2240280"/>
          </a:xfrm>
          <a:prstGeom prst="rect">
            <a:avLst/>
          </a:prstGeom>
          <a:noFill/>
          <a:ln/>
        </p:spPr>
        <p:txBody>
          <a:bodyPr wrap="square" lIns="0" tIns="0" rIns="0" bIns="0" rtlCol="0" anchor="ctr"/>
          <a:lstStyle/>
          <a:p>
            <a:pPr indent="0" marL="0">
              <a:buNone/>
            </a:pPr>
            <a:r>
              <a:rPr lang="en-US" sz="1200" dirty="0">
                <a:solidFill>
                  <a:srgbClr val="222222"/>
                </a:solidFill>
                <a:latin typeface="Montserrat Medium" pitchFamily="34" charset="0"/>
                <a:ea typeface="Montserrat Medium" pitchFamily="34" charset="-122"/>
                <a:cs typeface="Montserrat Medium" pitchFamily="34" charset="-120"/>
              </a:rPr>
              <a:t>JLL: hotels that embed sustainability into capital planning see lower operating costs, green financing access, brand equity, and lower regulatory risk.</a:t>
            </a:r>
            <a:endParaRPr lang="en-US" sz="1200" dirty="0"/>
          </a:p>
        </p:txBody>
      </p:sp>
      <p:sp>
        <p:nvSpPr>
          <p:cNvPr id="15" name="Text 13"/>
          <p:cNvSpPr/>
          <p:nvPr/>
        </p:nvSpPr>
        <p:spPr>
          <a:xfrm>
            <a:off x="8330184" y="4983480"/>
            <a:ext cx="3063240" cy="320040"/>
          </a:xfrm>
          <a:prstGeom prst="rect">
            <a:avLst/>
          </a:prstGeom>
          <a:noFill/>
          <a:ln/>
        </p:spPr>
        <p:txBody>
          <a:bodyPr wrap="square" lIns="0" tIns="0" rIns="0" bIns="0" rtlCol="0" anchor="ctr"/>
          <a:lstStyle/>
          <a:p>
            <a:pPr indent="0" marL="0">
              <a:buNone/>
            </a:pPr>
            <a:r>
              <a:rPr lang="en-US" sz="1000" i="1" dirty="0">
                <a:solidFill>
                  <a:srgbClr val="595959"/>
                </a:solidFill>
                <a:latin typeface="Montserrat Medium" pitchFamily="34" charset="0"/>
                <a:ea typeface="Montserrat Medium" pitchFamily="34" charset="-122"/>
                <a:cs typeface="Montserrat Medium" pitchFamily="34" charset="-120"/>
              </a:rPr>
              <a:t>JLL, November 2025</a:t>
            </a:r>
            <a:endParaRPr lang="en-US" sz="1000" dirty="0"/>
          </a:p>
        </p:txBody>
      </p:sp>
      <p:sp>
        <p:nvSpPr>
          <p:cNvPr id="16" name="Text 14"/>
          <p:cNvSpPr/>
          <p:nvPr/>
        </p:nvSpPr>
        <p:spPr>
          <a:xfrm>
            <a:off x="640080" y="5715000"/>
            <a:ext cx="10908792" cy="457200"/>
          </a:xfrm>
          <a:prstGeom prst="rect">
            <a:avLst/>
          </a:prstGeom>
          <a:noFill/>
          <a:ln/>
        </p:spPr>
        <p:txBody>
          <a:bodyPr wrap="square" lIns="0" tIns="0" rIns="0" bIns="0" rtlCol="0" anchor="ctr"/>
          <a:lstStyle/>
          <a:p>
            <a:pPr algn="ctr" indent="0" marL="0">
              <a:buNone/>
            </a:pPr>
            <a:r>
              <a:rPr lang="en-US" sz="1450" b="1" dirty="0">
                <a:solidFill>
                  <a:srgbClr val="196B24"/>
                </a:solidFill>
                <a:latin typeface="Montserrat Medium" pitchFamily="34" charset="0"/>
                <a:ea typeface="Montserrat Medium" pitchFamily="34" charset="-122"/>
                <a:cs typeface="Montserrat Medium" pitchFamily="34" charset="-120"/>
              </a:rPr>
              <a:t>Eco-Rating is this model, built for North America, with a two-decade head start with the buyers who matter here.</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4128" y="1399032"/>
            <a:ext cx="10058400" cy="914400"/>
          </a:xfrm>
          <a:prstGeom prst="rect">
            <a:avLst/>
          </a:prstGeom>
          <a:noFill/>
          <a:ln/>
        </p:spPr>
        <p:txBody>
          <a:bodyPr wrap="square" lIns="0" tIns="0" rIns="0" bIns="0" rtlCol="0" anchor="ctr"/>
          <a:lstStyle/>
          <a:p>
            <a:pPr indent="0" marL="0">
              <a:buNone/>
            </a:pPr>
            <a:r>
              <a:rPr lang="en-US" sz="4000" b="1" dirty="0">
                <a:solidFill>
                  <a:srgbClr val="1A1A1A"/>
                </a:solidFill>
                <a:latin typeface="Montserrat" pitchFamily="34" charset="0"/>
                <a:ea typeface="Montserrat" pitchFamily="34" charset="-122"/>
                <a:cs typeface="Montserrat" pitchFamily="34" charset="-120"/>
              </a:rPr>
              <a:t>HOW CERTIFICATION WORKS</a:t>
            </a:r>
            <a:endParaRPr lang="en-US" sz="4000" dirty="0"/>
          </a:p>
        </p:txBody>
      </p:sp>
      <p:sp>
        <p:nvSpPr>
          <p:cNvPr id="3" name="Text 1"/>
          <p:cNvSpPr/>
          <p:nvPr/>
        </p:nvSpPr>
        <p:spPr>
          <a:xfrm>
            <a:off x="1024128" y="2377440"/>
            <a:ext cx="6766560" cy="1097280"/>
          </a:xfrm>
          <a:prstGeom prst="rect">
            <a:avLst/>
          </a:prstGeom>
          <a:noFill/>
          <a:ln/>
        </p:spPr>
        <p:txBody>
          <a:bodyPr wrap="square" lIns="0" tIns="0" rIns="0" bIns="0" rtlCol="0" anchor="ctr"/>
          <a:lstStyle/>
          <a:p>
            <a:pPr indent="0" marL="0">
              <a:buNone/>
            </a:pPr>
            <a:r>
              <a:rPr lang="en-US" sz="1900" b="1" dirty="0">
                <a:solidFill>
                  <a:srgbClr val="196B24"/>
                </a:solidFill>
                <a:latin typeface="Montserrat Medium" pitchFamily="34" charset="0"/>
                <a:ea typeface="Montserrat Medium" pitchFamily="34" charset="-122"/>
                <a:cs typeface="Montserrat Medium" pitchFamily="34" charset="-120"/>
              </a:rPr>
              <a:t>The assessment, the 37 Core Criteria, the independent audit, and what it costs.</a:t>
            </a:r>
            <a:endParaRPr lang="en-US" sz="1900" dirty="0"/>
          </a:p>
        </p:txBody>
      </p:sp>
      <p:pic>
        <p:nvPicPr>
          <p:cNvPr id="4" name="Image 0" descr="preencoded.png">    </p:cNvPr>
          <p:cNvPicPr>
            <a:picLocks noChangeAspect="1"/>
          </p:cNvPicPr>
          <p:nvPr/>
        </p:nvPicPr>
        <p:blipFill>
          <a:blip r:embed="rId1"/>
          <a:stretch>
            <a:fillRect/>
          </a:stretch>
        </p:blipFill>
        <p:spPr>
          <a:xfrm>
            <a:off x="7543800" y="3968496"/>
            <a:ext cx="4169664" cy="31089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INSIDE THE ASSESSMENT</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Organized the way a hotel actually runs</a:t>
            </a:r>
            <a:endParaRPr lang="en-US" sz="1700" dirty="0"/>
          </a:p>
        </p:txBody>
      </p:sp>
      <p:sp>
        <p:nvSpPr>
          <p:cNvPr id="4" name="Shape 2"/>
          <p:cNvSpPr/>
          <p:nvPr/>
        </p:nvSpPr>
        <p:spPr>
          <a:xfrm>
            <a:off x="640080" y="1874520"/>
            <a:ext cx="2057400" cy="3154680"/>
          </a:xfrm>
          <a:prstGeom prst="roundRect">
            <a:avLst>
              <a:gd name="adj" fmla="val 4000"/>
            </a:avLst>
          </a:prstGeom>
          <a:solidFill>
            <a:srgbClr val="F2F8EC"/>
          </a:solidFill>
          <a:ln/>
        </p:spPr>
      </p:sp>
      <p:sp>
        <p:nvSpPr>
          <p:cNvPr id="5" name="Shape 3"/>
          <p:cNvSpPr/>
          <p:nvPr/>
        </p:nvSpPr>
        <p:spPr>
          <a:xfrm>
            <a:off x="1348740" y="2103120"/>
            <a:ext cx="640080" cy="640080"/>
          </a:xfrm>
          <a:prstGeom prst="ellipse">
            <a:avLst/>
          </a:prstGeom>
          <a:solidFill>
            <a:srgbClr val="FFFFFF"/>
          </a:solidFill>
          <a:ln w="15875">
            <a:solidFill>
              <a:srgbClr val="196B24"/>
            </a:solidFill>
            <a:prstDash val="solid"/>
          </a:ln>
        </p:spPr>
      </p:sp>
      <p:pic>
        <p:nvPicPr>
          <p:cNvPr id="6" name="Image 0" descr="preencoded.png">    </p:cNvPr>
          <p:cNvPicPr>
            <a:picLocks noChangeAspect="1"/>
          </p:cNvPicPr>
          <p:nvPr/>
        </p:nvPicPr>
        <p:blipFill>
          <a:blip r:embed="rId1"/>
          <a:stretch>
            <a:fillRect/>
          </a:stretch>
        </p:blipFill>
        <p:spPr>
          <a:xfrm>
            <a:off x="1504188" y="2258568"/>
            <a:ext cx="329184" cy="329184"/>
          </a:xfrm>
          <a:prstGeom prst="rect">
            <a:avLst/>
          </a:prstGeom>
        </p:spPr>
      </p:pic>
      <p:sp>
        <p:nvSpPr>
          <p:cNvPr id="7" name="Text 4"/>
          <p:cNvSpPr/>
          <p:nvPr/>
        </p:nvSpPr>
        <p:spPr>
          <a:xfrm>
            <a:off x="694944" y="2834640"/>
            <a:ext cx="1947672" cy="594360"/>
          </a:xfrm>
          <a:prstGeom prst="rect">
            <a:avLst/>
          </a:prstGeom>
          <a:noFill/>
          <a:ln/>
        </p:spPr>
        <p:txBody>
          <a:bodyPr wrap="square" lIns="0" tIns="0" rIns="0" bIns="0" rtlCol="0" anchor="ctr"/>
          <a:lstStyle/>
          <a:p>
            <a:pPr algn="ctr" indent="0" marL="0">
              <a:buNone/>
            </a:pPr>
            <a:r>
              <a:rPr lang="en-US" sz="1200" b="1" dirty="0">
                <a:solidFill>
                  <a:srgbClr val="1A1A1A"/>
                </a:solidFill>
                <a:latin typeface="Montserrat Medium" pitchFamily="34" charset="0"/>
                <a:ea typeface="Montserrat Medium" pitchFamily="34" charset="-122"/>
                <a:cs typeface="Montserrat Medium" pitchFamily="34" charset="-120"/>
              </a:rPr>
              <a:t>Corporate Management</a:t>
            </a:r>
            <a:endParaRPr lang="en-US" sz="1200" dirty="0"/>
          </a:p>
        </p:txBody>
      </p:sp>
      <p:sp>
        <p:nvSpPr>
          <p:cNvPr id="8" name="Text 5"/>
          <p:cNvSpPr/>
          <p:nvPr/>
        </p:nvSpPr>
        <p:spPr>
          <a:xfrm>
            <a:off x="749808" y="3447288"/>
            <a:ext cx="1837944" cy="109728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Policy, action plan, purchasing, Green Team, engagement</a:t>
            </a:r>
            <a:endParaRPr lang="en-US" sz="1000" dirty="0"/>
          </a:p>
        </p:txBody>
      </p:sp>
      <p:sp>
        <p:nvSpPr>
          <p:cNvPr id="9" name="Text 6"/>
          <p:cNvSpPr/>
          <p:nvPr/>
        </p:nvSpPr>
        <p:spPr>
          <a:xfrm>
            <a:off x="694944" y="4572000"/>
            <a:ext cx="1947672" cy="320040"/>
          </a:xfrm>
          <a:prstGeom prst="rect">
            <a:avLst/>
          </a:prstGeom>
          <a:noFill/>
          <a:ln/>
        </p:spPr>
        <p:txBody>
          <a:bodyPr wrap="square" lIns="0" tIns="0" rIns="0" bIns="0" rtlCol="0" anchor="ctr"/>
          <a:lstStyle/>
          <a:p>
            <a:pPr algn="ctr" indent="0" marL="0">
              <a:buNone/>
            </a:pPr>
            <a:r>
              <a:rPr lang="en-US" sz="1000" b="1" dirty="0">
                <a:solidFill>
                  <a:srgbClr val="196B24"/>
                </a:solidFill>
                <a:latin typeface="Montserrat Medium" pitchFamily="34" charset="0"/>
                <a:ea typeface="Montserrat Medium" pitchFamily="34" charset="-122"/>
                <a:cs typeface="Montserrat Medium" pitchFamily="34" charset="-120"/>
              </a:rPr>
              <a:t>All properties</a:t>
            </a:r>
            <a:endParaRPr lang="en-US" sz="1000" dirty="0"/>
          </a:p>
        </p:txBody>
      </p:sp>
      <p:sp>
        <p:nvSpPr>
          <p:cNvPr id="10" name="Shape 7"/>
          <p:cNvSpPr/>
          <p:nvPr/>
        </p:nvSpPr>
        <p:spPr>
          <a:xfrm>
            <a:off x="2852928" y="1874520"/>
            <a:ext cx="2057400" cy="3154680"/>
          </a:xfrm>
          <a:prstGeom prst="roundRect">
            <a:avLst>
              <a:gd name="adj" fmla="val 4000"/>
            </a:avLst>
          </a:prstGeom>
          <a:solidFill>
            <a:srgbClr val="F2F8EC"/>
          </a:solidFill>
          <a:ln/>
        </p:spPr>
      </p:sp>
      <p:sp>
        <p:nvSpPr>
          <p:cNvPr id="11" name="Shape 8"/>
          <p:cNvSpPr/>
          <p:nvPr/>
        </p:nvSpPr>
        <p:spPr>
          <a:xfrm>
            <a:off x="3561588" y="2103120"/>
            <a:ext cx="640080" cy="640080"/>
          </a:xfrm>
          <a:prstGeom prst="ellipse">
            <a:avLst/>
          </a:prstGeom>
          <a:solidFill>
            <a:srgbClr val="FFFFFF"/>
          </a:solidFill>
          <a:ln w="15875">
            <a:solidFill>
              <a:srgbClr val="196B24"/>
            </a:solidFill>
            <a:prstDash val="solid"/>
          </a:ln>
        </p:spPr>
      </p:sp>
      <p:pic>
        <p:nvPicPr>
          <p:cNvPr id="12" name="Image 1" descr="preencoded.png">    </p:cNvPr>
          <p:cNvPicPr>
            <a:picLocks noChangeAspect="1"/>
          </p:cNvPicPr>
          <p:nvPr/>
        </p:nvPicPr>
        <p:blipFill>
          <a:blip r:embed="rId2"/>
          <a:stretch>
            <a:fillRect/>
          </a:stretch>
        </p:blipFill>
        <p:spPr>
          <a:xfrm>
            <a:off x="3717036" y="2258568"/>
            <a:ext cx="329184" cy="329184"/>
          </a:xfrm>
          <a:prstGeom prst="rect">
            <a:avLst/>
          </a:prstGeom>
        </p:spPr>
      </p:pic>
      <p:sp>
        <p:nvSpPr>
          <p:cNvPr id="13" name="Text 9"/>
          <p:cNvSpPr/>
          <p:nvPr/>
        </p:nvSpPr>
        <p:spPr>
          <a:xfrm>
            <a:off x="2907792" y="2834640"/>
            <a:ext cx="1947672" cy="594360"/>
          </a:xfrm>
          <a:prstGeom prst="rect">
            <a:avLst/>
          </a:prstGeom>
          <a:noFill/>
          <a:ln/>
        </p:spPr>
        <p:txBody>
          <a:bodyPr wrap="square" lIns="0" tIns="0" rIns="0" bIns="0" rtlCol="0" anchor="ctr"/>
          <a:lstStyle/>
          <a:p>
            <a:pPr algn="ctr" indent="0" marL="0">
              <a:buNone/>
            </a:pPr>
            <a:r>
              <a:rPr lang="en-US" sz="1200" b="1" dirty="0">
                <a:solidFill>
                  <a:srgbClr val="1A1A1A"/>
                </a:solidFill>
                <a:latin typeface="Montserrat Medium" pitchFamily="34" charset="0"/>
                <a:ea typeface="Montserrat Medium" pitchFamily="34" charset="-122"/>
                <a:cs typeface="Montserrat Medium" pitchFamily="34" charset="-120"/>
              </a:rPr>
              <a:t>Housekeeping</a:t>
            </a:r>
            <a:endParaRPr lang="en-US" sz="1200" dirty="0"/>
          </a:p>
        </p:txBody>
      </p:sp>
      <p:sp>
        <p:nvSpPr>
          <p:cNvPr id="14" name="Text 10"/>
          <p:cNvSpPr/>
          <p:nvPr/>
        </p:nvSpPr>
        <p:spPr>
          <a:xfrm>
            <a:off x="2962656" y="3447288"/>
            <a:ext cx="1837944" cy="109728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Linen reuse, products, room routines, training</a:t>
            </a:r>
            <a:endParaRPr lang="en-US" sz="1000" dirty="0"/>
          </a:p>
        </p:txBody>
      </p:sp>
      <p:sp>
        <p:nvSpPr>
          <p:cNvPr id="15" name="Text 11"/>
          <p:cNvSpPr/>
          <p:nvPr/>
        </p:nvSpPr>
        <p:spPr>
          <a:xfrm>
            <a:off x="2907792" y="4572000"/>
            <a:ext cx="1947672" cy="320040"/>
          </a:xfrm>
          <a:prstGeom prst="rect">
            <a:avLst/>
          </a:prstGeom>
          <a:noFill/>
          <a:ln/>
        </p:spPr>
        <p:txBody>
          <a:bodyPr wrap="square" lIns="0" tIns="0" rIns="0" bIns="0" rtlCol="0" anchor="ctr"/>
          <a:lstStyle/>
          <a:p>
            <a:pPr algn="ctr" indent="0" marL="0">
              <a:buNone/>
            </a:pPr>
            <a:r>
              <a:rPr lang="en-US" sz="1000" b="1" dirty="0">
                <a:solidFill>
                  <a:srgbClr val="196B24"/>
                </a:solidFill>
                <a:latin typeface="Montserrat Medium" pitchFamily="34" charset="0"/>
                <a:ea typeface="Montserrat Medium" pitchFamily="34" charset="-122"/>
                <a:cs typeface="Montserrat Medium" pitchFamily="34" charset="-120"/>
              </a:rPr>
              <a:t>All properties</a:t>
            </a:r>
            <a:endParaRPr lang="en-US" sz="1000" dirty="0"/>
          </a:p>
        </p:txBody>
      </p:sp>
      <p:sp>
        <p:nvSpPr>
          <p:cNvPr id="16" name="Shape 12"/>
          <p:cNvSpPr/>
          <p:nvPr/>
        </p:nvSpPr>
        <p:spPr>
          <a:xfrm>
            <a:off x="5065776" y="1874520"/>
            <a:ext cx="2057400" cy="3154680"/>
          </a:xfrm>
          <a:prstGeom prst="roundRect">
            <a:avLst>
              <a:gd name="adj" fmla="val 4000"/>
            </a:avLst>
          </a:prstGeom>
          <a:solidFill>
            <a:srgbClr val="F2F8EC"/>
          </a:solidFill>
          <a:ln/>
        </p:spPr>
      </p:sp>
      <p:sp>
        <p:nvSpPr>
          <p:cNvPr id="17" name="Shape 13"/>
          <p:cNvSpPr/>
          <p:nvPr/>
        </p:nvSpPr>
        <p:spPr>
          <a:xfrm>
            <a:off x="5774436" y="2103120"/>
            <a:ext cx="640080" cy="640080"/>
          </a:xfrm>
          <a:prstGeom prst="ellipse">
            <a:avLst/>
          </a:prstGeom>
          <a:solidFill>
            <a:srgbClr val="FFFFFF"/>
          </a:solidFill>
          <a:ln w="15875">
            <a:solidFill>
              <a:srgbClr val="196B24"/>
            </a:solidFill>
            <a:prstDash val="solid"/>
          </a:ln>
        </p:spPr>
      </p:sp>
      <p:pic>
        <p:nvPicPr>
          <p:cNvPr id="18" name="Image 2" descr="preencoded.png">    </p:cNvPr>
          <p:cNvPicPr>
            <a:picLocks noChangeAspect="1"/>
          </p:cNvPicPr>
          <p:nvPr/>
        </p:nvPicPr>
        <p:blipFill>
          <a:blip r:embed="rId3"/>
          <a:stretch>
            <a:fillRect/>
          </a:stretch>
        </p:blipFill>
        <p:spPr>
          <a:xfrm>
            <a:off x="5929884" y="2258568"/>
            <a:ext cx="329184" cy="329184"/>
          </a:xfrm>
          <a:prstGeom prst="rect">
            <a:avLst/>
          </a:prstGeom>
        </p:spPr>
      </p:pic>
      <p:sp>
        <p:nvSpPr>
          <p:cNvPr id="19" name="Text 14"/>
          <p:cNvSpPr/>
          <p:nvPr/>
        </p:nvSpPr>
        <p:spPr>
          <a:xfrm>
            <a:off x="5120640" y="2834640"/>
            <a:ext cx="1947672" cy="594360"/>
          </a:xfrm>
          <a:prstGeom prst="rect">
            <a:avLst/>
          </a:prstGeom>
          <a:noFill/>
          <a:ln/>
        </p:spPr>
        <p:txBody>
          <a:bodyPr wrap="square" lIns="0" tIns="0" rIns="0" bIns="0" rtlCol="0" anchor="ctr"/>
          <a:lstStyle/>
          <a:p>
            <a:pPr algn="ctr" indent="0" marL="0">
              <a:buNone/>
            </a:pPr>
            <a:r>
              <a:rPr lang="en-US" sz="1200" b="1" dirty="0">
                <a:solidFill>
                  <a:srgbClr val="1A1A1A"/>
                </a:solidFill>
                <a:latin typeface="Montserrat Medium" pitchFamily="34" charset="0"/>
                <a:ea typeface="Montserrat Medium" pitchFamily="34" charset="-122"/>
                <a:cs typeface="Montserrat Medium" pitchFamily="34" charset="-120"/>
              </a:rPr>
              <a:t>Engineering</a:t>
            </a:r>
            <a:endParaRPr lang="en-US" sz="1200" dirty="0"/>
          </a:p>
        </p:txBody>
      </p:sp>
      <p:sp>
        <p:nvSpPr>
          <p:cNvPr id="20" name="Text 15"/>
          <p:cNvSpPr/>
          <p:nvPr/>
        </p:nvSpPr>
        <p:spPr>
          <a:xfrm>
            <a:off x="5175504" y="3447288"/>
            <a:ext cx="1837944" cy="109728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Utility tracking, maintenance, HVAC, lighting, waste</a:t>
            </a:r>
            <a:endParaRPr lang="en-US" sz="1000" dirty="0"/>
          </a:p>
        </p:txBody>
      </p:sp>
      <p:sp>
        <p:nvSpPr>
          <p:cNvPr id="21" name="Text 16"/>
          <p:cNvSpPr/>
          <p:nvPr/>
        </p:nvSpPr>
        <p:spPr>
          <a:xfrm>
            <a:off x="5120640" y="4572000"/>
            <a:ext cx="1947672" cy="320040"/>
          </a:xfrm>
          <a:prstGeom prst="rect">
            <a:avLst/>
          </a:prstGeom>
          <a:noFill/>
          <a:ln/>
        </p:spPr>
        <p:txBody>
          <a:bodyPr wrap="square" lIns="0" tIns="0" rIns="0" bIns="0" rtlCol="0" anchor="ctr"/>
          <a:lstStyle/>
          <a:p>
            <a:pPr algn="ctr" indent="0" marL="0">
              <a:buNone/>
            </a:pPr>
            <a:r>
              <a:rPr lang="en-US" sz="1000" b="1" dirty="0">
                <a:solidFill>
                  <a:srgbClr val="196B24"/>
                </a:solidFill>
                <a:latin typeface="Montserrat Medium" pitchFamily="34" charset="0"/>
                <a:ea typeface="Montserrat Medium" pitchFamily="34" charset="-122"/>
                <a:cs typeface="Montserrat Medium" pitchFamily="34" charset="-120"/>
              </a:rPr>
              <a:t>All properties</a:t>
            </a:r>
            <a:endParaRPr lang="en-US" sz="1000" dirty="0"/>
          </a:p>
        </p:txBody>
      </p:sp>
      <p:sp>
        <p:nvSpPr>
          <p:cNvPr id="22" name="Shape 17"/>
          <p:cNvSpPr/>
          <p:nvPr/>
        </p:nvSpPr>
        <p:spPr>
          <a:xfrm>
            <a:off x="7278624" y="1874520"/>
            <a:ext cx="2057400" cy="3154680"/>
          </a:xfrm>
          <a:prstGeom prst="roundRect">
            <a:avLst>
              <a:gd name="adj" fmla="val 4000"/>
            </a:avLst>
          </a:prstGeom>
          <a:solidFill>
            <a:srgbClr val="F2F8EC"/>
          </a:solidFill>
          <a:ln/>
        </p:spPr>
      </p:sp>
      <p:sp>
        <p:nvSpPr>
          <p:cNvPr id="23" name="Shape 18"/>
          <p:cNvSpPr/>
          <p:nvPr/>
        </p:nvSpPr>
        <p:spPr>
          <a:xfrm>
            <a:off x="7987284" y="2103120"/>
            <a:ext cx="640080" cy="640080"/>
          </a:xfrm>
          <a:prstGeom prst="ellipse">
            <a:avLst/>
          </a:prstGeom>
          <a:solidFill>
            <a:srgbClr val="FFFFFF"/>
          </a:solidFill>
          <a:ln w="15875">
            <a:solidFill>
              <a:srgbClr val="196B24"/>
            </a:solidFill>
            <a:prstDash val="solid"/>
          </a:ln>
        </p:spPr>
      </p:sp>
      <p:pic>
        <p:nvPicPr>
          <p:cNvPr id="24" name="Image 3" descr="preencoded.png">    </p:cNvPr>
          <p:cNvPicPr>
            <a:picLocks noChangeAspect="1"/>
          </p:cNvPicPr>
          <p:nvPr/>
        </p:nvPicPr>
        <p:blipFill>
          <a:blip r:embed="rId4"/>
          <a:stretch>
            <a:fillRect/>
          </a:stretch>
        </p:blipFill>
        <p:spPr>
          <a:xfrm>
            <a:off x="8142732" y="2258568"/>
            <a:ext cx="329184" cy="329184"/>
          </a:xfrm>
          <a:prstGeom prst="rect">
            <a:avLst/>
          </a:prstGeom>
        </p:spPr>
      </p:pic>
      <p:sp>
        <p:nvSpPr>
          <p:cNvPr id="25" name="Text 19"/>
          <p:cNvSpPr/>
          <p:nvPr/>
        </p:nvSpPr>
        <p:spPr>
          <a:xfrm>
            <a:off x="7333488" y="2834640"/>
            <a:ext cx="1947672" cy="594360"/>
          </a:xfrm>
          <a:prstGeom prst="rect">
            <a:avLst/>
          </a:prstGeom>
          <a:noFill/>
          <a:ln/>
        </p:spPr>
        <p:txBody>
          <a:bodyPr wrap="square" lIns="0" tIns="0" rIns="0" bIns="0" rtlCol="0" anchor="ctr"/>
          <a:lstStyle/>
          <a:p>
            <a:pPr algn="ctr" indent="0" marL="0">
              <a:buNone/>
            </a:pPr>
            <a:r>
              <a:rPr lang="en-US" sz="1200" b="1" dirty="0">
                <a:solidFill>
                  <a:srgbClr val="1A1A1A"/>
                </a:solidFill>
                <a:latin typeface="Montserrat Medium" pitchFamily="34" charset="0"/>
                <a:ea typeface="Montserrat Medium" pitchFamily="34" charset="-122"/>
                <a:cs typeface="Montserrat Medium" pitchFamily="34" charset="-120"/>
              </a:rPr>
              <a:t>Food &amp; Beverage</a:t>
            </a:r>
            <a:endParaRPr lang="en-US" sz="1200" dirty="0"/>
          </a:p>
        </p:txBody>
      </p:sp>
      <p:sp>
        <p:nvSpPr>
          <p:cNvPr id="26" name="Text 20"/>
          <p:cNvSpPr/>
          <p:nvPr/>
        </p:nvSpPr>
        <p:spPr>
          <a:xfrm>
            <a:off x="7388352" y="3447288"/>
            <a:ext cx="1837944" cy="109728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Purchasing, food waste, refrigeration, service</a:t>
            </a:r>
            <a:endParaRPr lang="en-US" sz="1000" dirty="0"/>
          </a:p>
        </p:txBody>
      </p:sp>
      <p:sp>
        <p:nvSpPr>
          <p:cNvPr id="27" name="Text 21"/>
          <p:cNvSpPr/>
          <p:nvPr/>
        </p:nvSpPr>
        <p:spPr>
          <a:xfrm>
            <a:off x="7333488" y="4572000"/>
            <a:ext cx="1947672" cy="320040"/>
          </a:xfrm>
          <a:prstGeom prst="rect">
            <a:avLst/>
          </a:prstGeom>
          <a:noFill/>
          <a:ln/>
        </p:spPr>
        <p:txBody>
          <a:bodyPr wrap="square" lIns="0" tIns="0" rIns="0" bIns="0" rtlCol="0" anchor="ctr"/>
          <a:lstStyle/>
          <a:p>
            <a:pPr algn="ctr" indent="0" marL="0">
              <a:buNone/>
            </a:pPr>
            <a:r>
              <a:rPr lang="en-US" sz="1000" b="1" dirty="0">
                <a:solidFill>
                  <a:srgbClr val="92D050"/>
                </a:solidFill>
                <a:latin typeface="Montserrat Medium" pitchFamily="34" charset="0"/>
                <a:ea typeface="Montserrat Medium" pitchFamily="34" charset="-122"/>
                <a:cs typeface="Montserrat Medium" pitchFamily="34" charset="-120"/>
              </a:rPr>
              <a:t>Optional</a:t>
            </a:r>
            <a:endParaRPr lang="en-US" sz="1000" dirty="0"/>
          </a:p>
        </p:txBody>
      </p:sp>
      <p:sp>
        <p:nvSpPr>
          <p:cNvPr id="28" name="Shape 22"/>
          <p:cNvSpPr/>
          <p:nvPr/>
        </p:nvSpPr>
        <p:spPr>
          <a:xfrm>
            <a:off x="9491472" y="1874520"/>
            <a:ext cx="2057400" cy="3154680"/>
          </a:xfrm>
          <a:prstGeom prst="roundRect">
            <a:avLst>
              <a:gd name="adj" fmla="val 4000"/>
            </a:avLst>
          </a:prstGeom>
          <a:solidFill>
            <a:srgbClr val="F2F8EC"/>
          </a:solidFill>
          <a:ln/>
        </p:spPr>
      </p:sp>
      <p:sp>
        <p:nvSpPr>
          <p:cNvPr id="29" name="Shape 23"/>
          <p:cNvSpPr/>
          <p:nvPr/>
        </p:nvSpPr>
        <p:spPr>
          <a:xfrm>
            <a:off x="10200132" y="2103120"/>
            <a:ext cx="640080" cy="640080"/>
          </a:xfrm>
          <a:prstGeom prst="ellipse">
            <a:avLst/>
          </a:prstGeom>
          <a:solidFill>
            <a:srgbClr val="FFFFFF"/>
          </a:solidFill>
          <a:ln w="15875">
            <a:solidFill>
              <a:srgbClr val="196B24"/>
            </a:solidFill>
            <a:prstDash val="solid"/>
          </a:ln>
        </p:spPr>
      </p:sp>
      <p:pic>
        <p:nvPicPr>
          <p:cNvPr id="30" name="Image 4" descr="preencoded.png">    </p:cNvPr>
          <p:cNvPicPr>
            <a:picLocks noChangeAspect="1"/>
          </p:cNvPicPr>
          <p:nvPr/>
        </p:nvPicPr>
        <p:blipFill>
          <a:blip r:embed="rId5"/>
          <a:stretch>
            <a:fillRect/>
          </a:stretch>
        </p:blipFill>
        <p:spPr>
          <a:xfrm>
            <a:off x="10355580" y="2258568"/>
            <a:ext cx="329184" cy="329184"/>
          </a:xfrm>
          <a:prstGeom prst="rect">
            <a:avLst/>
          </a:prstGeom>
        </p:spPr>
      </p:pic>
      <p:sp>
        <p:nvSpPr>
          <p:cNvPr id="31" name="Text 24"/>
          <p:cNvSpPr/>
          <p:nvPr/>
        </p:nvSpPr>
        <p:spPr>
          <a:xfrm>
            <a:off x="9546336" y="2834640"/>
            <a:ext cx="1947672" cy="594360"/>
          </a:xfrm>
          <a:prstGeom prst="rect">
            <a:avLst/>
          </a:prstGeom>
          <a:noFill/>
          <a:ln/>
        </p:spPr>
        <p:txBody>
          <a:bodyPr wrap="square" lIns="0" tIns="0" rIns="0" bIns="0" rtlCol="0" anchor="ctr"/>
          <a:lstStyle/>
          <a:p>
            <a:pPr algn="ctr" indent="0" marL="0">
              <a:buNone/>
            </a:pPr>
            <a:r>
              <a:rPr lang="en-US" sz="1200" b="1" dirty="0">
                <a:solidFill>
                  <a:srgbClr val="1A1A1A"/>
                </a:solidFill>
                <a:latin typeface="Montserrat Medium" pitchFamily="34" charset="0"/>
                <a:ea typeface="Montserrat Medium" pitchFamily="34" charset="-122"/>
                <a:cs typeface="Montserrat Medium" pitchFamily="34" charset="-120"/>
              </a:rPr>
              <a:t>Conference &amp; Meetings</a:t>
            </a:r>
            <a:endParaRPr lang="en-US" sz="1200" dirty="0"/>
          </a:p>
        </p:txBody>
      </p:sp>
      <p:sp>
        <p:nvSpPr>
          <p:cNvPr id="32" name="Text 25"/>
          <p:cNvSpPr/>
          <p:nvPr/>
        </p:nvSpPr>
        <p:spPr>
          <a:xfrm>
            <a:off x="9601200" y="3447288"/>
            <a:ext cx="1837944" cy="109728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Event-space sustainability practices</a:t>
            </a:r>
            <a:endParaRPr lang="en-US" sz="1000" dirty="0"/>
          </a:p>
        </p:txBody>
      </p:sp>
      <p:sp>
        <p:nvSpPr>
          <p:cNvPr id="33" name="Text 26"/>
          <p:cNvSpPr/>
          <p:nvPr/>
        </p:nvSpPr>
        <p:spPr>
          <a:xfrm>
            <a:off x="9546336" y="4572000"/>
            <a:ext cx="1947672" cy="320040"/>
          </a:xfrm>
          <a:prstGeom prst="rect">
            <a:avLst/>
          </a:prstGeom>
          <a:noFill/>
          <a:ln/>
        </p:spPr>
        <p:txBody>
          <a:bodyPr wrap="square" lIns="0" tIns="0" rIns="0" bIns="0" rtlCol="0" anchor="ctr"/>
          <a:lstStyle/>
          <a:p>
            <a:pPr algn="ctr" indent="0" marL="0">
              <a:buNone/>
            </a:pPr>
            <a:r>
              <a:rPr lang="en-US" sz="1000" b="1" dirty="0">
                <a:solidFill>
                  <a:srgbClr val="92D050"/>
                </a:solidFill>
                <a:latin typeface="Montserrat Medium" pitchFamily="34" charset="0"/>
                <a:ea typeface="Montserrat Medium" pitchFamily="34" charset="-122"/>
                <a:cs typeface="Montserrat Medium" pitchFamily="34" charset="-120"/>
              </a:rPr>
              <a:t>Optional</a:t>
            </a:r>
            <a:endParaRPr lang="en-US" sz="1000" dirty="0"/>
          </a:p>
        </p:txBody>
      </p:sp>
      <p:sp>
        <p:nvSpPr>
          <p:cNvPr id="34" name="Text 27"/>
          <p:cNvSpPr/>
          <p:nvPr/>
        </p:nvSpPr>
        <p:spPr>
          <a:xfrm>
            <a:off x="640080" y="5349240"/>
            <a:ext cx="10908792" cy="777240"/>
          </a:xfrm>
          <a:prstGeom prst="rect">
            <a:avLst/>
          </a:prstGeom>
          <a:noFill/>
          <a:ln/>
        </p:spPr>
        <p:txBody>
          <a:bodyPr wrap="square" lIns="0" tIns="0" rIns="0" bIns="0" rtlCol="0" anchor="ctr"/>
          <a:lstStyle/>
          <a:p>
            <a:pPr algn="ctr" indent="0" marL="0">
              <a:buNone/>
            </a:pPr>
            <a:r>
              <a:rPr lang="en-US" sz="1350" b="1" dirty="0">
                <a:solidFill>
                  <a:srgbClr val="196B24"/>
                </a:solidFill>
                <a:latin typeface="Montserrat Medium" pitchFamily="34" charset="0"/>
                <a:ea typeface="Montserrat Medium" pitchFamily="34" charset="-122"/>
                <a:cs typeface="Montserrat Medium" pitchFamily="34" charset="-120"/>
              </a:rPr>
              <a:t>200+ questions, </a:t>
            </a:r>
            <a:pPr algn="ctr" indent="0" marL="0">
              <a:buNone/>
            </a:pPr>
            <a:r>
              <a:rPr lang="en-US" sz="1350" dirty="0">
                <a:solidFill>
                  <a:srgbClr val="222222"/>
                </a:solidFill>
                <a:latin typeface="Montserrat Medium" pitchFamily="34" charset="0"/>
                <a:ea typeface="Montserrat Medium" pitchFamily="34" charset="-122"/>
                <a:cs typeface="Montserrat Medium" pitchFamily="34" charset="-120"/>
              </a:rPr>
              <a:t>multiple users, save as you go, templates for every required document, and evidence uploaded against each mandatory answer so the audit verifies proof, not promises. Opted-out sections rescale the score with no penalty.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37 CORE CRITERIA</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A clear, credible front door to a first Key</a:t>
            </a:r>
            <a:endParaRPr lang="en-US" sz="1700" dirty="0"/>
          </a:p>
        </p:txBody>
      </p:sp>
      <p:graphicFrame>
        <p:nvGraphicFramePr>
          <p:cNvPr id="4" name="Chart 0" descr=""/>
          <p:cNvGraphicFramePr/>
          <p:nvPr/>
        </p:nvGraphicFramePr>
        <p:xfrm>
          <a:off x="640080" y="1874520"/>
          <a:ext cx="3657600" cy="36576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1691640" y="3127248"/>
            <a:ext cx="1554480" cy="731520"/>
          </a:xfrm>
          <a:prstGeom prst="rect">
            <a:avLst/>
          </a:prstGeom>
          <a:noFill/>
          <a:ln/>
        </p:spPr>
        <p:txBody>
          <a:bodyPr wrap="square" lIns="0" tIns="0" rIns="0" bIns="0" rtlCol="0" anchor="ctr"/>
          <a:lstStyle/>
          <a:p>
            <a:pPr algn="ctr" indent="0" marL="0">
              <a:buNone/>
            </a:pPr>
            <a:r>
              <a:rPr lang="en-US" sz="3800" b="1" dirty="0">
                <a:solidFill>
                  <a:srgbClr val="196B24"/>
                </a:solidFill>
                <a:latin typeface="Montserrat" pitchFamily="34" charset="0"/>
                <a:ea typeface="Montserrat" pitchFamily="34" charset="-122"/>
                <a:cs typeface="Montserrat" pitchFamily="34" charset="-120"/>
              </a:rPr>
              <a:t>37</a:t>
            </a:r>
            <a:endParaRPr lang="en-US" sz="3800" dirty="0"/>
          </a:p>
        </p:txBody>
      </p:sp>
      <p:sp>
        <p:nvSpPr>
          <p:cNvPr id="6" name="Text 3"/>
          <p:cNvSpPr/>
          <p:nvPr/>
        </p:nvSpPr>
        <p:spPr>
          <a:xfrm>
            <a:off x="1554480" y="3840480"/>
            <a:ext cx="1828800" cy="320040"/>
          </a:xfrm>
          <a:prstGeom prst="rect">
            <a:avLst/>
          </a:prstGeom>
          <a:noFill/>
          <a:ln/>
        </p:spPr>
        <p:txBody>
          <a:bodyPr wrap="square" lIns="0" tIns="0" rIns="0" bIns="0" rtlCol="0" anchor="ctr"/>
          <a:lstStyle/>
          <a:p>
            <a:pPr algn="ctr" indent="0" marL="0">
              <a:buNone/>
            </a:pPr>
            <a:r>
              <a:rPr lang="en-US" sz="1050" dirty="0">
                <a:solidFill>
                  <a:srgbClr val="595959"/>
                </a:solidFill>
                <a:latin typeface="Montserrat Medium" pitchFamily="34" charset="0"/>
                <a:ea typeface="Montserrat Medium" pitchFamily="34" charset="-122"/>
                <a:cs typeface="Montserrat Medium" pitchFamily="34" charset="-120"/>
              </a:rPr>
              <a:t>of 200+ questions</a:t>
            </a:r>
            <a:endParaRPr lang="en-US" sz="1050" dirty="0"/>
          </a:p>
        </p:txBody>
      </p:sp>
      <p:pic>
        <p:nvPicPr>
          <p:cNvPr id="7" name="Image 0" descr="preencoded.png">    </p:cNvPr>
          <p:cNvPicPr>
            <a:picLocks noChangeAspect="1"/>
          </p:cNvPicPr>
          <p:nvPr/>
        </p:nvPicPr>
        <p:blipFill>
          <a:blip r:embed="rId2"/>
          <a:stretch>
            <a:fillRect/>
          </a:stretch>
        </p:blipFill>
        <p:spPr>
          <a:xfrm>
            <a:off x="4663440" y="1965960"/>
            <a:ext cx="310896" cy="310896"/>
          </a:xfrm>
          <a:prstGeom prst="rect">
            <a:avLst/>
          </a:prstGeom>
        </p:spPr>
      </p:pic>
      <p:sp>
        <p:nvSpPr>
          <p:cNvPr id="8" name="Text 4"/>
          <p:cNvSpPr/>
          <p:nvPr/>
        </p:nvSpPr>
        <p:spPr>
          <a:xfrm>
            <a:off x="5120640" y="1874520"/>
            <a:ext cx="3657600" cy="868680"/>
          </a:xfrm>
          <a:prstGeom prst="rect">
            <a:avLst/>
          </a:prstGeom>
          <a:noFill/>
          <a:ln/>
        </p:spPr>
        <p:txBody>
          <a:bodyPr wrap="square" lIns="0" tIns="0" rIns="0" bIns="0" rtlCol="0" anchor="ctr"/>
          <a:lstStyle/>
          <a:p>
            <a:pPr indent="0" marL="0">
              <a:buNone/>
            </a:pPr>
            <a:r>
              <a:rPr lang="en-US" sz="1200" b="1" dirty="0">
                <a:solidFill>
                  <a:srgbClr val="1A1A1A"/>
                </a:solidFill>
                <a:latin typeface="Montserrat Medium" pitchFamily="34" charset="0"/>
                <a:ea typeface="Montserrat Medium" pitchFamily="34" charset="-122"/>
                <a:cs typeface="Montserrat Medium" pitchFamily="34" charset="-120"/>
              </a:rPr>
              <a:t>Govern it. </a:t>
            </a:r>
            <a:pPr indent="0" marL="0">
              <a:buNone/>
            </a:pPr>
            <a:r>
              <a:rPr lang="en-US" sz="1200" dirty="0">
                <a:solidFill>
                  <a:srgbClr val="595959"/>
                </a:solidFill>
                <a:latin typeface="Montserrat Medium" pitchFamily="34" charset="0"/>
                <a:ea typeface="Montserrat Medium" pitchFamily="34" charset="-122"/>
                <a:cs typeface="Montserrat Medium" pitchFamily="34" charset="-120"/>
              </a:rPr>
              <a:t>Signed policy, named accountable manager, action plan</a:t>
            </a:r>
            <a:endParaRPr lang="en-US" sz="1200" dirty="0"/>
          </a:p>
        </p:txBody>
      </p:sp>
      <p:pic>
        <p:nvPicPr>
          <p:cNvPr id="9" name="Image 1" descr="preencoded.png">    </p:cNvPr>
          <p:cNvPicPr>
            <a:picLocks noChangeAspect="1"/>
          </p:cNvPicPr>
          <p:nvPr/>
        </p:nvPicPr>
        <p:blipFill>
          <a:blip r:embed="rId3"/>
          <a:stretch>
            <a:fillRect/>
          </a:stretch>
        </p:blipFill>
        <p:spPr>
          <a:xfrm>
            <a:off x="4663440" y="2880360"/>
            <a:ext cx="310896" cy="310896"/>
          </a:xfrm>
          <a:prstGeom prst="rect">
            <a:avLst/>
          </a:prstGeom>
        </p:spPr>
      </p:pic>
      <p:sp>
        <p:nvSpPr>
          <p:cNvPr id="10" name="Text 5"/>
          <p:cNvSpPr/>
          <p:nvPr/>
        </p:nvSpPr>
        <p:spPr>
          <a:xfrm>
            <a:off x="5120640" y="2788920"/>
            <a:ext cx="3657600" cy="868680"/>
          </a:xfrm>
          <a:prstGeom prst="rect">
            <a:avLst/>
          </a:prstGeom>
          <a:noFill/>
          <a:ln/>
        </p:spPr>
        <p:txBody>
          <a:bodyPr wrap="square" lIns="0" tIns="0" rIns="0" bIns="0" rtlCol="0" anchor="ctr"/>
          <a:lstStyle/>
          <a:p>
            <a:pPr indent="0" marL="0">
              <a:buNone/>
            </a:pPr>
            <a:r>
              <a:rPr lang="en-US" sz="1200" b="1" dirty="0">
                <a:solidFill>
                  <a:srgbClr val="1A1A1A"/>
                </a:solidFill>
                <a:latin typeface="Montserrat Medium" pitchFamily="34" charset="0"/>
                <a:ea typeface="Montserrat Medium" pitchFamily="34" charset="-122"/>
                <a:cs typeface="Montserrat Medium" pitchFamily="34" charset="-120"/>
              </a:rPr>
              <a:t>Staff and train it. </a:t>
            </a:r>
            <a:pPr indent="0" marL="0">
              <a:buNone/>
            </a:pPr>
            <a:r>
              <a:rPr lang="en-US" sz="1200" dirty="0">
                <a:solidFill>
                  <a:srgbClr val="595959"/>
                </a:solidFill>
                <a:latin typeface="Montserrat Medium" pitchFamily="34" charset="0"/>
                <a:ea typeface="Montserrat Medium" pitchFamily="34" charset="-122"/>
                <a:cs typeface="Montserrat Medium" pitchFamily="34" charset="-120"/>
              </a:rPr>
              <a:t>Green Team meeting quarterly; housekeeping routines trained</a:t>
            </a:r>
            <a:endParaRPr lang="en-US" sz="1200" dirty="0"/>
          </a:p>
        </p:txBody>
      </p:sp>
      <p:pic>
        <p:nvPicPr>
          <p:cNvPr id="11" name="Image 2" descr="preencoded.png">    </p:cNvPr>
          <p:cNvPicPr>
            <a:picLocks noChangeAspect="1"/>
          </p:cNvPicPr>
          <p:nvPr/>
        </p:nvPicPr>
        <p:blipFill>
          <a:blip r:embed="rId4"/>
          <a:stretch>
            <a:fillRect/>
          </a:stretch>
        </p:blipFill>
        <p:spPr>
          <a:xfrm>
            <a:off x="4663440" y="3794760"/>
            <a:ext cx="310896" cy="310896"/>
          </a:xfrm>
          <a:prstGeom prst="rect">
            <a:avLst/>
          </a:prstGeom>
        </p:spPr>
      </p:pic>
      <p:sp>
        <p:nvSpPr>
          <p:cNvPr id="12" name="Text 6"/>
          <p:cNvSpPr/>
          <p:nvPr/>
        </p:nvSpPr>
        <p:spPr>
          <a:xfrm>
            <a:off x="5120640" y="3703320"/>
            <a:ext cx="3657600" cy="868680"/>
          </a:xfrm>
          <a:prstGeom prst="rect">
            <a:avLst/>
          </a:prstGeom>
          <a:noFill/>
          <a:ln/>
        </p:spPr>
        <p:txBody>
          <a:bodyPr wrap="square" lIns="0" tIns="0" rIns="0" bIns="0" rtlCol="0" anchor="ctr"/>
          <a:lstStyle/>
          <a:p>
            <a:pPr indent="0" marL="0">
              <a:buNone/>
            </a:pPr>
            <a:r>
              <a:rPr lang="en-US" sz="1200" b="1" dirty="0">
                <a:solidFill>
                  <a:srgbClr val="1A1A1A"/>
                </a:solidFill>
                <a:latin typeface="Montserrat Medium" pitchFamily="34" charset="0"/>
                <a:ea typeface="Montserrat Medium" pitchFamily="34" charset="-122"/>
                <a:cs typeface="Montserrat Medium" pitchFamily="34" charset="-120"/>
              </a:rPr>
              <a:t>Measure it. </a:t>
            </a:r>
            <a:pPr indent="0" marL="0">
              <a:buNone/>
            </a:pPr>
            <a:r>
              <a:rPr lang="en-US" sz="1200" dirty="0">
                <a:solidFill>
                  <a:srgbClr val="595959"/>
                </a:solidFill>
                <a:latin typeface="Montserrat Medium" pitchFamily="34" charset="0"/>
                <a:ea typeface="Montserrat Medium" pitchFamily="34" charset="-122"/>
                <a:cs typeface="Montserrat Medium" pitchFamily="34" charset="-120"/>
              </a:rPr>
              <a:t>12 months of utility data; written preventative maintenance</a:t>
            </a:r>
            <a:endParaRPr lang="en-US" sz="1200" dirty="0"/>
          </a:p>
        </p:txBody>
      </p:sp>
      <p:pic>
        <p:nvPicPr>
          <p:cNvPr id="13" name="Image 3" descr="preencoded.png">    </p:cNvPr>
          <p:cNvPicPr>
            <a:picLocks noChangeAspect="1"/>
          </p:cNvPicPr>
          <p:nvPr/>
        </p:nvPicPr>
        <p:blipFill>
          <a:blip r:embed="rId5"/>
          <a:stretch>
            <a:fillRect/>
          </a:stretch>
        </p:blipFill>
        <p:spPr>
          <a:xfrm>
            <a:off x="4663440" y="4709160"/>
            <a:ext cx="310896" cy="310896"/>
          </a:xfrm>
          <a:prstGeom prst="rect">
            <a:avLst/>
          </a:prstGeom>
        </p:spPr>
      </p:pic>
      <p:sp>
        <p:nvSpPr>
          <p:cNvPr id="14" name="Text 7"/>
          <p:cNvSpPr/>
          <p:nvPr/>
        </p:nvSpPr>
        <p:spPr>
          <a:xfrm>
            <a:off x="5120640" y="4617720"/>
            <a:ext cx="3657600" cy="868680"/>
          </a:xfrm>
          <a:prstGeom prst="rect">
            <a:avLst/>
          </a:prstGeom>
          <a:noFill/>
          <a:ln/>
        </p:spPr>
        <p:txBody>
          <a:bodyPr wrap="square" lIns="0" tIns="0" rIns="0" bIns="0" rtlCol="0" anchor="ctr"/>
          <a:lstStyle/>
          <a:p>
            <a:pPr indent="0" marL="0">
              <a:buNone/>
            </a:pPr>
            <a:r>
              <a:rPr lang="en-US" sz="1200" b="1" dirty="0">
                <a:solidFill>
                  <a:srgbClr val="1A1A1A"/>
                </a:solidFill>
                <a:latin typeface="Montserrat Medium" pitchFamily="34" charset="0"/>
                <a:ea typeface="Montserrat Medium" pitchFamily="34" charset="-122"/>
                <a:cs typeface="Montserrat Medium" pitchFamily="34" charset="-120"/>
              </a:rPr>
              <a:t>Prove it. </a:t>
            </a:r>
            <a:pPr indent="0" marL="0">
              <a:buNone/>
            </a:pPr>
            <a:r>
              <a:rPr lang="en-US" sz="1200" dirty="0">
                <a:solidFill>
                  <a:srgbClr val="595959"/>
                </a:solidFill>
                <a:latin typeface="Montserrat Medium" pitchFamily="34" charset="0"/>
                <a:ea typeface="Montserrat Medium" pitchFamily="34" charset="-122"/>
                <a:cs typeface="Montserrat Medium" pitchFamily="34" charset="-120"/>
              </a:rPr>
              <a:t>Evidence uploaded for every mandatory answer; templates provided</a:t>
            </a:r>
            <a:endParaRPr lang="en-US" sz="1200" dirty="0"/>
          </a:p>
        </p:txBody>
      </p:sp>
      <p:sp>
        <p:nvSpPr>
          <p:cNvPr id="15" name="Shape 8"/>
          <p:cNvSpPr/>
          <p:nvPr/>
        </p:nvSpPr>
        <p:spPr>
          <a:xfrm>
            <a:off x="9006840" y="1874520"/>
            <a:ext cx="2606040" cy="1691640"/>
          </a:xfrm>
          <a:prstGeom prst="roundRect">
            <a:avLst>
              <a:gd name="adj" fmla="val 4865"/>
            </a:avLst>
          </a:prstGeom>
          <a:solidFill>
            <a:srgbClr val="196B24"/>
          </a:solidFill>
          <a:ln/>
        </p:spPr>
      </p:sp>
      <p:sp>
        <p:nvSpPr>
          <p:cNvPr id="16" name="Text 9"/>
          <p:cNvSpPr/>
          <p:nvPr/>
        </p:nvSpPr>
        <p:spPr>
          <a:xfrm>
            <a:off x="9006840" y="2039112"/>
            <a:ext cx="2606040" cy="640080"/>
          </a:xfrm>
          <a:prstGeom prst="rect">
            <a:avLst/>
          </a:prstGeom>
          <a:noFill/>
          <a:ln/>
        </p:spPr>
        <p:txBody>
          <a:bodyPr wrap="square" lIns="0" tIns="0" rIns="0" bIns="0" rtlCol="0" anchor="ctr"/>
          <a:lstStyle/>
          <a:p>
            <a:pPr algn="ctr" indent="0" marL="0">
              <a:buNone/>
            </a:pPr>
            <a:r>
              <a:rPr lang="en-US" sz="2500" b="1" dirty="0">
                <a:solidFill>
                  <a:srgbClr val="FFFFFF"/>
                </a:solidFill>
                <a:latin typeface="Montserrat" pitchFamily="34" charset="0"/>
                <a:ea typeface="Montserrat" pitchFamily="34" charset="-122"/>
                <a:cs typeface="Montserrat" pitchFamily="34" charset="-120"/>
              </a:rPr>
              <a:t>~11 days</a:t>
            </a:r>
            <a:endParaRPr lang="en-US" sz="2500" dirty="0"/>
          </a:p>
        </p:txBody>
      </p:sp>
      <p:sp>
        <p:nvSpPr>
          <p:cNvPr id="17" name="Text 10"/>
          <p:cNvSpPr/>
          <p:nvPr/>
        </p:nvSpPr>
        <p:spPr>
          <a:xfrm>
            <a:off x="9171432" y="2724912"/>
            <a:ext cx="228600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Montserrat Medium" pitchFamily="34" charset="0"/>
                <a:ea typeface="Montserrat Medium" pitchFamily="34" charset="-122"/>
                <a:cs typeface="Montserrat Medium" pitchFamily="34" charset="-120"/>
              </a:rPr>
              <a:t>average completion, down from ~80</a:t>
            </a:r>
            <a:endParaRPr lang="en-US" sz="1100" dirty="0"/>
          </a:p>
        </p:txBody>
      </p:sp>
      <p:sp>
        <p:nvSpPr>
          <p:cNvPr id="18" name="Shape 11"/>
          <p:cNvSpPr/>
          <p:nvPr/>
        </p:nvSpPr>
        <p:spPr>
          <a:xfrm>
            <a:off x="9006840" y="3840480"/>
            <a:ext cx="2606040" cy="1691640"/>
          </a:xfrm>
          <a:prstGeom prst="roundRect">
            <a:avLst>
              <a:gd name="adj" fmla="val 4865"/>
            </a:avLst>
          </a:prstGeom>
          <a:solidFill>
            <a:srgbClr val="F2F8EC"/>
          </a:solidFill>
          <a:ln/>
        </p:spPr>
      </p:sp>
      <p:sp>
        <p:nvSpPr>
          <p:cNvPr id="19" name="Text 12"/>
          <p:cNvSpPr/>
          <p:nvPr/>
        </p:nvSpPr>
        <p:spPr>
          <a:xfrm>
            <a:off x="9006840" y="4005072"/>
            <a:ext cx="2606040" cy="640080"/>
          </a:xfrm>
          <a:prstGeom prst="rect">
            <a:avLst/>
          </a:prstGeom>
          <a:noFill/>
          <a:ln/>
        </p:spPr>
        <p:txBody>
          <a:bodyPr wrap="square" lIns="0" tIns="0" rIns="0" bIns="0" rtlCol="0" anchor="ctr"/>
          <a:lstStyle/>
          <a:p>
            <a:pPr algn="ctr" indent="0" marL="0">
              <a:buNone/>
            </a:pPr>
            <a:r>
              <a:rPr lang="en-US" sz="2500" b="1" dirty="0">
                <a:solidFill>
                  <a:srgbClr val="196B24"/>
                </a:solidFill>
                <a:latin typeface="Montserrat" pitchFamily="34" charset="0"/>
                <a:ea typeface="Montserrat" pitchFamily="34" charset="-122"/>
                <a:cs typeface="Montserrat" pitchFamily="34" charset="-120"/>
              </a:rPr>
              <a:t>4-6 hrs</a:t>
            </a:r>
            <a:endParaRPr lang="en-US" sz="2500" dirty="0"/>
          </a:p>
        </p:txBody>
      </p:sp>
      <p:sp>
        <p:nvSpPr>
          <p:cNvPr id="20" name="Text 13"/>
          <p:cNvSpPr/>
          <p:nvPr/>
        </p:nvSpPr>
        <p:spPr>
          <a:xfrm>
            <a:off x="9171432" y="4690872"/>
            <a:ext cx="2286000" cy="640080"/>
          </a:xfrm>
          <a:prstGeom prst="rect">
            <a:avLst/>
          </a:prstGeom>
          <a:noFill/>
          <a:ln/>
        </p:spPr>
        <p:txBody>
          <a:bodyPr wrap="square" lIns="0" tIns="0" rIns="0" bIns="0" rtlCol="0" anchor="ctr"/>
          <a:lstStyle/>
          <a:p>
            <a:pPr algn="ctr" indent="0" marL="0">
              <a:buNone/>
            </a:pPr>
            <a:r>
              <a:rPr lang="en-US" sz="1100" dirty="0">
                <a:solidFill>
                  <a:srgbClr val="222222"/>
                </a:solidFill>
                <a:latin typeface="Montserrat Medium" pitchFamily="34" charset="0"/>
                <a:ea typeface="Montserrat Medium" pitchFamily="34" charset="-122"/>
                <a:cs typeface="Montserrat Medium" pitchFamily="34" charset="-120"/>
              </a:rPr>
              <a:t>of focused work for the Core assessment</a:t>
            </a:r>
            <a:endParaRPr lang="en-US" sz="1100" dirty="0"/>
          </a:p>
        </p:txBody>
      </p:sp>
      <p:sp>
        <p:nvSpPr>
          <p:cNvPr id="21" name="Text 14"/>
          <p:cNvSpPr/>
          <p:nvPr/>
        </p:nvSpPr>
        <p:spPr>
          <a:xfrm>
            <a:off x="960120" y="6419088"/>
            <a:ext cx="10607040" cy="310896"/>
          </a:xfrm>
          <a:prstGeom prst="rect">
            <a:avLst/>
          </a:prstGeom>
          <a:noFill/>
          <a:ln/>
        </p:spPr>
        <p:txBody>
          <a:bodyPr wrap="square" lIns="0" tIns="0" rIns="0" bIns="0" rtlCol="0" anchor="ctr"/>
          <a:lstStyle/>
          <a:p>
            <a:pPr indent="0" marL="0">
              <a:buNone/>
            </a:pPr>
            <a:r>
              <a:rPr lang="en-US" sz="950" i="1" dirty="0">
                <a:solidFill>
                  <a:srgbClr val="595959"/>
                </a:solidFill>
                <a:latin typeface="Montserrat Medium" pitchFamily="34" charset="0"/>
                <a:ea typeface="Montserrat Medium" pitchFamily="34" charset="-122"/>
                <a:cs typeface="Montserrat Medium" pitchFamily="34" charset="-120"/>
              </a:rPr>
              <a:t>Source: Green Key Global Eco-Rating program data, 2026. A "Display Core Criteria Only" filter isolates the 37 questions in the assessment portal.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HOW IT WORKS</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Self-paced up front, rigorous at the back</a:t>
            </a:r>
            <a:endParaRPr lang="en-US" sz="1700" dirty="0"/>
          </a:p>
        </p:txBody>
      </p:sp>
      <p:sp>
        <p:nvSpPr>
          <p:cNvPr id="4" name="Shape 2"/>
          <p:cNvSpPr/>
          <p:nvPr/>
        </p:nvSpPr>
        <p:spPr>
          <a:xfrm>
            <a:off x="640080" y="1965960"/>
            <a:ext cx="2057400" cy="2606040"/>
          </a:xfrm>
          <a:prstGeom prst="roundRect">
            <a:avLst>
              <a:gd name="adj" fmla="val 4000"/>
            </a:avLst>
          </a:prstGeom>
          <a:solidFill>
            <a:srgbClr val="F2F8EC"/>
          </a:solidFill>
          <a:ln/>
        </p:spPr>
      </p:sp>
      <p:sp>
        <p:nvSpPr>
          <p:cNvPr id="5" name="Shape 3"/>
          <p:cNvSpPr/>
          <p:nvPr/>
        </p:nvSpPr>
        <p:spPr>
          <a:xfrm>
            <a:off x="1394460" y="2167128"/>
            <a:ext cx="548640" cy="548640"/>
          </a:xfrm>
          <a:prstGeom prst="ellipse">
            <a:avLst/>
          </a:prstGeom>
          <a:solidFill>
            <a:srgbClr val="92D050"/>
          </a:solidFill>
          <a:ln/>
        </p:spPr>
      </p:sp>
      <p:sp>
        <p:nvSpPr>
          <p:cNvPr id="6" name="Text 4"/>
          <p:cNvSpPr/>
          <p:nvPr/>
        </p:nvSpPr>
        <p:spPr>
          <a:xfrm>
            <a:off x="1394460" y="216712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1</a:t>
            </a:r>
            <a:endParaRPr lang="en-US" sz="1900" dirty="0"/>
          </a:p>
        </p:txBody>
      </p:sp>
      <p:sp>
        <p:nvSpPr>
          <p:cNvPr id="7" name="Text 5"/>
          <p:cNvSpPr/>
          <p:nvPr/>
        </p:nvSpPr>
        <p:spPr>
          <a:xfrm>
            <a:off x="694944" y="2834640"/>
            <a:ext cx="1947672" cy="384048"/>
          </a:xfrm>
          <a:prstGeom prst="rect">
            <a:avLst/>
          </a:prstGeom>
          <a:noFill/>
          <a:ln/>
        </p:spPr>
        <p:txBody>
          <a:bodyPr wrap="square" lIns="0" tIns="0" rIns="0" bIns="0" rtlCol="0" anchor="ctr"/>
          <a:lstStyle/>
          <a:p>
            <a:pPr algn="ctr" indent="0" marL="0">
              <a:buNone/>
            </a:pPr>
            <a:r>
              <a:rPr lang="en-US" sz="1400" b="1" dirty="0">
                <a:solidFill>
                  <a:srgbClr val="1A1A1A"/>
                </a:solidFill>
                <a:latin typeface="Montserrat Medium" pitchFamily="34" charset="0"/>
                <a:ea typeface="Montserrat Medium" pitchFamily="34" charset="-122"/>
                <a:cs typeface="Montserrat Medium" pitchFamily="34" charset="-120"/>
              </a:rPr>
              <a:t>Assess</a:t>
            </a:r>
            <a:endParaRPr lang="en-US" sz="1400" dirty="0"/>
          </a:p>
        </p:txBody>
      </p:sp>
      <p:sp>
        <p:nvSpPr>
          <p:cNvPr id="8" name="Text 6"/>
          <p:cNvSpPr/>
          <p:nvPr/>
        </p:nvSpPr>
        <p:spPr>
          <a:xfrm>
            <a:off x="768096" y="3246120"/>
            <a:ext cx="1801368" cy="118872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Online self-assessment, multiple users, save as you go</a:t>
            </a:r>
            <a:endParaRPr lang="en-US" sz="1000" dirty="0"/>
          </a:p>
        </p:txBody>
      </p:sp>
      <p:sp>
        <p:nvSpPr>
          <p:cNvPr id="9" name="Text 7"/>
          <p:cNvSpPr/>
          <p:nvPr/>
        </p:nvSpPr>
        <p:spPr>
          <a:xfrm>
            <a:off x="2688336" y="3017520"/>
            <a:ext cx="173736" cy="457200"/>
          </a:xfrm>
          <a:prstGeom prst="rect">
            <a:avLst/>
          </a:prstGeom>
          <a:noFill/>
          <a:ln/>
        </p:spPr>
        <p:txBody>
          <a:bodyPr wrap="square" lIns="0" tIns="0" rIns="0" bIns="0" rtlCol="0" anchor="ctr"/>
          <a:lstStyle/>
          <a:p>
            <a:pPr algn="ctr" indent="0" marL="0">
              <a:buNone/>
            </a:pPr>
            <a:r>
              <a:rPr lang="en-US" sz="1500" b="1" dirty="0">
                <a:solidFill>
                  <a:srgbClr val="92D050"/>
                </a:solidFill>
                <a:latin typeface="Montserrat Medium" pitchFamily="34" charset="0"/>
                <a:ea typeface="Montserrat Medium" pitchFamily="34" charset="-122"/>
                <a:cs typeface="Montserrat Medium" pitchFamily="34" charset="-120"/>
              </a:rPr>
              <a:t>→</a:t>
            </a:r>
            <a:endParaRPr lang="en-US" sz="1500" dirty="0"/>
          </a:p>
        </p:txBody>
      </p:sp>
      <p:sp>
        <p:nvSpPr>
          <p:cNvPr id="10" name="Shape 8"/>
          <p:cNvSpPr/>
          <p:nvPr/>
        </p:nvSpPr>
        <p:spPr>
          <a:xfrm>
            <a:off x="2852928" y="1965960"/>
            <a:ext cx="2057400" cy="2606040"/>
          </a:xfrm>
          <a:prstGeom prst="roundRect">
            <a:avLst>
              <a:gd name="adj" fmla="val 4000"/>
            </a:avLst>
          </a:prstGeom>
          <a:solidFill>
            <a:srgbClr val="F2F8EC"/>
          </a:solidFill>
          <a:ln/>
        </p:spPr>
      </p:sp>
      <p:sp>
        <p:nvSpPr>
          <p:cNvPr id="11" name="Shape 9"/>
          <p:cNvSpPr/>
          <p:nvPr/>
        </p:nvSpPr>
        <p:spPr>
          <a:xfrm>
            <a:off x="3607308" y="2167128"/>
            <a:ext cx="548640" cy="548640"/>
          </a:xfrm>
          <a:prstGeom prst="ellipse">
            <a:avLst/>
          </a:prstGeom>
          <a:solidFill>
            <a:srgbClr val="92D050"/>
          </a:solidFill>
          <a:ln/>
        </p:spPr>
      </p:sp>
      <p:sp>
        <p:nvSpPr>
          <p:cNvPr id="12" name="Text 10"/>
          <p:cNvSpPr/>
          <p:nvPr/>
        </p:nvSpPr>
        <p:spPr>
          <a:xfrm>
            <a:off x="3607308" y="216712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2</a:t>
            </a:r>
            <a:endParaRPr lang="en-US" sz="1900" dirty="0"/>
          </a:p>
        </p:txBody>
      </p:sp>
      <p:sp>
        <p:nvSpPr>
          <p:cNvPr id="13" name="Text 11"/>
          <p:cNvSpPr/>
          <p:nvPr/>
        </p:nvSpPr>
        <p:spPr>
          <a:xfrm>
            <a:off x="2907792" y="2834640"/>
            <a:ext cx="1947672" cy="384048"/>
          </a:xfrm>
          <a:prstGeom prst="rect">
            <a:avLst/>
          </a:prstGeom>
          <a:noFill/>
          <a:ln/>
        </p:spPr>
        <p:txBody>
          <a:bodyPr wrap="square" lIns="0" tIns="0" rIns="0" bIns="0" rtlCol="0" anchor="ctr"/>
          <a:lstStyle/>
          <a:p>
            <a:pPr algn="ctr" indent="0" marL="0">
              <a:buNone/>
            </a:pPr>
            <a:r>
              <a:rPr lang="en-US" sz="1400" b="1" dirty="0">
                <a:solidFill>
                  <a:srgbClr val="1A1A1A"/>
                </a:solidFill>
                <a:latin typeface="Montserrat Medium" pitchFamily="34" charset="0"/>
                <a:ea typeface="Montserrat Medium" pitchFamily="34" charset="-122"/>
                <a:cs typeface="Montserrat Medium" pitchFamily="34" charset="-120"/>
              </a:rPr>
              <a:t>Evaluate</a:t>
            </a:r>
            <a:endParaRPr lang="en-US" sz="1400" dirty="0"/>
          </a:p>
        </p:txBody>
      </p:sp>
      <p:sp>
        <p:nvSpPr>
          <p:cNvPr id="14" name="Text 12"/>
          <p:cNvSpPr/>
          <p:nvPr/>
        </p:nvSpPr>
        <p:spPr>
          <a:xfrm>
            <a:off x="2980944" y="3246120"/>
            <a:ext cx="1801368" cy="118872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Preliminary rating and gap scorecard; retake freely</a:t>
            </a:r>
            <a:endParaRPr lang="en-US" sz="1000" dirty="0"/>
          </a:p>
        </p:txBody>
      </p:sp>
      <p:sp>
        <p:nvSpPr>
          <p:cNvPr id="15" name="Text 13"/>
          <p:cNvSpPr/>
          <p:nvPr/>
        </p:nvSpPr>
        <p:spPr>
          <a:xfrm>
            <a:off x="4901184" y="3017520"/>
            <a:ext cx="173736" cy="457200"/>
          </a:xfrm>
          <a:prstGeom prst="rect">
            <a:avLst/>
          </a:prstGeom>
          <a:noFill/>
          <a:ln/>
        </p:spPr>
        <p:txBody>
          <a:bodyPr wrap="square" lIns="0" tIns="0" rIns="0" bIns="0" rtlCol="0" anchor="ctr"/>
          <a:lstStyle/>
          <a:p>
            <a:pPr algn="ctr" indent="0" marL="0">
              <a:buNone/>
            </a:pPr>
            <a:r>
              <a:rPr lang="en-US" sz="1500" b="1" dirty="0">
                <a:solidFill>
                  <a:srgbClr val="92D050"/>
                </a:solidFill>
                <a:latin typeface="Montserrat Medium" pitchFamily="34" charset="0"/>
                <a:ea typeface="Montserrat Medium" pitchFamily="34" charset="-122"/>
                <a:cs typeface="Montserrat Medium" pitchFamily="34" charset="-120"/>
              </a:rPr>
              <a:t>→</a:t>
            </a:r>
            <a:endParaRPr lang="en-US" sz="1500" dirty="0"/>
          </a:p>
        </p:txBody>
      </p:sp>
      <p:sp>
        <p:nvSpPr>
          <p:cNvPr id="16" name="Shape 14"/>
          <p:cNvSpPr/>
          <p:nvPr/>
        </p:nvSpPr>
        <p:spPr>
          <a:xfrm>
            <a:off x="5065776" y="1965960"/>
            <a:ext cx="2057400" cy="2606040"/>
          </a:xfrm>
          <a:prstGeom prst="roundRect">
            <a:avLst>
              <a:gd name="adj" fmla="val 4000"/>
            </a:avLst>
          </a:prstGeom>
          <a:solidFill>
            <a:srgbClr val="196B24"/>
          </a:solidFill>
          <a:ln/>
        </p:spPr>
      </p:sp>
      <p:sp>
        <p:nvSpPr>
          <p:cNvPr id="17" name="Shape 15"/>
          <p:cNvSpPr/>
          <p:nvPr/>
        </p:nvSpPr>
        <p:spPr>
          <a:xfrm>
            <a:off x="5820156" y="2167128"/>
            <a:ext cx="548640" cy="548640"/>
          </a:xfrm>
          <a:prstGeom prst="ellipse">
            <a:avLst/>
          </a:prstGeom>
          <a:solidFill>
            <a:srgbClr val="FFFFFF"/>
          </a:solidFill>
          <a:ln/>
        </p:spPr>
      </p:sp>
      <p:sp>
        <p:nvSpPr>
          <p:cNvPr id="18" name="Text 16"/>
          <p:cNvSpPr/>
          <p:nvPr/>
        </p:nvSpPr>
        <p:spPr>
          <a:xfrm>
            <a:off x="5820156" y="2167128"/>
            <a:ext cx="548640" cy="548640"/>
          </a:xfrm>
          <a:prstGeom prst="rect">
            <a:avLst/>
          </a:prstGeom>
          <a:noFill/>
          <a:ln/>
        </p:spPr>
        <p:txBody>
          <a:bodyPr wrap="square" lIns="0" tIns="0" rIns="0" bIns="0" rtlCol="0" anchor="ctr"/>
          <a:lstStyle/>
          <a:p>
            <a:pPr algn="ctr" indent="0" marL="0">
              <a:buNone/>
            </a:pPr>
            <a:r>
              <a:rPr lang="en-US" sz="1900" b="1" dirty="0">
                <a:solidFill>
                  <a:srgbClr val="196B24"/>
                </a:solidFill>
                <a:latin typeface="Montserrat" pitchFamily="34" charset="0"/>
                <a:ea typeface="Montserrat" pitchFamily="34" charset="-122"/>
                <a:cs typeface="Montserrat" pitchFamily="34" charset="-120"/>
              </a:rPr>
              <a:t>3</a:t>
            </a:r>
            <a:endParaRPr lang="en-US" sz="1900" dirty="0"/>
          </a:p>
        </p:txBody>
      </p:sp>
      <p:sp>
        <p:nvSpPr>
          <p:cNvPr id="19" name="Text 17"/>
          <p:cNvSpPr/>
          <p:nvPr/>
        </p:nvSpPr>
        <p:spPr>
          <a:xfrm>
            <a:off x="5120640" y="2834640"/>
            <a:ext cx="1947672"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Medium" pitchFamily="34" charset="0"/>
                <a:ea typeface="Montserrat Medium" pitchFamily="34" charset="-122"/>
                <a:cs typeface="Montserrat Medium" pitchFamily="34" charset="-120"/>
              </a:rPr>
              <a:t>Audit</a:t>
            </a:r>
            <a:endParaRPr lang="en-US" sz="1400" dirty="0"/>
          </a:p>
        </p:txBody>
      </p:sp>
      <p:sp>
        <p:nvSpPr>
          <p:cNvPr id="20" name="Text 18"/>
          <p:cNvSpPr/>
          <p:nvPr/>
        </p:nvSpPr>
        <p:spPr>
          <a:xfrm>
            <a:off x="5193792" y="3246120"/>
            <a:ext cx="1801368" cy="1188720"/>
          </a:xfrm>
          <a:prstGeom prst="rect">
            <a:avLst/>
          </a:prstGeom>
          <a:noFill/>
          <a:ln/>
        </p:spPr>
        <p:txBody>
          <a:bodyPr wrap="square" lIns="0" tIns="0" rIns="0" bIns="0" rtlCol="0" anchor="ctr"/>
          <a:lstStyle/>
          <a:p>
            <a:pPr algn="ctr" indent="0" marL="0">
              <a:buNone/>
            </a:pPr>
            <a:r>
              <a:rPr lang="en-US" sz="1000" dirty="0">
                <a:solidFill>
                  <a:srgbClr val="FFFFFF"/>
                </a:solidFill>
                <a:latin typeface="Montserrat Medium" pitchFamily="34" charset="0"/>
                <a:ea typeface="Montserrat Medium" pitchFamily="34" charset="-122"/>
                <a:cs typeface="Montserrat Medium" pitchFamily="34" charset="-120"/>
              </a:rPr>
              <a:t>Independent verification by Control Union</a:t>
            </a:r>
            <a:endParaRPr lang="en-US" sz="1000" dirty="0"/>
          </a:p>
        </p:txBody>
      </p:sp>
      <p:sp>
        <p:nvSpPr>
          <p:cNvPr id="21" name="Text 19"/>
          <p:cNvSpPr/>
          <p:nvPr/>
        </p:nvSpPr>
        <p:spPr>
          <a:xfrm>
            <a:off x="7114032" y="3017520"/>
            <a:ext cx="173736" cy="457200"/>
          </a:xfrm>
          <a:prstGeom prst="rect">
            <a:avLst/>
          </a:prstGeom>
          <a:noFill/>
          <a:ln/>
        </p:spPr>
        <p:txBody>
          <a:bodyPr wrap="square" lIns="0" tIns="0" rIns="0" bIns="0" rtlCol="0" anchor="ctr"/>
          <a:lstStyle/>
          <a:p>
            <a:pPr algn="ctr" indent="0" marL="0">
              <a:buNone/>
            </a:pPr>
            <a:r>
              <a:rPr lang="en-US" sz="1500" b="1" dirty="0">
                <a:solidFill>
                  <a:srgbClr val="92D050"/>
                </a:solidFill>
                <a:latin typeface="Montserrat Medium" pitchFamily="34" charset="0"/>
                <a:ea typeface="Montserrat Medium" pitchFamily="34" charset="-122"/>
                <a:cs typeface="Montserrat Medium" pitchFamily="34" charset="-120"/>
              </a:rPr>
              <a:t>→</a:t>
            </a:r>
            <a:endParaRPr lang="en-US" sz="1500" dirty="0"/>
          </a:p>
        </p:txBody>
      </p:sp>
      <p:sp>
        <p:nvSpPr>
          <p:cNvPr id="22" name="Shape 20"/>
          <p:cNvSpPr/>
          <p:nvPr/>
        </p:nvSpPr>
        <p:spPr>
          <a:xfrm>
            <a:off x="7278624" y="1965960"/>
            <a:ext cx="2057400" cy="2606040"/>
          </a:xfrm>
          <a:prstGeom prst="roundRect">
            <a:avLst>
              <a:gd name="adj" fmla="val 4000"/>
            </a:avLst>
          </a:prstGeom>
          <a:solidFill>
            <a:srgbClr val="F2F8EC"/>
          </a:solidFill>
          <a:ln/>
        </p:spPr>
      </p:sp>
      <p:sp>
        <p:nvSpPr>
          <p:cNvPr id="23" name="Shape 21"/>
          <p:cNvSpPr/>
          <p:nvPr/>
        </p:nvSpPr>
        <p:spPr>
          <a:xfrm>
            <a:off x="8033004" y="2167128"/>
            <a:ext cx="548640" cy="548640"/>
          </a:xfrm>
          <a:prstGeom prst="ellipse">
            <a:avLst/>
          </a:prstGeom>
          <a:solidFill>
            <a:srgbClr val="92D050"/>
          </a:solidFill>
          <a:ln/>
        </p:spPr>
      </p:sp>
      <p:sp>
        <p:nvSpPr>
          <p:cNvPr id="24" name="Text 22"/>
          <p:cNvSpPr/>
          <p:nvPr/>
        </p:nvSpPr>
        <p:spPr>
          <a:xfrm>
            <a:off x="8033004" y="216712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4</a:t>
            </a:r>
            <a:endParaRPr lang="en-US" sz="1900" dirty="0"/>
          </a:p>
        </p:txBody>
      </p:sp>
      <p:sp>
        <p:nvSpPr>
          <p:cNvPr id="25" name="Text 23"/>
          <p:cNvSpPr/>
          <p:nvPr/>
        </p:nvSpPr>
        <p:spPr>
          <a:xfrm>
            <a:off x="7333488" y="2834640"/>
            <a:ext cx="1947672" cy="384048"/>
          </a:xfrm>
          <a:prstGeom prst="rect">
            <a:avLst/>
          </a:prstGeom>
          <a:noFill/>
          <a:ln/>
        </p:spPr>
        <p:txBody>
          <a:bodyPr wrap="square" lIns="0" tIns="0" rIns="0" bIns="0" rtlCol="0" anchor="ctr"/>
          <a:lstStyle/>
          <a:p>
            <a:pPr algn="ctr" indent="0" marL="0">
              <a:buNone/>
            </a:pPr>
            <a:r>
              <a:rPr lang="en-US" sz="1400" b="1" dirty="0">
                <a:solidFill>
                  <a:srgbClr val="1A1A1A"/>
                </a:solidFill>
                <a:latin typeface="Montserrat Medium" pitchFamily="34" charset="0"/>
                <a:ea typeface="Montserrat Medium" pitchFamily="34" charset="-122"/>
                <a:cs typeface="Montserrat Medium" pitchFamily="34" charset="-120"/>
              </a:rPr>
              <a:t>Certify</a:t>
            </a:r>
            <a:endParaRPr lang="en-US" sz="1400" dirty="0"/>
          </a:p>
        </p:txBody>
      </p:sp>
      <p:sp>
        <p:nvSpPr>
          <p:cNvPr id="26" name="Text 24"/>
          <p:cNvSpPr/>
          <p:nvPr/>
        </p:nvSpPr>
        <p:spPr>
          <a:xfrm>
            <a:off x="7406640" y="3246120"/>
            <a:ext cx="1801368" cy="118872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1 to 5 Keys, valid three years, performance report</a:t>
            </a:r>
            <a:endParaRPr lang="en-US" sz="1000" dirty="0"/>
          </a:p>
        </p:txBody>
      </p:sp>
      <p:sp>
        <p:nvSpPr>
          <p:cNvPr id="27" name="Text 25"/>
          <p:cNvSpPr/>
          <p:nvPr/>
        </p:nvSpPr>
        <p:spPr>
          <a:xfrm>
            <a:off x="9326880" y="3017520"/>
            <a:ext cx="173736" cy="457200"/>
          </a:xfrm>
          <a:prstGeom prst="rect">
            <a:avLst/>
          </a:prstGeom>
          <a:noFill/>
          <a:ln/>
        </p:spPr>
        <p:txBody>
          <a:bodyPr wrap="square" lIns="0" tIns="0" rIns="0" bIns="0" rtlCol="0" anchor="ctr"/>
          <a:lstStyle/>
          <a:p>
            <a:pPr algn="ctr" indent="0" marL="0">
              <a:buNone/>
            </a:pPr>
            <a:r>
              <a:rPr lang="en-US" sz="1500" b="1" dirty="0">
                <a:solidFill>
                  <a:srgbClr val="92D050"/>
                </a:solidFill>
                <a:latin typeface="Montserrat Medium" pitchFamily="34" charset="0"/>
                <a:ea typeface="Montserrat Medium" pitchFamily="34" charset="-122"/>
                <a:cs typeface="Montserrat Medium" pitchFamily="34" charset="-120"/>
              </a:rPr>
              <a:t>→</a:t>
            </a:r>
            <a:endParaRPr lang="en-US" sz="1500" dirty="0"/>
          </a:p>
        </p:txBody>
      </p:sp>
      <p:sp>
        <p:nvSpPr>
          <p:cNvPr id="28" name="Shape 26"/>
          <p:cNvSpPr/>
          <p:nvPr/>
        </p:nvSpPr>
        <p:spPr>
          <a:xfrm>
            <a:off x="9491472" y="1965960"/>
            <a:ext cx="2057400" cy="2606040"/>
          </a:xfrm>
          <a:prstGeom prst="roundRect">
            <a:avLst>
              <a:gd name="adj" fmla="val 4000"/>
            </a:avLst>
          </a:prstGeom>
          <a:solidFill>
            <a:srgbClr val="F2F8EC"/>
          </a:solidFill>
          <a:ln/>
        </p:spPr>
      </p:sp>
      <p:sp>
        <p:nvSpPr>
          <p:cNvPr id="29" name="Shape 27"/>
          <p:cNvSpPr/>
          <p:nvPr/>
        </p:nvSpPr>
        <p:spPr>
          <a:xfrm>
            <a:off x="10245852" y="2167128"/>
            <a:ext cx="548640" cy="548640"/>
          </a:xfrm>
          <a:prstGeom prst="ellipse">
            <a:avLst/>
          </a:prstGeom>
          <a:solidFill>
            <a:srgbClr val="92D050"/>
          </a:solidFill>
          <a:ln/>
        </p:spPr>
      </p:sp>
      <p:sp>
        <p:nvSpPr>
          <p:cNvPr id="30" name="Text 28"/>
          <p:cNvSpPr/>
          <p:nvPr/>
        </p:nvSpPr>
        <p:spPr>
          <a:xfrm>
            <a:off x="10245852" y="216712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Montserrat" pitchFamily="34" charset="0"/>
                <a:ea typeface="Montserrat" pitchFamily="34" charset="-122"/>
                <a:cs typeface="Montserrat" pitchFamily="34" charset="-120"/>
              </a:rPr>
              <a:t>5</a:t>
            </a:r>
            <a:endParaRPr lang="en-US" sz="1900" dirty="0"/>
          </a:p>
        </p:txBody>
      </p:sp>
      <p:sp>
        <p:nvSpPr>
          <p:cNvPr id="31" name="Text 29"/>
          <p:cNvSpPr/>
          <p:nvPr/>
        </p:nvSpPr>
        <p:spPr>
          <a:xfrm>
            <a:off x="9546336" y="2834640"/>
            <a:ext cx="1947672" cy="384048"/>
          </a:xfrm>
          <a:prstGeom prst="rect">
            <a:avLst/>
          </a:prstGeom>
          <a:noFill/>
          <a:ln/>
        </p:spPr>
        <p:txBody>
          <a:bodyPr wrap="square" lIns="0" tIns="0" rIns="0" bIns="0" rtlCol="0" anchor="ctr"/>
          <a:lstStyle/>
          <a:p>
            <a:pPr algn="ctr" indent="0" marL="0">
              <a:buNone/>
            </a:pPr>
            <a:r>
              <a:rPr lang="en-US" sz="1400" b="1" dirty="0">
                <a:solidFill>
                  <a:srgbClr val="1A1A1A"/>
                </a:solidFill>
                <a:latin typeface="Montserrat Medium" pitchFamily="34" charset="0"/>
                <a:ea typeface="Montserrat Medium" pitchFamily="34" charset="-122"/>
                <a:cs typeface="Montserrat Medium" pitchFamily="34" charset="-120"/>
              </a:rPr>
              <a:t>Market</a:t>
            </a:r>
            <a:endParaRPr lang="en-US" sz="1400" dirty="0"/>
          </a:p>
        </p:txBody>
      </p:sp>
      <p:sp>
        <p:nvSpPr>
          <p:cNvPr id="32" name="Text 30"/>
          <p:cNvSpPr/>
          <p:nvPr/>
        </p:nvSpPr>
        <p:spPr>
          <a:xfrm>
            <a:off x="9619488" y="3246120"/>
            <a:ext cx="1801368" cy="1188720"/>
          </a:xfrm>
          <a:prstGeom prst="rect">
            <a:avLst/>
          </a:prstGeom>
          <a:noFill/>
          <a:ln/>
        </p:spPr>
        <p:txBody>
          <a:bodyPr wrap="square" lIns="0" tIns="0" rIns="0" bIns="0" rtlCol="0" anchor="ctr"/>
          <a:lstStyle/>
          <a:p>
            <a:pPr algn="ctr" indent="0" marL="0">
              <a:buNone/>
            </a:pPr>
            <a:r>
              <a:rPr lang="en-US" sz="1000" dirty="0">
                <a:solidFill>
                  <a:srgbClr val="595959"/>
                </a:solidFill>
                <a:latin typeface="Montserrat Medium" pitchFamily="34" charset="0"/>
                <a:ea typeface="Montserrat Medium" pitchFamily="34" charset="-122"/>
                <a:cs typeface="Montserrat Medium" pitchFamily="34" charset="-120"/>
              </a:rPr>
              <a:t>Toolkit, OTA badges, RFP content, plaque</a:t>
            </a:r>
            <a:endParaRPr lang="en-US" sz="1000" dirty="0"/>
          </a:p>
        </p:txBody>
      </p:sp>
      <p:sp>
        <p:nvSpPr>
          <p:cNvPr id="33" name="Text 31"/>
          <p:cNvSpPr/>
          <p:nvPr/>
        </p:nvSpPr>
        <p:spPr>
          <a:xfrm>
            <a:off x="640080" y="4983480"/>
            <a:ext cx="10908792" cy="1005840"/>
          </a:xfrm>
          <a:prstGeom prst="rect">
            <a:avLst/>
          </a:prstGeom>
          <a:noFill/>
          <a:ln/>
        </p:spPr>
        <p:txBody>
          <a:bodyPr wrap="square" lIns="0" tIns="0" rIns="0" bIns="0" rtlCol="0" anchor="ctr"/>
          <a:lstStyle/>
          <a:p>
            <a:pPr indent="0" marL="0">
              <a:buNone/>
            </a:pPr>
            <a:r>
              <a:rPr lang="en-US" sz="1300" b="1" dirty="0">
                <a:solidFill>
                  <a:srgbClr val="1A1A1A"/>
                </a:solidFill>
                <a:latin typeface="Montserrat Medium" pitchFamily="34" charset="0"/>
                <a:ea typeface="Montserrat Medium" pitchFamily="34" charset="-122"/>
                <a:cs typeface="Montserrat Medium" pitchFamily="34" charset="-120"/>
              </a:rPr>
              <a:t>Impartial by design. </a:t>
            </a:r>
            <a:pPr indent="0" marL="0">
              <a:buNone/>
            </a:pPr>
            <a:r>
              <a:rPr lang="en-US" sz="1300" dirty="0">
                <a:solidFill>
                  <a:srgbClr val="595959"/>
                </a:solidFill>
                <a:latin typeface="Montserrat Medium" pitchFamily="34" charset="0"/>
                <a:ea typeface="Montserrat Medium" pitchFamily="34" charset="-122"/>
                <a:cs typeface="Montserrat Medium" pitchFamily="34" charset="-120"/>
              </a:rPr>
              <a:t>We set the standard but never audit our own members. Audits are conducted by Control Union, an independent global inspection firm, and the certification decision rests with an independent Certification Body, per ISO/IEC 17065. Audits typically commence within ~90 days of request.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RATING</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One standard, five levels, room to grow for a decade</a:t>
            </a:r>
            <a:endParaRPr lang="en-US" sz="1700" dirty="0"/>
          </a:p>
        </p:txBody>
      </p:sp>
      <p:sp>
        <p:nvSpPr>
          <p:cNvPr id="4" name="Shape 2"/>
          <p:cNvSpPr/>
          <p:nvPr/>
        </p:nvSpPr>
        <p:spPr>
          <a:xfrm>
            <a:off x="640080" y="3977640"/>
            <a:ext cx="2057400" cy="1005840"/>
          </a:xfrm>
          <a:prstGeom prst="roundRect">
            <a:avLst>
              <a:gd name="adj" fmla="val 5455"/>
            </a:avLst>
          </a:prstGeom>
          <a:solidFill>
            <a:srgbClr val="D7EAC8"/>
          </a:solidFill>
          <a:ln/>
        </p:spPr>
      </p:sp>
      <p:sp>
        <p:nvSpPr>
          <p:cNvPr id="5" name="Text 3"/>
          <p:cNvSpPr/>
          <p:nvPr/>
        </p:nvSpPr>
        <p:spPr>
          <a:xfrm>
            <a:off x="640080" y="5074920"/>
            <a:ext cx="2057400"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1 Key</a:t>
            </a:r>
            <a:endParaRPr lang="en-US" sz="1450" dirty="0"/>
          </a:p>
        </p:txBody>
      </p:sp>
      <p:sp>
        <p:nvSpPr>
          <p:cNvPr id="6" name="Text 4"/>
          <p:cNvSpPr/>
          <p:nvPr/>
        </p:nvSpPr>
        <p:spPr>
          <a:xfrm>
            <a:off x="640080" y="5440680"/>
            <a:ext cx="2057400" cy="320040"/>
          </a:xfrm>
          <a:prstGeom prst="rect">
            <a:avLst/>
          </a:prstGeom>
          <a:noFill/>
          <a:ln/>
        </p:spPr>
        <p:txBody>
          <a:bodyPr wrap="square" lIns="0" tIns="0" rIns="0" bIns="0" rtlCol="0" anchor="ctr"/>
          <a:lstStyle/>
          <a:p>
            <a:pPr algn="ctr" indent="0" marL="0">
              <a:buNone/>
            </a:pPr>
            <a:r>
              <a:rPr lang="en-US" sz="1100" dirty="0">
                <a:solidFill>
                  <a:srgbClr val="595959"/>
                </a:solidFill>
                <a:latin typeface="Montserrat Medium" pitchFamily="34" charset="0"/>
                <a:ea typeface="Montserrat Medium" pitchFamily="34" charset="-122"/>
                <a:cs typeface="Montserrat Medium" pitchFamily="34" charset="-120"/>
              </a:rPr>
              <a:t>1-19%</a:t>
            </a:r>
            <a:endParaRPr lang="en-US" sz="1100" dirty="0"/>
          </a:p>
        </p:txBody>
      </p:sp>
      <p:sp>
        <p:nvSpPr>
          <p:cNvPr id="7" name="Shape 5"/>
          <p:cNvSpPr/>
          <p:nvPr/>
        </p:nvSpPr>
        <p:spPr>
          <a:xfrm>
            <a:off x="2852928" y="3410712"/>
            <a:ext cx="2057400" cy="1572768"/>
          </a:xfrm>
          <a:prstGeom prst="roundRect">
            <a:avLst>
              <a:gd name="adj" fmla="val 3488"/>
            </a:avLst>
          </a:prstGeom>
          <a:solidFill>
            <a:srgbClr val="92D050"/>
          </a:solidFill>
          <a:ln/>
        </p:spPr>
      </p:sp>
      <p:sp>
        <p:nvSpPr>
          <p:cNvPr id="8" name="Text 6"/>
          <p:cNvSpPr/>
          <p:nvPr/>
        </p:nvSpPr>
        <p:spPr>
          <a:xfrm>
            <a:off x="2852928" y="5074920"/>
            <a:ext cx="2057400"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2 Keys</a:t>
            </a:r>
            <a:endParaRPr lang="en-US" sz="1450" dirty="0"/>
          </a:p>
        </p:txBody>
      </p:sp>
      <p:sp>
        <p:nvSpPr>
          <p:cNvPr id="9" name="Text 7"/>
          <p:cNvSpPr/>
          <p:nvPr/>
        </p:nvSpPr>
        <p:spPr>
          <a:xfrm>
            <a:off x="2852928" y="5440680"/>
            <a:ext cx="2057400" cy="320040"/>
          </a:xfrm>
          <a:prstGeom prst="rect">
            <a:avLst/>
          </a:prstGeom>
          <a:noFill/>
          <a:ln/>
        </p:spPr>
        <p:txBody>
          <a:bodyPr wrap="square" lIns="0" tIns="0" rIns="0" bIns="0" rtlCol="0" anchor="ctr"/>
          <a:lstStyle/>
          <a:p>
            <a:pPr algn="ctr" indent="0" marL="0">
              <a:buNone/>
            </a:pPr>
            <a:r>
              <a:rPr lang="en-US" sz="1100" dirty="0">
                <a:solidFill>
                  <a:srgbClr val="595959"/>
                </a:solidFill>
                <a:latin typeface="Montserrat Medium" pitchFamily="34" charset="0"/>
                <a:ea typeface="Montserrat Medium" pitchFamily="34" charset="-122"/>
                <a:cs typeface="Montserrat Medium" pitchFamily="34" charset="-120"/>
              </a:rPr>
              <a:t>20-39.9%</a:t>
            </a:r>
            <a:endParaRPr lang="en-US" sz="1100" dirty="0"/>
          </a:p>
        </p:txBody>
      </p:sp>
      <p:sp>
        <p:nvSpPr>
          <p:cNvPr id="10" name="Shape 8"/>
          <p:cNvSpPr/>
          <p:nvPr/>
        </p:nvSpPr>
        <p:spPr>
          <a:xfrm>
            <a:off x="5065776" y="2843784"/>
            <a:ext cx="2057400" cy="2139696"/>
          </a:xfrm>
          <a:prstGeom prst="roundRect">
            <a:avLst>
              <a:gd name="adj" fmla="val 2667"/>
            </a:avLst>
          </a:prstGeom>
          <a:solidFill>
            <a:srgbClr val="5FA344"/>
          </a:solidFill>
          <a:ln/>
        </p:spPr>
      </p:sp>
      <p:sp>
        <p:nvSpPr>
          <p:cNvPr id="11" name="Text 9"/>
          <p:cNvSpPr/>
          <p:nvPr/>
        </p:nvSpPr>
        <p:spPr>
          <a:xfrm>
            <a:off x="5065776" y="5074920"/>
            <a:ext cx="2057400"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3 Keys</a:t>
            </a:r>
            <a:endParaRPr lang="en-US" sz="1450" dirty="0"/>
          </a:p>
        </p:txBody>
      </p:sp>
      <p:sp>
        <p:nvSpPr>
          <p:cNvPr id="12" name="Text 10"/>
          <p:cNvSpPr/>
          <p:nvPr/>
        </p:nvSpPr>
        <p:spPr>
          <a:xfrm>
            <a:off x="5065776" y="5440680"/>
            <a:ext cx="2057400" cy="320040"/>
          </a:xfrm>
          <a:prstGeom prst="rect">
            <a:avLst/>
          </a:prstGeom>
          <a:noFill/>
          <a:ln/>
        </p:spPr>
        <p:txBody>
          <a:bodyPr wrap="square" lIns="0" tIns="0" rIns="0" bIns="0" rtlCol="0" anchor="ctr"/>
          <a:lstStyle/>
          <a:p>
            <a:pPr algn="ctr" indent="0" marL="0">
              <a:buNone/>
            </a:pPr>
            <a:r>
              <a:rPr lang="en-US" sz="1100" dirty="0">
                <a:solidFill>
                  <a:srgbClr val="595959"/>
                </a:solidFill>
                <a:latin typeface="Montserrat Medium" pitchFamily="34" charset="0"/>
                <a:ea typeface="Montserrat Medium" pitchFamily="34" charset="-122"/>
                <a:cs typeface="Montserrat Medium" pitchFamily="34" charset="-120"/>
              </a:rPr>
              <a:t>40-59.9%</a:t>
            </a:r>
            <a:endParaRPr lang="en-US" sz="1100" dirty="0"/>
          </a:p>
        </p:txBody>
      </p:sp>
      <p:sp>
        <p:nvSpPr>
          <p:cNvPr id="13" name="Shape 11"/>
          <p:cNvSpPr/>
          <p:nvPr/>
        </p:nvSpPr>
        <p:spPr>
          <a:xfrm>
            <a:off x="7278624" y="2276856"/>
            <a:ext cx="2057400" cy="2706624"/>
          </a:xfrm>
          <a:prstGeom prst="roundRect">
            <a:avLst>
              <a:gd name="adj" fmla="val 2667"/>
            </a:avLst>
          </a:prstGeom>
          <a:solidFill>
            <a:srgbClr val="196B24"/>
          </a:solidFill>
          <a:ln/>
        </p:spPr>
      </p:sp>
      <p:sp>
        <p:nvSpPr>
          <p:cNvPr id="14" name="Text 12"/>
          <p:cNvSpPr/>
          <p:nvPr/>
        </p:nvSpPr>
        <p:spPr>
          <a:xfrm>
            <a:off x="7278624" y="5074920"/>
            <a:ext cx="2057400"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4 Keys</a:t>
            </a:r>
            <a:endParaRPr lang="en-US" sz="1450" dirty="0"/>
          </a:p>
        </p:txBody>
      </p:sp>
      <p:sp>
        <p:nvSpPr>
          <p:cNvPr id="15" name="Text 13"/>
          <p:cNvSpPr/>
          <p:nvPr/>
        </p:nvSpPr>
        <p:spPr>
          <a:xfrm>
            <a:off x="7278624" y="5440680"/>
            <a:ext cx="2057400" cy="320040"/>
          </a:xfrm>
          <a:prstGeom prst="rect">
            <a:avLst/>
          </a:prstGeom>
          <a:noFill/>
          <a:ln/>
        </p:spPr>
        <p:txBody>
          <a:bodyPr wrap="square" lIns="0" tIns="0" rIns="0" bIns="0" rtlCol="0" anchor="ctr"/>
          <a:lstStyle/>
          <a:p>
            <a:pPr algn="ctr" indent="0" marL="0">
              <a:buNone/>
            </a:pPr>
            <a:r>
              <a:rPr lang="en-US" sz="1100" dirty="0">
                <a:solidFill>
                  <a:srgbClr val="595959"/>
                </a:solidFill>
                <a:latin typeface="Montserrat Medium" pitchFamily="34" charset="0"/>
                <a:ea typeface="Montserrat Medium" pitchFamily="34" charset="-122"/>
                <a:cs typeface="Montserrat Medium" pitchFamily="34" charset="-120"/>
              </a:rPr>
              <a:t>60-79.9%</a:t>
            </a:r>
            <a:endParaRPr lang="en-US" sz="1100" dirty="0"/>
          </a:p>
        </p:txBody>
      </p:sp>
      <p:sp>
        <p:nvSpPr>
          <p:cNvPr id="16" name="Shape 14"/>
          <p:cNvSpPr/>
          <p:nvPr/>
        </p:nvSpPr>
        <p:spPr>
          <a:xfrm>
            <a:off x="9491472" y="1709928"/>
            <a:ext cx="2057400" cy="3273552"/>
          </a:xfrm>
          <a:prstGeom prst="roundRect">
            <a:avLst>
              <a:gd name="adj" fmla="val 2667"/>
            </a:avLst>
          </a:prstGeom>
          <a:solidFill>
            <a:srgbClr val="0F4A17"/>
          </a:solidFill>
          <a:ln/>
        </p:spPr>
      </p:sp>
      <p:sp>
        <p:nvSpPr>
          <p:cNvPr id="17" name="Text 15"/>
          <p:cNvSpPr/>
          <p:nvPr/>
        </p:nvSpPr>
        <p:spPr>
          <a:xfrm>
            <a:off x="9491472" y="5074920"/>
            <a:ext cx="2057400" cy="365760"/>
          </a:xfrm>
          <a:prstGeom prst="rect">
            <a:avLst/>
          </a:prstGeom>
          <a:noFill/>
          <a:ln/>
        </p:spPr>
        <p:txBody>
          <a:bodyPr wrap="square" lIns="0" tIns="0" rIns="0" bIns="0" rtlCol="0" anchor="ctr"/>
          <a:lstStyle/>
          <a:p>
            <a:pPr algn="ctr" indent="0" marL="0">
              <a:buNone/>
            </a:pPr>
            <a:r>
              <a:rPr lang="en-US" sz="1450" b="1" dirty="0">
                <a:solidFill>
                  <a:srgbClr val="1A1A1A"/>
                </a:solidFill>
                <a:latin typeface="Montserrat Medium" pitchFamily="34" charset="0"/>
                <a:ea typeface="Montserrat Medium" pitchFamily="34" charset="-122"/>
                <a:cs typeface="Montserrat Medium" pitchFamily="34" charset="-120"/>
              </a:rPr>
              <a:t>5 Keys</a:t>
            </a:r>
            <a:endParaRPr lang="en-US" sz="1450" dirty="0"/>
          </a:p>
        </p:txBody>
      </p:sp>
      <p:sp>
        <p:nvSpPr>
          <p:cNvPr id="18" name="Text 16"/>
          <p:cNvSpPr/>
          <p:nvPr/>
        </p:nvSpPr>
        <p:spPr>
          <a:xfrm>
            <a:off x="9491472" y="5440680"/>
            <a:ext cx="2057400" cy="320040"/>
          </a:xfrm>
          <a:prstGeom prst="rect">
            <a:avLst/>
          </a:prstGeom>
          <a:noFill/>
          <a:ln/>
        </p:spPr>
        <p:txBody>
          <a:bodyPr wrap="square" lIns="0" tIns="0" rIns="0" bIns="0" rtlCol="0" anchor="ctr"/>
          <a:lstStyle/>
          <a:p>
            <a:pPr algn="ctr" indent="0" marL="0">
              <a:buNone/>
            </a:pPr>
            <a:r>
              <a:rPr lang="en-US" sz="1100" dirty="0">
                <a:solidFill>
                  <a:srgbClr val="595959"/>
                </a:solidFill>
                <a:latin typeface="Montserrat Medium" pitchFamily="34" charset="0"/>
                <a:ea typeface="Montserrat Medium" pitchFamily="34" charset="-122"/>
                <a:cs typeface="Montserrat Medium" pitchFamily="34" charset="-120"/>
              </a:rPr>
              <a:t>80-100%</a:t>
            </a:r>
            <a:endParaRPr lang="en-US" sz="1100" dirty="0"/>
          </a:p>
        </p:txBody>
      </p:sp>
      <p:sp>
        <p:nvSpPr>
          <p:cNvPr id="19" name="Text 17"/>
          <p:cNvSpPr/>
          <p:nvPr/>
        </p:nvSpPr>
        <p:spPr>
          <a:xfrm>
            <a:off x="640080" y="5760720"/>
            <a:ext cx="10908792" cy="320040"/>
          </a:xfrm>
          <a:prstGeom prst="rect">
            <a:avLst/>
          </a:prstGeom>
          <a:noFill/>
          <a:ln/>
        </p:spPr>
        <p:txBody>
          <a:bodyPr wrap="square" lIns="0" tIns="0" rIns="0" bIns="0" rtlCol="0" anchor="ctr"/>
          <a:lstStyle/>
          <a:p>
            <a:pPr algn="ctr" indent="0" marL="0">
              <a:buNone/>
            </a:pPr>
            <a:r>
              <a:rPr lang="en-US" sz="1050" i="1" dirty="0">
                <a:solidFill>
                  <a:srgbClr val="595959"/>
                </a:solidFill>
                <a:latin typeface="Montserrat Medium" pitchFamily="34" charset="0"/>
                <a:ea typeface="Montserrat Medium" pitchFamily="34" charset="-122"/>
                <a:cs typeface="Montserrat Medium" pitchFamily="34" charset="-120"/>
              </a:rPr>
              <a:t>of available assessment points</a:t>
            </a:r>
            <a:endParaRPr lang="en-US" sz="1050" dirty="0"/>
          </a:p>
        </p:txBody>
      </p:sp>
      <p:sp>
        <p:nvSpPr>
          <p:cNvPr id="20" name="Text 18"/>
          <p:cNvSpPr/>
          <p:nvPr/>
        </p:nvSpPr>
        <p:spPr>
          <a:xfrm>
            <a:off x="914400" y="1691640"/>
            <a:ext cx="6126480" cy="914400"/>
          </a:xfrm>
          <a:prstGeom prst="rect">
            <a:avLst/>
          </a:prstGeom>
          <a:noFill/>
          <a:ln/>
        </p:spPr>
        <p:txBody>
          <a:bodyPr wrap="square" lIns="0" tIns="0" rIns="0" bIns="0" rtlCol="0" anchor="ctr"/>
          <a:lstStyle/>
          <a:p>
            <a:pPr indent="0" marL="0">
              <a:buNone/>
            </a:pPr>
            <a:r>
              <a:rPr lang="en-US" sz="1300" b="1" dirty="0">
                <a:solidFill>
                  <a:srgbClr val="196B24"/>
                </a:solidFill>
                <a:latin typeface="Montserrat Medium" pitchFamily="34" charset="0"/>
                <a:ea typeface="Montserrat Medium" pitchFamily="34" charset="-122"/>
                <a:cs typeface="Montserrat Medium" pitchFamily="34" charset="-120"/>
              </a:rPr>
              <a:t>Any rating is full certification. </a:t>
            </a:r>
            <a:pPr indent="0" marL="0">
              <a:buNone/>
            </a:pPr>
            <a:r>
              <a:rPr lang="en-US" sz="1300" dirty="0">
                <a:solidFill>
                  <a:srgbClr val="222222"/>
                </a:solidFill>
                <a:latin typeface="Montserrat Medium" pitchFamily="34" charset="0"/>
                <a:ea typeface="Montserrat Medium" pitchFamily="34" charset="-122"/>
                <a:cs typeface="Montserrat Medium" pitchFamily="34" charset="-120"/>
              </a:rPr>
              <a:t>A first Key requires all 37 Core Criteria. The Property Performance Report shows exactly where the points for the next Key live.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INVESTMENT</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Priced for every tier of the market</a:t>
            </a:r>
            <a:endParaRPr lang="en-US" sz="1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6858000" cy="914400"/>
        </p:xfrm>
        <a:graphic>
          <a:graphicData uri="http://schemas.openxmlformats.org/drawingml/2006/table">
            <a:tbl>
              <a:tblPr/>
              <a:tblGrid>
                <a:gridCol w="3383280"/>
                <a:gridCol w="1737360"/>
                <a:gridCol w="1737360"/>
              </a:tblGrid>
              <a:tr h="502920">
                <a:tc>
                  <a:txBody>
                    <a:bodyPr/>
                    <a:lstStyle/>
                    <a:p>
                      <a:pPr indent="0" marL="0">
                        <a:buNone/>
                      </a:pPr>
                      <a:r>
                        <a:rPr lang="en-US" sz="1250" b="1" dirty="0">
                          <a:solidFill>
                            <a:srgbClr val="FFFFFF"/>
                          </a:solidFill>
                          <a:latin typeface="Montserrat Medium" pitchFamily="34" charset="0"/>
                          <a:ea typeface="Montserrat Medium" pitchFamily="34" charset="-122"/>
                          <a:cs typeface="Montserrat Medium" pitchFamily="34" charset="-120"/>
                        </a:rPr>
                        <a:t>Published pricing (July 2026)</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196B24"/>
                    </a:solidFill>
                  </a:tcPr>
                </a:tc>
                <a:tc>
                  <a:txBody>
                    <a:bodyPr/>
                    <a:lstStyle/>
                    <a:p>
                      <a:pPr indent="0" marL="0">
                        <a:buNone/>
                      </a:pPr>
                      <a:r>
                        <a:rPr lang="en-US" sz="1250" b="1" dirty="0">
                          <a:solidFill>
                            <a:srgbClr val="FFFFFF"/>
                          </a:solidFill>
                          <a:latin typeface="Montserrat Medium" pitchFamily="34" charset="0"/>
                          <a:ea typeface="Montserrat Medium" pitchFamily="34" charset="-122"/>
                          <a:cs typeface="Montserrat Medium" pitchFamily="34" charset="-120"/>
                        </a:rPr>
                        <a:t>United States</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196B24"/>
                    </a:solidFill>
                  </a:tcPr>
                </a:tc>
                <a:tc>
                  <a:txBody>
                    <a:bodyPr/>
                    <a:lstStyle/>
                    <a:p>
                      <a:pPr indent="0" marL="0">
                        <a:buNone/>
                      </a:pPr>
                      <a:r>
                        <a:rPr lang="en-US" sz="1250" b="1" dirty="0">
                          <a:solidFill>
                            <a:srgbClr val="FFFFFF"/>
                          </a:solidFill>
                          <a:latin typeface="Montserrat Medium" pitchFamily="34" charset="0"/>
                          <a:ea typeface="Montserrat Medium" pitchFamily="34" charset="-122"/>
                          <a:cs typeface="Montserrat Medium" pitchFamily="34" charset="-120"/>
                        </a:rPr>
                        <a:t>Canada</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solidFill>
                      <a:srgbClr val="196B24"/>
                    </a:solidFill>
                  </a:tcPr>
                </a:tc>
              </a:tr>
              <a:tr h="502920">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Annual membership, per property</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$750 / year</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$950 CAD / year</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r>
              <a:tr h="502920">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Virtual audit, once per 3-year cycle</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$500</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$500</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r>
              <a:tr h="502920">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On-site audit (optional alternative)</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$2,500*</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c>
                  <a:txBody>
                    <a:bodyPr/>
                    <a:lstStyle/>
                    <a:p>
                      <a:pPr indent="0" marL="0">
                        <a:buNone/>
                      </a:pPr>
                      <a:r>
                        <a:rPr lang="en-US" sz="1250" dirty="0">
                          <a:solidFill>
                            <a:srgbClr val="222222"/>
                          </a:solidFill>
                          <a:latin typeface="Montserrat Medium" pitchFamily="34" charset="0"/>
                          <a:ea typeface="Montserrat Medium" pitchFamily="34" charset="-122"/>
                          <a:cs typeface="Montserrat Medium" pitchFamily="34" charset="-120"/>
                        </a:rPr>
                        <a:t>$2,500*</a:t>
                      </a:r>
                      <a:endParaRPr lang="en-US" sz="1250" dirty="0">
                        <a:latin typeface="Montserrat Medium" charset="0"/>
                        <a:ea typeface="Montserrat Medium" charset="0"/>
                        <a:cs typeface="Montserrat Medium" charset="0"/>
                      </a:endParaRPr>
                    </a:p>
                  </a:txBody>
                  <a:tcPr marL="73152" marR="73152" marT="73152" marB="73152" anchor="ctr">
                    <a:lnL w="9525" cap="flat" cmpd="sng" algn="ctr">
                      <a:solidFill>
                        <a:srgbClr val="CFCFCF"/>
                      </a:solidFill>
                      <a:prstDash val="solid"/>
                      <a:round/>
                      <a:headEnd type="none" w="med" len="med"/>
                      <a:tailEnd type="none" w="med" len="med"/>
                    </a:lnL>
                    <a:lnR w="9525" cap="flat" cmpd="sng" algn="ctr">
                      <a:solidFill>
                        <a:srgbClr val="CFCFCF"/>
                      </a:solidFill>
                      <a:prstDash val="solid"/>
                      <a:round/>
                      <a:headEnd type="none" w="med" len="med"/>
                      <a:tailEnd type="none" w="med" len="med"/>
                    </a:lnR>
                    <a:lnT w="9525" cap="flat" cmpd="sng" algn="ctr">
                      <a:solidFill>
                        <a:srgbClr val="CFCFCF"/>
                      </a:solidFill>
                      <a:prstDash val="solid"/>
                      <a:round/>
                      <a:headEnd type="none" w="med" len="med"/>
                      <a:tailEnd type="none" w="med" len="med"/>
                    </a:lnT>
                    <a:lnB w="9525" cap="flat" cmpd="sng" algn="ctr">
                      <a:solidFill>
                        <a:srgbClr val="CFCFCF"/>
                      </a:solidFill>
                      <a:prstDash val="solid"/>
                      <a:round/>
                      <a:headEnd type="none" w="med" len="med"/>
                      <a:tailEnd type="none" w="med" len="med"/>
                    </a:lnB>
                  </a:tcPr>
                </a:tc>
              </a:tr>
            </a:tbl>
          </a:graphicData>
        </a:graphic>
      </p:graphicFrame>
      <p:sp>
        <p:nvSpPr>
          <p:cNvPr id="5" name="Text 2"/>
          <p:cNvSpPr/>
          <p:nvPr/>
        </p:nvSpPr>
        <p:spPr>
          <a:xfrm>
            <a:off x="640080" y="4114800"/>
            <a:ext cx="6858000" cy="457200"/>
          </a:xfrm>
          <a:prstGeom prst="rect">
            <a:avLst/>
          </a:prstGeom>
          <a:noFill/>
          <a:ln/>
        </p:spPr>
        <p:txBody>
          <a:bodyPr wrap="square" lIns="0" tIns="0" rIns="0" bIns="0" rtlCol="0" anchor="ctr"/>
          <a:lstStyle/>
          <a:p>
            <a:pPr indent="0" marL="0">
              <a:buNone/>
            </a:pPr>
            <a:r>
              <a:rPr lang="en-US" sz="1000" i="1" dirty="0">
                <a:solidFill>
                  <a:srgbClr val="595959"/>
                </a:solidFill>
                <a:latin typeface="Montserrat Medium" pitchFamily="34" charset="0"/>
                <a:ea typeface="Montserrat Medium" pitchFamily="34" charset="-122"/>
                <a:cs typeface="Montserrat Medium" pitchFamily="34" charset="-120"/>
              </a:rPr>
              <a:t>*Travel dependent. Fees reviewed periodically; current pricing at greenkeyglobal.com. Partnership pricing available (next section).</a:t>
            </a:r>
            <a:endParaRPr lang="en-US" sz="1000" dirty="0"/>
          </a:p>
        </p:txBody>
      </p:sp>
      <p:sp>
        <p:nvSpPr>
          <p:cNvPr id="6" name="Shape 3"/>
          <p:cNvSpPr/>
          <p:nvPr/>
        </p:nvSpPr>
        <p:spPr>
          <a:xfrm>
            <a:off x="7818120" y="1874520"/>
            <a:ext cx="3749040" cy="1783080"/>
          </a:xfrm>
          <a:prstGeom prst="roundRect">
            <a:avLst>
              <a:gd name="adj" fmla="val 4615"/>
            </a:avLst>
          </a:prstGeom>
          <a:solidFill>
            <a:srgbClr val="196B24"/>
          </a:solidFill>
          <a:ln/>
        </p:spPr>
      </p:sp>
      <p:sp>
        <p:nvSpPr>
          <p:cNvPr id="7" name="Text 4"/>
          <p:cNvSpPr/>
          <p:nvPr/>
        </p:nvSpPr>
        <p:spPr>
          <a:xfrm>
            <a:off x="7818120" y="2057400"/>
            <a:ext cx="3749040" cy="685800"/>
          </a:xfrm>
          <a:prstGeom prst="rect">
            <a:avLst/>
          </a:prstGeom>
          <a:noFill/>
          <a:ln/>
        </p:spPr>
        <p:txBody>
          <a:bodyPr wrap="square" lIns="0" tIns="0" rIns="0" bIns="0" rtlCol="0" anchor="ctr"/>
          <a:lstStyle/>
          <a:p>
            <a:pPr algn="ctr" indent="0" marL="0">
              <a:buNone/>
            </a:pPr>
            <a:r>
              <a:rPr lang="en-US" sz="2700" b="1" dirty="0">
                <a:solidFill>
                  <a:srgbClr val="FFFFFF"/>
                </a:solidFill>
                <a:latin typeface="Montserrat" pitchFamily="34" charset="0"/>
                <a:ea typeface="Montserrat" pitchFamily="34" charset="-122"/>
                <a:cs typeface="Montserrat" pitchFamily="34" charset="-120"/>
              </a:rPr>
              <a:t>&lt;$80/month</a:t>
            </a:r>
            <a:endParaRPr lang="en-US" sz="2700" dirty="0"/>
          </a:p>
        </p:txBody>
      </p:sp>
      <p:sp>
        <p:nvSpPr>
          <p:cNvPr id="8" name="Text 5"/>
          <p:cNvSpPr/>
          <p:nvPr/>
        </p:nvSpPr>
        <p:spPr>
          <a:xfrm>
            <a:off x="8074152" y="2788920"/>
            <a:ext cx="3246120" cy="731520"/>
          </a:xfrm>
          <a:prstGeom prst="rect">
            <a:avLst/>
          </a:prstGeom>
          <a:noFill/>
          <a:ln/>
        </p:spPr>
        <p:txBody>
          <a:bodyPr wrap="square" lIns="0" tIns="0" rIns="0" bIns="0" rtlCol="0" anchor="ctr"/>
          <a:lstStyle/>
          <a:p>
            <a:pPr algn="ctr" indent="0" marL="0">
              <a:buNone/>
            </a:pPr>
            <a:r>
              <a:rPr lang="en-US" sz="1200" dirty="0">
                <a:solidFill>
                  <a:srgbClr val="FFFFFF"/>
                </a:solidFill>
                <a:latin typeface="Montserrat Medium" pitchFamily="34" charset="0"/>
                <a:ea typeface="Montserrat Medium" pitchFamily="34" charset="-122"/>
                <a:cs typeface="Montserrat Medium" pitchFamily="34" charset="-120"/>
              </a:rPr>
              <a:t>full 3-year U.S. cycle: $2,750 all-in with a virtual audit</a:t>
            </a:r>
            <a:endParaRPr lang="en-US" sz="1200" dirty="0"/>
          </a:p>
        </p:txBody>
      </p:sp>
      <p:sp>
        <p:nvSpPr>
          <p:cNvPr id="9" name="Shape 6"/>
          <p:cNvSpPr/>
          <p:nvPr/>
        </p:nvSpPr>
        <p:spPr>
          <a:xfrm>
            <a:off x="7818120" y="3931920"/>
            <a:ext cx="3749040" cy="1783080"/>
          </a:xfrm>
          <a:prstGeom prst="roundRect">
            <a:avLst>
              <a:gd name="adj" fmla="val 4615"/>
            </a:avLst>
          </a:prstGeom>
          <a:solidFill>
            <a:srgbClr val="F2F8EC"/>
          </a:solidFill>
          <a:ln/>
        </p:spPr>
      </p:sp>
      <p:sp>
        <p:nvSpPr>
          <p:cNvPr id="10" name="Text 7"/>
          <p:cNvSpPr/>
          <p:nvPr/>
        </p:nvSpPr>
        <p:spPr>
          <a:xfrm>
            <a:off x="7818120" y="4114800"/>
            <a:ext cx="3749040" cy="685800"/>
          </a:xfrm>
          <a:prstGeom prst="rect">
            <a:avLst/>
          </a:prstGeom>
          <a:noFill/>
          <a:ln/>
        </p:spPr>
        <p:txBody>
          <a:bodyPr wrap="square" lIns="0" tIns="0" rIns="0" bIns="0" rtlCol="0" anchor="ctr"/>
          <a:lstStyle/>
          <a:p>
            <a:pPr algn="ctr" indent="0" marL="0">
              <a:buNone/>
            </a:pPr>
            <a:r>
              <a:rPr lang="en-US" sz="2700" b="1" dirty="0">
                <a:solidFill>
                  <a:srgbClr val="196B24"/>
                </a:solidFill>
                <a:latin typeface="Montserrat" pitchFamily="34" charset="0"/>
                <a:ea typeface="Montserrat" pitchFamily="34" charset="-122"/>
                <a:cs typeface="Montserrat" pitchFamily="34" charset="-120"/>
              </a:rPr>
              <a:t>3 bookings</a:t>
            </a:r>
            <a:endParaRPr lang="en-US" sz="2700" dirty="0"/>
          </a:p>
        </p:txBody>
      </p:sp>
      <p:sp>
        <p:nvSpPr>
          <p:cNvPr id="11" name="Text 8"/>
          <p:cNvSpPr/>
          <p:nvPr/>
        </p:nvSpPr>
        <p:spPr>
          <a:xfrm>
            <a:off x="8074152" y="4846320"/>
            <a:ext cx="3246120" cy="731520"/>
          </a:xfrm>
          <a:prstGeom prst="rect">
            <a:avLst/>
          </a:prstGeom>
          <a:noFill/>
          <a:ln/>
        </p:spPr>
        <p:txBody>
          <a:bodyPr wrap="square" lIns="0" tIns="0" rIns="0" bIns="0" rtlCol="0" anchor="ctr"/>
          <a:lstStyle/>
          <a:p>
            <a:pPr algn="ctr" indent="0" marL="0">
              <a:buNone/>
            </a:pPr>
            <a:r>
              <a:rPr lang="en-US" sz="1200" dirty="0">
                <a:solidFill>
                  <a:srgbClr val="222222"/>
                </a:solidFill>
                <a:latin typeface="Montserrat Medium" pitchFamily="34" charset="0"/>
                <a:ea typeface="Montserrat Medium" pitchFamily="34" charset="-122"/>
                <a:cs typeface="Montserrat Medium" pitchFamily="34" charset="-120"/>
              </a:rPr>
              <a:t>in a year covers the cost of certification; the rest is return</a:t>
            </a:r>
            <a:endParaRPr lang="en-US" sz="1200" dirty="0"/>
          </a:p>
        </p:txBody>
      </p:sp>
      <p:sp>
        <p:nvSpPr>
          <p:cNvPr id="12" name="Text 9"/>
          <p:cNvSpPr/>
          <p:nvPr/>
        </p:nvSpPr>
        <p:spPr>
          <a:xfrm>
            <a:off x="640080" y="4800600"/>
            <a:ext cx="6858000" cy="1005840"/>
          </a:xfrm>
          <a:prstGeom prst="rect">
            <a:avLst/>
          </a:prstGeom>
          <a:noFill/>
          <a:ln/>
        </p:spPr>
        <p:txBody>
          <a:bodyPr wrap="square" lIns="0" tIns="0" rIns="0" bIns="0" rtlCol="0" anchor="ctr"/>
          <a:lstStyle/>
          <a:p>
            <a:pPr indent="0" marL="0">
              <a:buNone/>
            </a:pPr>
            <a:r>
              <a:rPr lang="en-US" sz="1200" dirty="0">
                <a:solidFill>
                  <a:srgbClr val="595959"/>
                </a:solidFill>
                <a:latin typeface="Montserrat Medium" pitchFamily="34" charset="0"/>
                <a:ea typeface="Montserrat Medium" pitchFamily="34" charset="-122"/>
                <a:cs typeface="Montserrat Medium" pitchFamily="34" charset="-120"/>
              </a:rPr>
              <a:t>The practices the assessment rewards (utility tracking, preventative maintenance, linen reuse, right-sized purchasing) are the same practices that cut operating cost.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24128" y="1399032"/>
            <a:ext cx="10058400" cy="914400"/>
          </a:xfrm>
          <a:prstGeom prst="rect">
            <a:avLst/>
          </a:prstGeom>
          <a:noFill/>
          <a:ln/>
        </p:spPr>
        <p:txBody>
          <a:bodyPr wrap="square" lIns="0" tIns="0" rIns="0" bIns="0" rtlCol="0" anchor="ctr"/>
          <a:lstStyle/>
          <a:p>
            <a:pPr indent="0" marL="0">
              <a:buNone/>
            </a:pPr>
            <a:r>
              <a:rPr lang="en-US" sz="4000" b="1" dirty="0">
                <a:solidFill>
                  <a:srgbClr val="1A1A1A"/>
                </a:solidFill>
                <a:latin typeface="Montserrat" pitchFamily="34" charset="0"/>
                <a:ea typeface="Montserrat" pitchFamily="34" charset="-122"/>
                <a:cs typeface="Montserrat" pitchFamily="34" charset="-120"/>
              </a:rPr>
              <a:t>PARTNERING WITH GREEN KEY</a:t>
            </a:r>
            <a:endParaRPr lang="en-US" sz="4000" dirty="0"/>
          </a:p>
        </p:txBody>
      </p:sp>
      <p:sp>
        <p:nvSpPr>
          <p:cNvPr id="3" name="Text 1"/>
          <p:cNvSpPr/>
          <p:nvPr/>
        </p:nvSpPr>
        <p:spPr>
          <a:xfrm>
            <a:off x="1024128" y="2377440"/>
            <a:ext cx="6766560" cy="1097280"/>
          </a:xfrm>
          <a:prstGeom prst="rect">
            <a:avLst/>
          </a:prstGeom>
          <a:noFill/>
          <a:ln/>
        </p:spPr>
        <p:txBody>
          <a:bodyPr wrap="square" lIns="0" tIns="0" rIns="0" bIns="0" rtlCol="0" anchor="ctr"/>
          <a:lstStyle/>
          <a:p>
            <a:pPr indent="0" marL="0">
              <a:buNone/>
            </a:pPr>
            <a:r>
              <a:rPr lang="en-US" sz="1900" b="1" dirty="0">
                <a:solidFill>
                  <a:srgbClr val="196B24"/>
                </a:solidFill>
                <a:latin typeface="Montserrat Medium" pitchFamily="34" charset="0"/>
                <a:ea typeface="Montserrat Medium" pitchFamily="34" charset="-122"/>
                <a:cs typeface="Montserrat Medium" pitchFamily="34" charset="-120"/>
              </a:rPr>
              <a:t>For brands and management companies: membership commitment in exchange for preferred pricing and dedicated support.</a:t>
            </a:r>
            <a:endParaRPr lang="en-US" sz="1900" dirty="0"/>
          </a:p>
        </p:txBody>
      </p:sp>
      <p:pic>
        <p:nvPicPr>
          <p:cNvPr id="4" name="Image 0" descr="preencoded.png">    </p:cNvPr>
          <p:cNvPicPr>
            <a:picLocks noChangeAspect="1"/>
          </p:cNvPicPr>
          <p:nvPr/>
        </p:nvPicPr>
        <p:blipFill>
          <a:blip r:embed="rId1"/>
          <a:stretch>
            <a:fillRect/>
          </a:stretch>
        </p:blipFill>
        <p:spPr>
          <a:xfrm>
            <a:off x="7543800" y="3968496"/>
            <a:ext cx="4169664" cy="31089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PORTFOLIO ADVANTAGE</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What a formal partnership includes</a:t>
            </a:r>
            <a:endParaRPr lang="en-US" sz="1700" dirty="0"/>
          </a:p>
        </p:txBody>
      </p:sp>
      <p:sp>
        <p:nvSpPr>
          <p:cNvPr id="4" name="Shape 2"/>
          <p:cNvSpPr/>
          <p:nvPr/>
        </p:nvSpPr>
        <p:spPr>
          <a:xfrm>
            <a:off x="640080" y="1828800"/>
            <a:ext cx="3520440" cy="1874520"/>
          </a:xfrm>
          <a:prstGeom prst="roundRect">
            <a:avLst>
              <a:gd name="adj" fmla="val 4390"/>
            </a:avLst>
          </a:prstGeom>
          <a:solidFill>
            <a:srgbClr val="F2F8EC"/>
          </a:solidFill>
          <a:ln/>
        </p:spPr>
      </p:sp>
      <p:sp>
        <p:nvSpPr>
          <p:cNvPr id="5" name="Shape 3"/>
          <p:cNvSpPr/>
          <p:nvPr/>
        </p:nvSpPr>
        <p:spPr>
          <a:xfrm>
            <a:off x="822960" y="2029968"/>
            <a:ext cx="512064" cy="512064"/>
          </a:xfrm>
          <a:prstGeom prst="ellipse">
            <a:avLst/>
          </a:prstGeom>
          <a:solidFill>
            <a:srgbClr val="FFFFFF"/>
          </a:solidFill>
          <a:ln w="15240">
            <a:solidFill>
              <a:srgbClr val="196B24"/>
            </a:solidFill>
            <a:prstDash val="solid"/>
          </a:ln>
        </p:spPr>
      </p:sp>
      <p:pic>
        <p:nvPicPr>
          <p:cNvPr id="6" name="Image 0" descr="preencoded.png">    </p:cNvPr>
          <p:cNvPicPr>
            <a:picLocks noChangeAspect="1"/>
          </p:cNvPicPr>
          <p:nvPr/>
        </p:nvPicPr>
        <p:blipFill>
          <a:blip r:embed="rId1"/>
          <a:stretch>
            <a:fillRect/>
          </a:stretch>
        </p:blipFill>
        <p:spPr>
          <a:xfrm>
            <a:off x="950976" y="2157984"/>
            <a:ext cx="256032" cy="256032"/>
          </a:xfrm>
          <a:prstGeom prst="rect">
            <a:avLst/>
          </a:prstGeom>
        </p:spPr>
      </p:pic>
      <p:sp>
        <p:nvSpPr>
          <p:cNvPr id="7" name="Text 4"/>
          <p:cNvSpPr/>
          <p:nvPr/>
        </p:nvSpPr>
        <p:spPr>
          <a:xfrm>
            <a:off x="1481328" y="1975104"/>
            <a:ext cx="2606040" cy="5943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Preferred pricing</a:t>
            </a:r>
            <a:endParaRPr lang="en-US" sz="1250" dirty="0"/>
          </a:p>
        </p:txBody>
      </p:sp>
      <p:sp>
        <p:nvSpPr>
          <p:cNvPr id="8" name="Text 5"/>
          <p:cNvSpPr/>
          <p:nvPr/>
        </p:nvSpPr>
        <p:spPr>
          <a:xfrm>
            <a:off x="822960" y="2606040"/>
            <a:ext cx="3182112" cy="1024128"/>
          </a:xfrm>
          <a:prstGeom prst="rect">
            <a:avLst/>
          </a:prstGeom>
          <a:noFill/>
          <a:ln/>
        </p:spPr>
        <p:txBody>
          <a:bodyPr wrap="square" lIns="0" tIns="0" rIns="0" bIns="0" rtlCol="0" anchor="ctr"/>
          <a:lstStyle/>
          <a:p>
            <a:pPr indent="0" marL="0">
              <a:buNone/>
            </a:pPr>
            <a:r>
              <a:rPr lang="en-US" sz="1000" dirty="0">
                <a:solidFill>
                  <a:srgbClr val="595959"/>
                </a:solidFill>
                <a:latin typeface="Montserrat Medium" pitchFamily="34" charset="0"/>
                <a:ea typeface="Montserrat Medium" pitchFamily="34" charset="-122"/>
                <a:cs typeface="Montserrat Medium" pitchFamily="34" charset="-120"/>
              </a:rPr>
              <a:t>A formal membership commitment across your portfolio in exchange for discounted certification fees under an MSA or MOU</a:t>
            </a:r>
            <a:endParaRPr lang="en-US" sz="1000" dirty="0"/>
          </a:p>
        </p:txBody>
      </p:sp>
      <p:sp>
        <p:nvSpPr>
          <p:cNvPr id="9" name="Shape 6"/>
          <p:cNvSpPr/>
          <p:nvPr/>
        </p:nvSpPr>
        <p:spPr>
          <a:xfrm>
            <a:off x="4370832" y="1828800"/>
            <a:ext cx="3520440" cy="1874520"/>
          </a:xfrm>
          <a:prstGeom prst="roundRect">
            <a:avLst>
              <a:gd name="adj" fmla="val 4390"/>
            </a:avLst>
          </a:prstGeom>
          <a:solidFill>
            <a:srgbClr val="F2F8EC"/>
          </a:solidFill>
          <a:ln/>
        </p:spPr>
      </p:sp>
      <p:sp>
        <p:nvSpPr>
          <p:cNvPr id="10" name="Shape 7"/>
          <p:cNvSpPr/>
          <p:nvPr/>
        </p:nvSpPr>
        <p:spPr>
          <a:xfrm>
            <a:off x="4553712" y="2029968"/>
            <a:ext cx="512064" cy="512064"/>
          </a:xfrm>
          <a:prstGeom prst="ellipse">
            <a:avLst/>
          </a:prstGeom>
          <a:solidFill>
            <a:srgbClr val="FFFFFF"/>
          </a:solidFill>
          <a:ln w="15240">
            <a:solidFill>
              <a:srgbClr val="196B24"/>
            </a:solidFill>
            <a:prstDash val="solid"/>
          </a:ln>
        </p:spPr>
      </p:sp>
      <p:pic>
        <p:nvPicPr>
          <p:cNvPr id="11" name="Image 1" descr="preencoded.png">    </p:cNvPr>
          <p:cNvPicPr>
            <a:picLocks noChangeAspect="1"/>
          </p:cNvPicPr>
          <p:nvPr/>
        </p:nvPicPr>
        <p:blipFill>
          <a:blip r:embed="rId2"/>
          <a:stretch>
            <a:fillRect/>
          </a:stretch>
        </p:blipFill>
        <p:spPr>
          <a:xfrm>
            <a:off x="4681728" y="2157984"/>
            <a:ext cx="256032" cy="256032"/>
          </a:xfrm>
          <a:prstGeom prst="rect">
            <a:avLst/>
          </a:prstGeom>
        </p:spPr>
      </p:pic>
      <p:sp>
        <p:nvSpPr>
          <p:cNvPr id="12" name="Text 8"/>
          <p:cNvSpPr/>
          <p:nvPr/>
        </p:nvSpPr>
        <p:spPr>
          <a:xfrm>
            <a:off x="5212080" y="1975104"/>
            <a:ext cx="2606040" cy="5943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Dedicated Account Manager</a:t>
            </a:r>
            <a:endParaRPr lang="en-US" sz="1250" dirty="0"/>
          </a:p>
        </p:txBody>
      </p:sp>
      <p:sp>
        <p:nvSpPr>
          <p:cNvPr id="13" name="Text 9"/>
          <p:cNvSpPr/>
          <p:nvPr/>
        </p:nvSpPr>
        <p:spPr>
          <a:xfrm>
            <a:off x="4553712" y="2606040"/>
            <a:ext cx="3182112" cy="1024128"/>
          </a:xfrm>
          <a:prstGeom prst="rect">
            <a:avLst/>
          </a:prstGeom>
          <a:noFill/>
          <a:ln/>
        </p:spPr>
        <p:txBody>
          <a:bodyPr wrap="square" lIns="0" tIns="0" rIns="0" bIns="0" rtlCol="0" anchor="ctr"/>
          <a:lstStyle/>
          <a:p>
            <a:pPr indent="0" marL="0">
              <a:buNone/>
            </a:pPr>
            <a:r>
              <a:rPr lang="en-US" sz="1000" dirty="0">
                <a:solidFill>
                  <a:srgbClr val="595959"/>
                </a:solidFill>
                <a:latin typeface="Montserrat Medium" pitchFamily="34" charset="0"/>
                <a:ea typeface="Montserrat Medium" pitchFamily="34" charset="-122"/>
                <a:cs typeface="Montserrat Medium" pitchFamily="34" charset="-120"/>
              </a:rPr>
              <a:t>A named owner of your partnership from activation onward: rollout support, troubleshooting, and best-practice guidance</a:t>
            </a:r>
            <a:endParaRPr lang="en-US" sz="1000" dirty="0"/>
          </a:p>
        </p:txBody>
      </p:sp>
      <p:sp>
        <p:nvSpPr>
          <p:cNvPr id="14" name="Shape 10"/>
          <p:cNvSpPr/>
          <p:nvPr/>
        </p:nvSpPr>
        <p:spPr>
          <a:xfrm>
            <a:off x="8101584" y="1828800"/>
            <a:ext cx="3520440" cy="1874520"/>
          </a:xfrm>
          <a:prstGeom prst="roundRect">
            <a:avLst>
              <a:gd name="adj" fmla="val 4390"/>
            </a:avLst>
          </a:prstGeom>
          <a:solidFill>
            <a:srgbClr val="F2F8EC"/>
          </a:solidFill>
          <a:ln/>
        </p:spPr>
      </p:sp>
      <p:sp>
        <p:nvSpPr>
          <p:cNvPr id="15" name="Shape 11"/>
          <p:cNvSpPr/>
          <p:nvPr/>
        </p:nvSpPr>
        <p:spPr>
          <a:xfrm>
            <a:off x="8284464" y="2029968"/>
            <a:ext cx="512064" cy="512064"/>
          </a:xfrm>
          <a:prstGeom prst="ellipse">
            <a:avLst/>
          </a:prstGeom>
          <a:solidFill>
            <a:srgbClr val="FFFFFF"/>
          </a:solidFill>
          <a:ln w="15240">
            <a:solidFill>
              <a:srgbClr val="196B24"/>
            </a:solidFill>
            <a:prstDash val="solid"/>
          </a:ln>
        </p:spPr>
      </p:sp>
      <p:pic>
        <p:nvPicPr>
          <p:cNvPr id="16" name="Image 2" descr="preencoded.png">    </p:cNvPr>
          <p:cNvPicPr>
            <a:picLocks noChangeAspect="1"/>
          </p:cNvPicPr>
          <p:nvPr/>
        </p:nvPicPr>
        <p:blipFill>
          <a:blip r:embed="rId3"/>
          <a:stretch>
            <a:fillRect/>
          </a:stretch>
        </p:blipFill>
        <p:spPr>
          <a:xfrm>
            <a:off x="8412480" y="2157984"/>
            <a:ext cx="256032" cy="256032"/>
          </a:xfrm>
          <a:prstGeom prst="rect">
            <a:avLst/>
          </a:prstGeom>
        </p:spPr>
      </p:pic>
      <p:sp>
        <p:nvSpPr>
          <p:cNvPr id="17" name="Text 12"/>
          <p:cNvSpPr/>
          <p:nvPr/>
        </p:nvSpPr>
        <p:spPr>
          <a:xfrm>
            <a:off x="8942832" y="1975104"/>
            <a:ext cx="2606040" cy="5943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Structured activation</a:t>
            </a:r>
            <a:endParaRPr lang="en-US" sz="1250" dirty="0"/>
          </a:p>
        </p:txBody>
      </p:sp>
      <p:sp>
        <p:nvSpPr>
          <p:cNvPr id="18" name="Text 13"/>
          <p:cNvSpPr/>
          <p:nvPr/>
        </p:nvSpPr>
        <p:spPr>
          <a:xfrm>
            <a:off x="8284464" y="2606040"/>
            <a:ext cx="3182112" cy="1024128"/>
          </a:xfrm>
          <a:prstGeom prst="rect">
            <a:avLst/>
          </a:prstGeom>
          <a:noFill/>
          <a:ln/>
        </p:spPr>
        <p:txBody>
          <a:bodyPr wrap="square" lIns="0" tIns="0" rIns="0" bIns="0" rtlCol="0" anchor="ctr"/>
          <a:lstStyle/>
          <a:p>
            <a:pPr indent="0" marL="0">
              <a:buNone/>
            </a:pPr>
            <a:r>
              <a:rPr lang="en-US" sz="1000" dirty="0">
                <a:solidFill>
                  <a:srgbClr val="595959"/>
                </a:solidFill>
                <a:latin typeface="Montserrat Medium" pitchFamily="34" charset="0"/>
                <a:ea typeface="Montserrat Medium" pitchFamily="34" charset="-122"/>
                <a:cs typeface="Montserrat Medium" pitchFamily="34" charset="-120"/>
              </a:rPr>
              <a:t>A joint kickoff with your team, a year-one engagement plan, promo codes, and enrollment workflows configured for your properties</a:t>
            </a:r>
            <a:endParaRPr lang="en-US" sz="1000" dirty="0"/>
          </a:p>
        </p:txBody>
      </p:sp>
      <p:sp>
        <p:nvSpPr>
          <p:cNvPr id="19" name="Shape 14"/>
          <p:cNvSpPr/>
          <p:nvPr/>
        </p:nvSpPr>
        <p:spPr>
          <a:xfrm>
            <a:off x="640080" y="3886200"/>
            <a:ext cx="3520440" cy="1874520"/>
          </a:xfrm>
          <a:prstGeom prst="roundRect">
            <a:avLst>
              <a:gd name="adj" fmla="val 4390"/>
            </a:avLst>
          </a:prstGeom>
          <a:solidFill>
            <a:srgbClr val="F2F8EC"/>
          </a:solidFill>
          <a:ln/>
        </p:spPr>
      </p:sp>
      <p:sp>
        <p:nvSpPr>
          <p:cNvPr id="20" name="Shape 15"/>
          <p:cNvSpPr/>
          <p:nvPr/>
        </p:nvSpPr>
        <p:spPr>
          <a:xfrm>
            <a:off x="822960" y="4087368"/>
            <a:ext cx="512064" cy="512064"/>
          </a:xfrm>
          <a:prstGeom prst="ellipse">
            <a:avLst/>
          </a:prstGeom>
          <a:solidFill>
            <a:srgbClr val="FFFFFF"/>
          </a:solidFill>
          <a:ln w="15240">
            <a:solidFill>
              <a:srgbClr val="196B24"/>
            </a:solidFill>
            <a:prstDash val="solid"/>
          </a:ln>
        </p:spPr>
      </p:sp>
      <p:pic>
        <p:nvPicPr>
          <p:cNvPr id="21" name="Image 3" descr="preencoded.png">    </p:cNvPr>
          <p:cNvPicPr>
            <a:picLocks noChangeAspect="1"/>
          </p:cNvPicPr>
          <p:nvPr/>
        </p:nvPicPr>
        <p:blipFill>
          <a:blip r:embed="rId4"/>
          <a:stretch>
            <a:fillRect/>
          </a:stretch>
        </p:blipFill>
        <p:spPr>
          <a:xfrm>
            <a:off x="950976" y="4215384"/>
            <a:ext cx="256032" cy="256032"/>
          </a:xfrm>
          <a:prstGeom prst="rect">
            <a:avLst/>
          </a:prstGeom>
        </p:spPr>
      </p:pic>
      <p:sp>
        <p:nvSpPr>
          <p:cNvPr id="22" name="Text 16"/>
          <p:cNvSpPr/>
          <p:nvPr/>
        </p:nvSpPr>
        <p:spPr>
          <a:xfrm>
            <a:off x="1481328" y="4032504"/>
            <a:ext cx="2606040" cy="5943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Co-marketing launch</a:t>
            </a:r>
            <a:endParaRPr lang="en-US" sz="1250" dirty="0"/>
          </a:p>
        </p:txBody>
      </p:sp>
      <p:sp>
        <p:nvSpPr>
          <p:cNvPr id="23" name="Text 17"/>
          <p:cNvSpPr/>
          <p:nvPr/>
        </p:nvSpPr>
        <p:spPr>
          <a:xfrm>
            <a:off x="822960" y="4663440"/>
            <a:ext cx="3182112" cy="1024128"/>
          </a:xfrm>
          <a:prstGeom prst="rect">
            <a:avLst/>
          </a:prstGeom>
          <a:noFill/>
          <a:ln/>
        </p:spPr>
        <p:txBody>
          <a:bodyPr wrap="square" lIns="0" tIns="0" rIns="0" bIns="0" rtlCol="0" anchor="ctr"/>
          <a:lstStyle/>
          <a:p>
            <a:pPr indent="0" marL="0">
              <a:buNone/>
            </a:pPr>
            <a:r>
              <a:rPr lang="en-US" sz="1000" dirty="0">
                <a:solidFill>
                  <a:srgbClr val="595959"/>
                </a:solidFill>
                <a:latin typeface="Montserrat Medium" pitchFamily="34" charset="0"/>
                <a:ea typeface="Montserrat Medium" pitchFamily="34" charset="-122"/>
                <a:cs typeface="Montserrat Medium" pitchFamily="34" charset="-120"/>
              </a:rPr>
              <a:t>A joint launch plan with agreed messaging across PR, web, social, and email, supported by our templates</a:t>
            </a:r>
            <a:endParaRPr lang="en-US" sz="1000" dirty="0"/>
          </a:p>
        </p:txBody>
      </p:sp>
      <p:sp>
        <p:nvSpPr>
          <p:cNvPr id="24" name="Shape 18"/>
          <p:cNvSpPr/>
          <p:nvPr/>
        </p:nvSpPr>
        <p:spPr>
          <a:xfrm>
            <a:off x="4370832" y="3886200"/>
            <a:ext cx="3520440" cy="1874520"/>
          </a:xfrm>
          <a:prstGeom prst="roundRect">
            <a:avLst>
              <a:gd name="adj" fmla="val 4390"/>
            </a:avLst>
          </a:prstGeom>
          <a:solidFill>
            <a:srgbClr val="F2F8EC"/>
          </a:solidFill>
          <a:ln/>
        </p:spPr>
      </p:sp>
      <p:sp>
        <p:nvSpPr>
          <p:cNvPr id="25" name="Shape 19"/>
          <p:cNvSpPr/>
          <p:nvPr/>
        </p:nvSpPr>
        <p:spPr>
          <a:xfrm>
            <a:off x="4553712" y="4087368"/>
            <a:ext cx="512064" cy="512064"/>
          </a:xfrm>
          <a:prstGeom prst="ellipse">
            <a:avLst/>
          </a:prstGeom>
          <a:solidFill>
            <a:srgbClr val="FFFFFF"/>
          </a:solidFill>
          <a:ln w="15240">
            <a:solidFill>
              <a:srgbClr val="196B24"/>
            </a:solidFill>
            <a:prstDash val="solid"/>
          </a:ln>
        </p:spPr>
      </p:sp>
      <p:pic>
        <p:nvPicPr>
          <p:cNvPr id="26" name="Image 4" descr="preencoded.png">    </p:cNvPr>
          <p:cNvPicPr>
            <a:picLocks noChangeAspect="1"/>
          </p:cNvPicPr>
          <p:nvPr/>
        </p:nvPicPr>
        <p:blipFill>
          <a:blip r:embed="rId5"/>
          <a:stretch>
            <a:fillRect/>
          </a:stretch>
        </p:blipFill>
        <p:spPr>
          <a:xfrm>
            <a:off x="4681728" y="4215384"/>
            <a:ext cx="256032" cy="256032"/>
          </a:xfrm>
          <a:prstGeom prst="rect">
            <a:avLst/>
          </a:prstGeom>
        </p:spPr>
      </p:pic>
      <p:sp>
        <p:nvSpPr>
          <p:cNvPr id="27" name="Text 20"/>
          <p:cNvSpPr/>
          <p:nvPr/>
        </p:nvSpPr>
        <p:spPr>
          <a:xfrm>
            <a:off x="5212080" y="4032504"/>
            <a:ext cx="2606040" cy="5943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Quarterly reporting</a:t>
            </a:r>
            <a:endParaRPr lang="en-US" sz="1250" dirty="0"/>
          </a:p>
        </p:txBody>
      </p:sp>
      <p:sp>
        <p:nvSpPr>
          <p:cNvPr id="28" name="Text 21"/>
          <p:cNvSpPr/>
          <p:nvPr/>
        </p:nvSpPr>
        <p:spPr>
          <a:xfrm>
            <a:off x="4553712" y="4663440"/>
            <a:ext cx="3182112" cy="1024128"/>
          </a:xfrm>
          <a:prstGeom prst="rect">
            <a:avLst/>
          </a:prstGeom>
          <a:noFill/>
          <a:ln/>
        </p:spPr>
        <p:txBody>
          <a:bodyPr wrap="square" lIns="0" tIns="0" rIns="0" bIns="0" rtlCol="0" anchor="ctr"/>
          <a:lstStyle/>
          <a:p>
            <a:pPr indent="0" marL="0">
              <a:buNone/>
            </a:pPr>
            <a:r>
              <a:rPr lang="en-US" sz="1000" dirty="0">
                <a:solidFill>
                  <a:srgbClr val="595959"/>
                </a:solidFill>
                <a:latin typeface="Montserrat Medium" pitchFamily="34" charset="0"/>
                <a:ea typeface="Montserrat Medium" pitchFamily="34" charset="-122"/>
                <a:cs typeface="Montserrat Medium" pitchFamily="34" charset="-120"/>
              </a:rPr>
              <a:t>Partnership progress reports tracking certification, participation, and impact against agreed targets</a:t>
            </a:r>
            <a:endParaRPr lang="en-US" sz="1000" dirty="0"/>
          </a:p>
        </p:txBody>
      </p:sp>
      <p:sp>
        <p:nvSpPr>
          <p:cNvPr id="29" name="Shape 22"/>
          <p:cNvSpPr/>
          <p:nvPr/>
        </p:nvSpPr>
        <p:spPr>
          <a:xfrm>
            <a:off x="8101584" y="3886200"/>
            <a:ext cx="3520440" cy="1874520"/>
          </a:xfrm>
          <a:prstGeom prst="roundRect">
            <a:avLst>
              <a:gd name="adj" fmla="val 4390"/>
            </a:avLst>
          </a:prstGeom>
          <a:solidFill>
            <a:srgbClr val="F2F8EC"/>
          </a:solidFill>
          <a:ln/>
        </p:spPr>
      </p:sp>
      <p:sp>
        <p:nvSpPr>
          <p:cNvPr id="30" name="Shape 23"/>
          <p:cNvSpPr/>
          <p:nvPr/>
        </p:nvSpPr>
        <p:spPr>
          <a:xfrm>
            <a:off x="8284464" y="4087368"/>
            <a:ext cx="512064" cy="512064"/>
          </a:xfrm>
          <a:prstGeom prst="ellipse">
            <a:avLst/>
          </a:prstGeom>
          <a:solidFill>
            <a:srgbClr val="FFFFFF"/>
          </a:solidFill>
          <a:ln w="15240">
            <a:solidFill>
              <a:srgbClr val="196B24"/>
            </a:solidFill>
            <a:prstDash val="solid"/>
          </a:ln>
        </p:spPr>
      </p:sp>
      <p:pic>
        <p:nvPicPr>
          <p:cNvPr id="31" name="Image 5" descr="preencoded.png">    </p:cNvPr>
          <p:cNvPicPr>
            <a:picLocks noChangeAspect="1"/>
          </p:cNvPicPr>
          <p:nvPr/>
        </p:nvPicPr>
        <p:blipFill>
          <a:blip r:embed="rId6"/>
          <a:stretch>
            <a:fillRect/>
          </a:stretch>
        </p:blipFill>
        <p:spPr>
          <a:xfrm>
            <a:off x="8412480" y="4215384"/>
            <a:ext cx="256032" cy="256032"/>
          </a:xfrm>
          <a:prstGeom prst="rect">
            <a:avLst/>
          </a:prstGeom>
        </p:spPr>
      </p:pic>
      <p:sp>
        <p:nvSpPr>
          <p:cNvPr id="32" name="Text 24"/>
          <p:cNvSpPr/>
          <p:nvPr/>
        </p:nvSpPr>
        <p:spPr>
          <a:xfrm>
            <a:off x="8942832" y="4032504"/>
            <a:ext cx="2606040" cy="5943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Fast-track equivalencies</a:t>
            </a:r>
            <a:endParaRPr lang="en-US" sz="1250" dirty="0"/>
          </a:p>
        </p:txBody>
      </p:sp>
      <p:sp>
        <p:nvSpPr>
          <p:cNvPr id="33" name="Text 25"/>
          <p:cNvSpPr/>
          <p:nvPr/>
        </p:nvSpPr>
        <p:spPr>
          <a:xfrm>
            <a:off x="8284464" y="4663440"/>
            <a:ext cx="3182112" cy="1024128"/>
          </a:xfrm>
          <a:prstGeom prst="rect">
            <a:avLst/>
          </a:prstGeom>
          <a:noFill/>
          <a:ln/>
        </p:spPr>
        <p:txBody>
          <a:bodyPr wrap="square" lIns="0" tIns="0" rIns="0" bIns="0" rtlCol="0" anchor="ctr"/>
          <a:lstStyle/>
          <a:p>
            <a:pPr indent="0" marL="0">
              <a:buNone/>
            </a:pPr>
            <a:r>
              <a:rPr lang="en-US" sz="1000" dirty="0">
                <a:solidFill>
                  <a:srgbClr val="595959"/>
                </a:solidFill>
                <a:latin typeface="Montserrat Medium" pitchFamily="34" charset="0"/>
                <a:ea typeface="Montserrat Medium" pitchFamily="34" charset="-122"/>
                <a:cs typeface="Montserrat Medium" pitchFamily="34" charset="-120"/>
              </a:rPr>
              <a:t>Where a brand program equivalency exists, work your properties have already done is credited toward certification</a:t>
            </a:r>
            <a:endParaRPr lang="en-US" sz="1000" dirty="0"/>
          </a:p>
        </p:txBody>
      </p:sp>
      <p:sp>
        <p:nvSpPr>
          <p:cNvPr id="34" name="Text 26"/>
          <p:cNvSpPr/>
          <p:nvPr/>
        </p:nvSpPr>
        <p:spPr>
          <a:xfrm>
            <a:off x="640080" y="5897880"/>
            <a:ext cx="10908792" cy="411480"/>
          </a:xfrm>
          <a:prstGeom prst="rect">
            <a:avLst/>
          </a:prstGeom>
          <a:noFill/>
          <a:ln/>
        </p:spPr>
        <p:txBody>
          <a:bodyPr wrap="square" lIns="0" tIns="0" rIns="0" bIns="0" rtlCol="0" anchor="ctr"/>
          <a:lstStyle/>
          <a:p>
            <a:pPr algn="ctr" indent="0" marL="0">
              <a:buNone/>
            </a:pPr>
            <a:r>
              <a:rPr lang="en-US" sz="1250" b="1" dirty="0">
                <a:solidFill>
                  <a:srgbClr val="196B24"/>
                </a:solidFill>
                <a:latin typeface="Montserrat Medium" pitchFamily="34" charset="0"/>
                <a:ea typeface="Montserrat Medium" pitchFamily="34" charset="-122"/>
                <a:cs typeface="Montserrat Medium" pitchFamily="34" charset="-120"/>
              </a:rPr>
              <a:t>If your flags or group already hold an agreement with us, your properties may have simplified enrollment waiting. Ask before enrolling individually.</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THE PARTNERSHIP JOURNEY</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From first conversation to renewal</a:t>
            </a:r>
            <a:endParaRPr lang="en-US" sz="1700" dirty="0"/>
          </a:p>
        </p:txBody>
      </p:sp>
      <p:sp>
        <p:nvSpPr>
          <p:cNvPr id="4" name="Shape 2"/>
          <p:cNvSpPr/>
          <p:nvPr/>
        </p:nvSpPr>
        <p:spPr>
          <a:xfrm>
            <a:off x="640080" y="1828800"/>
            <a:ext cx="2606040" cy="3566160"/>
          </a:xfrm>
          <a:prstGeom prst="roundRect">
            <a:avLst>
              <a:gd name="adj" fmla="val 3158"/>
            </a:avLst>
          </a:prstGeom>
          <a:solidFill>
            <a:srgbClr val="F2F8EC"/>
          </a:solidFill>
          <a:ln/>
        </p:spPr>
      </p:sp>
      <p:sp>
        <p:nvSpPr>
          <p:cNvPr id="5" name="Text 3"/>
          <p:cNvSpPr/>
          <p:nvPr/>
        </p:nvSpPr>
        <p:spPr>
          <a:xfrm>
            <a:off x="822960" y="1993392"/>
            <a:ext cx="685800" cy="685800"/>
          </a:xfrm>
          <a:prstGeom prst="rect">
            <a:avLst/>
          </a:prstGeom>
          <a:noFill/>
          <a:ln/>
        </p:spPr>
        <p:txBody>
          <a:bodyPr wrap="square" lIns="0" tIns="0" rIns="0" bIns="0" rtlCol="0" anchor="ctr"/>
          <a:lstStyle/>
          <a:p>
            <a:pPr indent="0" marL="0">
              <a:buNone/>
            </a:pPr>
            <a:r>
              <a:rPr lang="en-US" sz="3400" b="1" dirty="0">
                <a:solidFill>
                  <a:srgbClr val="92D050"/>
                </a:solidFill>
                <a:latin typeface="Montserrat" pitchFamily="34" charset="0"/>
                <a:ea typeface="Montserrat" pitchFamily="34" charset="-122"/>
                <a:cs typeface="Montserrat" pitchFamily="34" charset="-120"/>
              </a:rPr>
              <a:t>1</a:t>
            </a:r>
            <a:endParaRPr lang="en-US" sz="3400" dirty="0"/>
          </a:p>
        </p:txBody>
      </p:sp>
      <p:sp>
        <p:nvSpPr>
          <p:cNvPr id="6" name="Text 4"/>
          <p:cNvSpPr/>
          <p:nvPr/>
        </p:nvSpPr>
        <p:spPr>
          <a:xfrm>
            <a:off x="822960" y="2697480"/>
            <a:ext cx="2240280" cy="457200"/>
          </a:xfrm>
          <a:prstGeom prst="rect">
            <a:avLst/>
          </a:prstGeom>
          <a:noFill/>
          <a:ln/>
        </p:spPr>
        <p:txBody>
          <a:bodyPr wrap="square" lIns="0" tIns="0" rIns="0" bIns="0" rtlCol="0" anchor="ctr"/>
          <a:lstStyle/>
          <a:p>
            <a:pPr indent="0" marL="0">
              <a:buNone/>
            </a:pPr>
            <a:r>
              <a:rPr lang="en-US" sz="1450" b="1" dirty="0">
                <a:solidFill>
                  <a:srgbClr val="1A1A1A"/>
                </a:solidFill>
                <a:latin typeface="Montserrat Medium" pitchFamily="34" charset="0"/>
                <a:ea typeface="Montserrat Medium" pitchFamily="34" charset="-122"/>
                <a:cs typeface="Montserrat Medium" pitchFamily="34" charset="-120"/>
              </a:rPr>
              <a:t>Explore &amp; Agree</a:t>
            </a:r>
            <a:endParaRPr lang="en-US" sz="1450" dirty="0"/>
          </a:p>
        </p:txBody>
      </p:sp>
      <p:sp>
        <p:nvSpPr>
          <p:cNvPr id="7" name="Text 5"/>
          <p:cNvSpPr/>
          <p:nvPr/>
        </p:nvSpPr>
        <p:spPr>
          <a:xfrm>
            <a:off x="822960" y="3200400"/>
            <a:ext cx="2286000" cy="210312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Discovery of your portfolio goals and timelines</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Tailored proposal and term sheet</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MSA or MOU with negotiated rates</a:t>
            </a:r>
            <a:endParaRPr lang="en-US" sz="1050" dirty="0"/>
          </a:p>
        </p:txBody>
      </p:sp>
      <p:sp>
        <p:nvSpPr>
          <p:cNvPr id="8" name="Text 6"/>
          <p:cNvSpPr/>
          <p:nvPr/>
        </p:nvSpPr>
        <p:spPr>
          <a:xfrm>
            <a:off x="3236976" y="3383280"/>
            <a:ext cx="192024" cy="457200"/>
          </a:xfrm>
          <a:prstGeom prst="rect">
            <a:avLst/>
          </a:prstGeom>
          <a:noFill/>
          <a:ln/>
        </p:spPr>
        <p:txBody>
          <a:bodyPr wrap="square" lIns="0" tIns="0" rIns="0" bIns="0" rtlCol="0" anchor="ctr"/>
          <a:lstStyle/>
          <a:p>
            <a:pPr algn="ctr" indent="0" marL="0">
              <a:buNone/>
            </a:pPr>
            <a:r>
              <a:rPr lang="en-US" sz="1600" b="1" dirty="0">
                <a:solidFill>
                  <a:srgbClr val="92D050"/>
                </a:solidFill>
                <a:latin typeface="Montserrat Medium" pitchFamily="34" charset="0"/>
                <a:ea typeface="Montserrat Medium" pitchFamily="34" charset="-122"/>
                <a:cs typeface="Montserrat Medium" pitchFamily="34" charset="-120"/>
              </a:rPr>
              <a:t>→</a:t>
            </a:r>
            <a:endParaRPr lang="en-US" sz="1600" dirty="0"/>
          </a:p>
        </p:txBody>
      </p:sp>
      <p:sp>
        <p:nvSpPr>
          <p:cNvPr id="9" name="Shape 7"/>
          <p:cNvSpPr/>
          <p:nvPr/>
        </p:nvSpPr>
        <p:spPr>
          <a:xfrm>
            <a:off x="3410712" y="1828800"/>
            <a:ext cx="2606040" cy="3566160"/>
          </a:xfrm>
          <a:prstGeom prst="roundRect">
            <a:avLst>
              <a:gd name="adj" fmla="val 3158"/>
            </a:avLst>
          </a:prstGeom>
          <a:solidFill>
            <a:srgbClr val="F2F8EC"/>
          </a:solidFill>
          <a:ln/>
        </p:spPr>
      </p:sp>
      <p:sp>
        <p:nvSpPr>
          <p:cNvPr id="10" name="Text 8"/>
          <p:cNvSpPr/>
          <p:nvPr/>
        </p:nvSpPr>
        <p:spPr>
          <a:xfrm>
            <a:off x="3593592" y="1993392"/>
            <a:ext cx="685800" cy="685800"/>
          </a:xfrm>
          <a:prstGeom prst="rect">
            <a:avLst/>
          </a:prstGeom>
          <a:noFill/>
          <a:ln/>
        </p:spPr>
        <p:txBody>
          <a:bodyPr wrap="square" lIns="0" tIns="0" rIns="0" bIns="0" rtlCol="0" anchor="ctr"/>
          <a:lstStyle/>
          <a:p>
            <a:pPr indent="0" marL="0">
              <a:buNone/>
            </a:pPr>
            <a:r>
              <a:rPr lang="en-US" sz="3400" b="1" dirty="0">
                <a:solidFill>
                  <a:srgbClr val="92D050"/>
                </a:solidFill>
                <a:latin typeface="Montserrat" pitchFamily="34" charset="0"/>
                <a:ea typeface="Montserrat" pitchFamily="34" charset="-122"/>
                <a:cs typeface="Montserrat" pitchFamily="34" charset="-120"/>
              </a:rPr>
              <a:t>2</a:t>
            </a:r>
            <a:endParaRPr lang="en-US" sz="3400" dirty="0"/>
          </a:p>
        </p:txBody>
      </p:sp>
      <p:sp>
        <p:nvSpPr>
          <p:cNvPr id="11" name="Text 9"/>
          <p:cNvSpPr/>
          <p:nvPr/>
        </p:nvSpPr>
        <p:spPr>
          <a:xfrm>
            <a:off x="3593592" y="2697480"/>
            <a:ext cx="2240280" cy="457200"/>
          </a:xfrm>
          <a:prstGeom prst="rect">
            <a:avLst/>
          </a:prstGeom>
          <a:noFill/>
          <a:ln/>
        </p:spPr>
        <p:txBody>
          <a:bodyPr wrap="square" lIns="0" tIns="0" rIns="0" bIns="0" rtlCol="0" anchor="ctr"/>
          <a:lstStyle/>
          <a:p>
            <a:pPr indent="0" marL="0">
              <a:buNone/>
            </a:pPr>
            <a:r>
              <a:rPr lang="en-US" sz="1450" b="1" dirty="0">
                <a:solidFill>
                  <a:srgbClr val="1A1A1A"/>
                </a:solidFill>
                <a:latin typeface="Montserrat Medium" pitchFamily="34" charset="0"/>
                <a:ea typeface="Montserrat Medium" pitchFamily="34" charset="-122"/>
                <a:cs typeface="Montserrat Medium" pitchFamily="34" charset="-120"/>
              </a:rPr>
              <a:t>Onboard</a:t>
            </a:r>
            <a:endParaRPr lang="en-US" sz="1450" dirty="0"/>
          </a:p>
        </p:txBody>
      </p:sp>
      <p:sp>
        <p:nvSpPr>
          <p:cNvPr id="12" name="Text 10"/>
          <p:cNvSpPr/>
          <p:nvPr/>
        </p:nvSpPr>
        <p:spPr>
          <a:xfrm>
            <a:off x="3593592" y="3200400"/>
            <a:ext cx="2286000" cy="210312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Activation meeting with your team</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Dedicated Account Manager assigned</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Promo codes, workflows, co-marketing launch</a:t>
            </a:r>
            <a:endParaRPr lang="en-US" sz="1050" dirty="0"/>
          </a:p>
        </p:txBody>
      </p:sp>
      <p:sp>
        <p:nvSpPr>
          <p:cNvPr id="13" name="Text 11"/>
          <p:cNvSpPr/>
          <p:nvPr/>
        </p:nvSpPr>
        <p:spPr>
          <a:xfrm>
            <a:off x="6007608" y="3383280"/>
            <a:ext cx="192024" cy="457200"/>
          </a:xfrm>
          <a:prstGeom prst="rect">
            <a:avLst/>
          </a:prstGeom>
          <a:noFill/>
          <a:ln/>
        </p:spPr>
        <p:txBody>
          <a:bodyPr wrap="square" lIns="0" tIns="0" rIns="0" bIns="0" rtlCol="0" anchor="ctr"/>
          <a:lstStyle/>
          <a:p>
            <a:pPr algn="ctr" indent="0" marL="0">
              <a:buNone/>
            </a:pPr>
            <a:r>
              <a:rPr lang="en-US" sz="1600" b="1" dirty="0">
                <a:solidFill>
                  <a:srgbClr val="92D050"/>
                </a:solidFill>
                <a:latin typeface="Montserrat Medium" pitchFamily="34" charset="0"/>
                <a:ea typeface="Montserrat Medium" pitchFamily="34" charset="-122"/>
                <a:cs typeface="Montserrat Medium" pitchFamily="34" charset="-120"/>
              </a:rPr>
              <a:t>→</a:t>
            </a:r>
            <a:endParaRPr lang="en-US" sz="1600" dirty="0"/>
          </a:p>
        </p:txBody>
      </p:sp>
      <p:sp>
        <p:nvSpPr>
          <p:cNvPr id="14" name="Shape 12"/>
          <p:cNvSpPr/>
          <p:nvPr/>
        </p:nvSpPr>
        <p:spPr>
          <a:xfrm>
            <a:off x="6181344" y="1828800"/>
            <a:ext cx="2606040" cy="3566160"/>
          </a:xfrm>
          <a:prstGeom prst="roundRect">
            <a:avLst>
              <a:gd name="adj" fmla="val 3158"/>
            </a:avLst>
          </a:prstGeom>
          <a:solidFill>
            <a:srgbClr val="F2F8EC"/>
          </a:solidFill>
          <a:ln/>
        </p:spPr>
      </p:sp>
      <p:sp>
        <p:nvSpPr>
          <p:cNvPr id="15" name="Text 13"/>
          <p:cNvSpPr/>
          <p:nvPr/>
        </p:nvSpPr>
        <p:spPr>
          <a:xfrm>
            <a:off x="6364224" y="1993392"/>
            <a:ext cx="685800" cy="685800"/>
          </a:xfrm>
          <a:prstGeom prst="rect">
            <a:avLst/>
          </a:prstGeom>
          <a:noFill/>
          <a:ln/>
        </p:spPr>
        <p:txBody>
          <a:bodyPr wrap="square" lIns="0" tIns="0" rIns="0" bIns="0" rtlCol="0" anchor="ctr"/>
          <a:lstStyle/>
          <a:p>
            <a:pPr indent="0" marL="0">
              <a:buNone/>
            </a:pPr>
            <a:r>
              <a:rPr lang="en-US" sz="3400" b="1" dirty="0">
                <a:solidFill>
                  <a:srgbClr val="92D050"/>
                </a:solidFill>
                <a:latin typeface="Montserrat" pitchFamily="34" charset="0"/>
                <a:ea typeface="Montserrat" pitchFamily="34" charset="-122"/>
                <a:cs typeface="Montserrat" pitchFamily="34" charset="-120"/>
              </a:rPr>
              <a:t>3</a:t>
            </a:r>
            <a:endParaRPr lang="en-US" sz="3400" dirty="0"/>
          </a:p>
        </p:txBody>
      </p:sp>
      <p:sp>
        <p:nvSpPr>
          <p:cNvPr id="16" name="Text 14"/>
          <p:cNvSpPr/>
          <p:nvPr/>
        </p:nvSpPr>
        <p:spPr>
          <a:xfrm>
            <a:off x="6364224" y="2697480"/>
            <a:ext cx="2240280" cy="457200"/>
          </a:xfrm>
          <a:prstGeom prst="rect">
            <a:avLst/>
          </a:prstGeom>
          <a:noFill/>
          <a:ln/>
        </p:spPr>
        <p:txBody>
          <a:bodyPr wrap="square" lIns="0" tIns="0" rIns="0" bIns="0" rtlCol="0" anchor="ctr"/>
          <a:lstStyle/>
          <a:p>
            <a:pPr indent="0" marL="0">
              <a:buNone/>
            </a:pPr>
            <a:r>
              <a:rPr lang="en-US" sz="1450" b="1" dirty="0">
                <a:solidFill>
                  <a:srgbClr val="1A1A1A"/>
                </a:solidFill>
                <a:latin typeface="Montserrat Medium" pitchFamily="34" charset="0"/>
                <a:ea typeface="Montserrat Medium" pitchFamily="34" charset="-122"/>
                <a:cs typeface="Montserrat Medium" pitchFamily="34" charset="-120"/>
              </a:rPr>
              <a:t>Execute</a:t>
            </a:r>
            <a:endParaRPr lang="en-US" sz="1450" dirty="0"/>
          </a:p>
        </p:txBody>
      </p:sp>
      <p:sp>
        <p:nvSpPr>
          <p:cNvPr id="17" name="Text 15"/>
          <p:cNvSpPr/>
          <p:nvPr/>
        </p:nvSpPr>
        <p:spPr>
          <a:xfrm>
            <a:off x="6364224" y="3200400"/>
            <a:ext cx="2286000" cy="210312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Property rollout and certification support</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Best-practice guidance on demand</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Quarterly and annual progress reports</a:t>
            </a:r>
            <a:endParaRPr lang="en-US" sz="1050" dirty="0"/>
          </a:p>
        </p:txBody>
      </p:sp>
      <p:sp>
        <p:nvSpPr>
          <p:cNvPr id="18" name="Text 16"/>
          <p:cNvSpPr/>
          <p:nvPr/>
        </p:nvSpPr>
        <p:spPr>
          <a:xfrm>
            <a:off x="8778240" y="3383280"/>
            <a:ext cx="192024" cy="457200"/>
          </a:xfrm>
          <a:prstGeom prst="rect">
            <a:avLst/>
          </a:prstGeom>
          <a:noFill/>
          <a:ln/>
        </p:spPr>
        <p:txBody>
          <a:bodyPr wrap="square" lIns="0" tIns="0" rIns="0" bIns="0" rtlCol="0" anchor="ctr"/>
          <a:lstStyle/>
          <a:p>
            <a:pPr algn="ctr" indent="0" marL="0">
              <a:buNone/>
            </a:pPr>
            <a:r>
              <a:rPr lang="en-US" sz="1600" b="1" dirty="0">
                <a:solidFill>
                  <a:srgbClr val="92D050"/>
                </a:solidFill>
                <a:latin typeface="Montserrat Medium" pitchFamily="34" charset="0"/>
                <a:ea typeface="Montserrat Medium" pitchFamily="34" charset="-122"/>
                <a:cs typeface="Montserrat Medium" pitchFamily="34" charset="-120"/>
              </a:rPr>
              <a:t>→</a:t>
            </a:r>
            <a:endParaRPr lang="en-US" sz="1600" dirty="0"/>
          </a:p>
        </p:txBody>
      </p:sp>
      <p:sp>
        <p:nvSpPr>
          <p:cNvPr id="19" name="Shape 17"/>
          <p:cNvSpPr/>
          <p:nvPr/>
        </p:nvSpPr>
        <p:spPr>
          <a:xfrm>
            <a:off x="8951976" y="1828800"/>
            <a:ext cx="2606040" cy="3566160"/>
          </a:xfrm>
          <a:prstGeom prst="roundRect">
            <a:avLst>
              <a:gd name="adj" fmla="val 3158"/>
            </a:avLst>
          </a:prstGeom>
          <a:solidFill>
            <a:srgbClr val="F2F8EC"/>
          </a:solidFill>
          <a:ln/>
        </p:spPr>
      </p:sp>
      <p:sp>
        <p:nvSpPr>
          <p:cNvPr id="20" name="Text 18"/>
          <p:cNvSpPr/>
          <p:nvPr/>
        </p:nvSpPr>
        <p:spPr>
          <a:xfrm>
            <a:off x="9134856" y="1993392"/>
            <a:ext cx="685800" cy="685800"/>
          </a:xfrm>
          <a:prstGeom prst="rect">
            <a:avLst/>
          </a:prstGeom>
          <a:noFill/>
          <a:ln/>
        </p:spPr>
        <p:txBody>
          <a:bodyPr wrap="square" lIns="0" tIns="0" rIns="0" bIns="0" rtlCol="0" anchor="ctr"/>
          <a:lstStyle/>
          <a:p>
            <a:pPr indent="0" marL="0">
              <a:buNone/>
            </a:pPr>
            <a:r>
              <a:rPr lang="en-US" sz="3400" b="1" dirty="0">
                <a:solidFill>
                  <a:srgbClr val="92D050"/>
                </a:solidFill>
                <a:latin typeface="Montserrat" pitchFamily="34" charset="0"/>
                <a:ea typeface="Montserrat" pitchFamily="34" charset="-122"/>
                <a:cs typeface="Montserrat" pitchFamily="34" charset="-120"/>
              </a:rPr>
              <a:t>4</a:t>
            </a:r>
            <a:endParaRPr lang="en-US" sz="3400" dirty="0"/>
          </a:p>
        </p:txBody>
      </p:sp>
      <p:sp>
        <p:nvSpPr>
          <p:cNvPr id="21" name="Text 19"/>
          <p:cNvSpPr/>
          <p:nvPr/>
        </p:nvSpPr>
        <p:spPr>
          <a:xfrm>
            <a:off x="9134856" y="2697480"/>
            <a:ext cx="2240280" cy="457200"/>
          </a:xfrm>
          <a:prstGeom prst="rect">
            <a:avLst/>
          </a:prstGeom>
          <a:noFill/>
          <a:ln/>
        </p:spPr>
        <p:txBody>
          <a:bodyPr wrap="square" lIns="0" tIns="0" rIns="0" bIns="0" rtlCol="0" anchor="ctr"/>
          <a:lstStyle/>
          <a:p>
            <a:pPr indent="0" marL="0">
              <a:buNone/>
            </a:pPr>
            <a:r>
              <a:rPr lang="en-US" sz="1450" b="1" dirty="0">
                <a:solidFill>
                  <a:srgbClr val="1A1A1A"/>
                </a:solidFill>
                <a:latin typeface="Montserrat Medium" pitchFamily="34" charset="0"/>
                <a:ea typeface="Montserrat Medium" pitchFamily="34" charset="-122"/>
                <a:cs typeface="Montserrat Medium" pitchFamily="34" charset="-120"/>
              </a:rPr>
              <a:t>Grow &amp; Renew</a:t>
            </a:r>
            <a:endParaRPr lang="en-US" sz="1450" dirty="0"/>
          </a:p>
        </p:txBody>
      </p:sp>
      <p:sp>
        <p:nvSpPr>
          <p:cNvPr id="22" name="Text 20"/>
          <p:cNvSpPr/>
          <p:nvPr/>
        </p:nvSpPr>
        <p:spPr>
          <a:xfrm>
            <a:off x="9134856" y="3200400"/>
            <a:ext cx="2286000" cy="2103120"/>
          </a:xfrm>
          <a:prstGeom prst="rect">
            <a:avLst/>
          </a:prstGeom>
          <a:noFill/>
          <a:ln/>
        </p:spPr>
        <p:txBody>
          <a:bodyPr wrap="square" lIns="0" tIns="0" rIns="0" bIns="0" rtlCol="0" anchor="ctr"/>
          <a:lstStyle/>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Annual review against agreed targets</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Expansion across the portfolio</a:t>
            </a:r>
            <a:endParaRPr lang="en-US" sz="1050" dirty="0"/>
          </a:p>
          <a:p>
            <a:pPr marL="342900" indent="-342900">
              <a:spcAft>
                <a:spcPts val="800"/>
              </a:spcAft>
              <a:buSzPct val="100000"/>
              <a:buChar char="•"/>
            </a:pPr>
            <a:r>
              <a:rPr lang="en-US" sz="1050" dirty="0">
                <a:solidFill>
                  <a:srgbClr val="222222"/>
                </a:solidFill>
                <a:latin typeface="Montserrat Medium" pitchFamily="34" charset="0"/>
                <a:ea typeface="Montserrat Medium" pitchFamily="34" charset="-122"/>
                <a:cs typeface="Montserrat Medium" pitchFamily="34" charset="-120"/>
              </a:rPr>
              <a:t>Renewal on proven results</a:t>
            </a:r>
            <a:endParaRPr lang="en-US" sz="1050" dirty="0"/>
          </a:p>
        </p:txBody>
      </p:sp>
      <p:sp>
        <p:nvSpPr>
          <p:cNvPr id="23" name="Text 21"/>
          <p:cNvSpPr/>
          <p:nvPr/>
        </p:nvSpPr>
        <p:spPr>
          <a:xfrm>
            <a:off x="640080" y="5669280"/>
            <a:ext cx="10908792" cy="457200"/>
          </a:xfrm>
          <a:prstGeom prst="rect">
            <a:avLst/>
          </a:prstGeom>
          <a:noFill/>
          <a:ln/>
        </p:spPr>
        <p:txBody>
          <a:bodyPr wrap="square" lIns="0" tIns="0" rIns="0" bIns="0" rtlCol="0" anchor="ctr"/>
          <a:lstStyle/>
          <a:p>
            <a:pPr algn="ctr" indent="0" marL="0">
              <a:buNone/>
            </a:pPr>
            <a:r>
              <a:rPr lang="en-US" sz="1250" b="1" dirty="0">
                <a:solidFill>
                  <a:srgbClr val="196B24"/>
                </a:solidFill>
                <a:latin typeface="Montserrat Medium" pitchFamily="34" charset="0"/>
                <a:ea typeface="Montserrat Medium" pitchFamily="34" charset="-122"/>
                <a:cs typeface="Montserrat Medium" pitchFamily="34" charset="-120"/>
              </a:rPr>
              <a:t>Structured as a formal commitment to Green Key membership in exchange for preferred certification pricing and dedicated support.</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60120" y="411480"/>
            <a:ext cx="10277856" cy="658368"/>
          </a:xfrm>
          <a:prstGeom prst="rect">
            <a:avLst/>
          </a:prstGeom>
          <a:noFill/>
          <a:ln/>
        </p:spPr>
        <p:txBody>
          <a:bodyPr wrap="square" lIns="0" tIns="0" rIns="0" bIns="0" rtlCol="0" anchor="ctr"/>
          <a:lstStyle/>
          <a:p>
            <a:pPr indent="0" marL="0">
              <a:buNone/>
            </a:pPr>
            <a:r>
              <a:rPr lang="en-US" sz="3000" b="1" dirty="0">
                <a:solidFill>
                  <a:srgbClr val="1A1A1A"/>
                </a:solidFill>
                <a:latin typeface="Montserrat" pitchFamily="34" charset="0"/>
                <a:ea typeface="Montserrat" pitchFamily="34" charset="-122"/>
                <a:cs typeface="Montserrat" pitchFamily="34" charset="-120"/>
              </a:rPr>
              <a:t>AFTER CERTIFICATION</a:t>
            </a:r>
            <a:endParaRPr lang="en-US" sz="3000" dirty="0"/>
          </a:p>
        </p:txBody>
      </p:sp>
      <p:sp>
        <p:nvSpPr>
          <p:cNvPr id="3" name="Text 1"/>
          <p:cNvSpPr/>
          <p:nvPr/>
        </p:nvSpPr>
        <p:spPr>
          <a:xfrm>
            <a:off x="960120" y="1042416"/>
            <a:ext cx="10277856" cy="457200"/>
          </a:xfrm>
          <a:prstGeom prst="rect">
            <a:avLst/>
          </a:prstGeom>
          <a:noFill/>
          <a:ln/>
        </p:spPr>
        <p:txBody>
          <a:bodyPr wrap="square" lIns="0" tIns="0" rIns="0" bIns="0" rtlCol="0" anchor="ctr"/>
          <a:lstStyle/>
          <a:p>
            <a:pPr indent="0" marL="0">
              <a:buNone/>
            </a:pPr>
            <a:r>
              <a:rPr lang="en-US" sz="1700" b="1" dirty="0">
                <a:solidFill>
                  <a:srgbClr val="196B24"/>
                </a:solidFill>
                <a:latin typeface="Montserrat Medium" pitchFamily="34" charset="0"/>
                <a:ea typeface="Montserrat Medium" pitchFamily="34" charset="-122"/>
                <a:cs typeface="Montserrat Medium" pitchFamily="34" charset="-120"/>
              </a:rPr>
              <a:t>The credential goes to work immediately</a:t>
            </a:r>
            <a:endParaRPr lang="en-US" sz="1700" dirty="0"/>
          </a:p>
        </p:txBody>
      </p:sp>
      <p:sp>
        <p:nvSpPr>
          <p:cNvPr id="4" name="Shape 2"/>
          <p:cNvSpPr/>
          <p:nvPr/>
        </p:nvSpPr>
        <p:spPr>
          <a:xfrm>
            <a:off x="640080" y="1874520"/>
            <a:ext cx="2606040" cy="3246120"/>
          </a:xfrm>
          <a:prstGeom prst="roundRect">
            <a:avLst>
              <a:gd name="adj" fmla="val 3158"/>
            </a:avLst>
          </a:prstGeom>
          <a:solidFill>
            <a:srgbClr val="F2F8EC"/>
          </a:solidFill>
          <a:ln/>
        </p:spPr>
      </p:sp>
      <p:sp>
        <p:nvSpPr>
          <p:cNvPr id="5" name="Shape 3"/>
          <p:cNvSpPr/>
          <p:nvPr/>
        </p:nvSpPr>
        <p:spPr>
          <a:xfrm>
            <a:off x="1623060" y="2130552"/>
            <a:ext cx="640080" cy="640080"/>
          </a:xfrm>
          <a:prstGeom prst="ellipse">
            <a:avLst/>
          </a:prstGeom>
          <a:solidFill>
            <a:srgbClr val="FFFFFF"/>
          </a:solidFill>
          <a:ln w="15875">
            <a:solidFill>
              <a:srgbClr val="196B24"/>
            </a:solidFill>
            <a:prstDash val="solid"/>
          </a:ln>
        </p:spPr>
      </p:sp>
      <p:pic>
        <p:nvPicPr>
          <p:cNvPr id="6" name="Image 0" descr="preencoded.png">    </p:cNvPr>
          <p:cNvPicPr>
            <a:picLocks noChangeAspect="1"/>
          </p:cNvPicPr>
          <p:nvPr/>
        </p:nvPicPr>
        <p:blipFill>
          <a:blip r:embed="rId1"/>
          <a:stretch>
            <a:fillRect/>
          </a:stretch>
        </p:blipFill>
        <p:spPr>
          <a:xfrm>
            <a:off x="1778508" y="2286000"/>
            <a:ext cx="329184" cy="329184"/>
          </a:xfrm>
          <a:prstGeom prst="rect">
            <a:avLst/>
          </a:prstGeom>
        </p:spPr>
      </p:pic>
      <p:sp>
        <p:nvSpPr>
          <p:cNvPr id="7" name="Text 4"/>
          <p:cNvSpPr/>
          <p:nvPr/>
        </p:nvSpPr>
        <p:spPr>
          <a:xfrm>
            <a:off x="731520" y="2898648"/>
            <a:ext cx="2423160" cy="566928"/>
          </a:xfrm>
          <a:prstGeom prst="rect">
            <a:avLst/>
          </a:prstGeom>
          <a:noFill/>
          <a:ln/>
        </p:spPr>
        <p:txBody>
          <a:bodyPr wrap="square" lIns="0" tIns="0" rIns="0" bIns="0" rtlCol="0" anchor="ctr"/>
          <a:lstStyle/>
          <a:p>
            <a:pPr algn="ctr" indent="0" marL="0">
              <a:buNone/>
            </a:pPr>
            <a:r>
              <a:rPr lang="en-US" sz="1300" b="1" dirty="0">
                <a:solidFill>
                  <a:srgbClr val="1A1A1A"/>
                </a:solidFill>
                <a:latin typeface="Montserrat Medium" pitchFamily="34" charset="0"/>
                <a:ea typeface="Montserrat Medium" pitchFamily="34" charset="-122"/>
                <a:cs typeface="Montserrat Medium" pitchFamily="34" charset="-120"/>
              </a:rPr>
              <a:t>Marketing Toolkit</a:t>
            </a:r>
            <a:endParaRPr lang="en-US" sz="1300" dirty="0"/>
          </a:p>
        </p:txBody>
      </p:sp>
      <p:sp>
        <p:nvSpPr>
          <p:cNvPr id="8" name="Text 5"/>
          <p:cNvSpPr/>
          <p:nvPr/>
        </p:nvSpPr>
        <p:spPr>
          <a:xfrm>
            <a:off x="822960" y="3483864"/>
            <a:ext cx="2240280" cy="1508760"/>
          </a:xfrm>
          <a:prstGeom prst="rect">
            <a:avLst/>
          </a:prstGeom>
          <a:noFill/>
          <a:ln/>
        </p:spPr>
        <p:txBody>
          <a:bodyPr wrap="square" lIns="0" tIns="0" rIns="0" bIns="0" rtlCol="0" anchor="ctr"/>
          <a:lstStyle/>
          <a:p>
            <a:pPr algn="ctr" indent="0" marL="0">
              <a:buNone/>
            </a:pPr>
            <a:r>
              <a:rPr lang="en-US" sz="1050" dirty="0">
                <a:solidFill>
                  <a:srgbClr val="595959"/>
                </a:solidFill>
                <a:latin typeface="Montserrat Medium" pitchFamily="34" charset="0"/>
                <a:ea typeface="Montserrat Medium" pitchFamily="34" charset="-122"/>
                <a:cs typeface="Montserrat Medium" pitchFamily="34" charset="-120"/>
              </a:rPr>
              <a:t>Logos, website copy, in-room and event collateral, RFP response content, staff checklists</a:t>
            </a:r>
            <a:endParaRPr lang="en-US" sz="1050" dirty="0"/>
          </a:p>
        </p:txBody>
      </p:sp>
      <p:sp>
        <p:nvSpPr>
          <p:cNvPr id="9" name="Shape 6"/>
          <p:cNvSpPr/>
          <p:nvPr/>
        </p:nvSpPr>
        <p:spPr>
          <a:xfrm>
            <a:off x="3410712" y="1874520"/>
            <a:ext cx="2606040" cy="3246120"/>
          </a:xfrm>
          <a:prstGeom prst="roundRect">
            <a:avLst>
              <a:gd name="adj" fmla="val 3158"/>
            </a:avLst>
          </a:prstGeom>
          <a:solidFill>
            <a:srgbClr val="F2F8EC"/>
          </a:solidFill>
          <a:ln/>
        </p:spPr>
      </p:sp>
      <p:sp>
        <p:nvSpPr>
          <p:cNvPr id="10" name="Shape 7"/>
          <p:cNvSpPr/>
          <p:nvPr/>
        </p:nvSpPr>
        <p:spPr>
          <a:xfrm>
            <a:off x="4393692" y="2130552"/>
            <a:ext cx="640080" cy="640080"/>
          </a:xfrm>
          <a:prstGeom prst="ellipse">
            <a:avLst/>
          </a:prstGeom>
          <a:solidFill>
            <a:srgbClr val="FFFFFF"/>
          </a:solidFill>
          <a:ln w="15875">
            <a:solidFill>
              <a:srgbClr val="196B24"/>
            </a:solidFill>
            <a:prstDash val="solid"/>
          </a:ln>
        </p:spPr>
      </p:sp>
      <p:pic>
        <p:nvPicPr>
          <p:cNvPr id="11" name="Image 1" descr="preencoded.png">    </p:cNvPr>
          <p:cNvPicPr>
            <a:picLocks noChangeAspect="1"/>
          </p:cNvPicPr>
          <p:nvPr/>
        </p:nvPicPr>
        <p:blipFill>
          <a:blip r:embed="rId2"/>
          <a:stretch>
            <a:fillRect/>
          </a:stretch>
        </p:blipFill>
        <p:spPr>
          <a:xfrm>
            <a:off x="4549140" y="2286000"/>
            <a:ext cx="329184" cy="329184"/>
          </a:xfrm>
          <a:prstGeom prst="rect">
            <a:avLst/>
          </a:prstGeom>
        </p:spPr>
      </p:pic>
      <p:sp>
        <p:nvSpPr>
          <p:cNvPr id="12" name="Text 8"/>
          <p:cNvSpPr/>
          <p:nvPr/>
        </p:nvSpPr>
        <p:spPr>
          <a:xfrm>
            <a:off x="3502152" y="2898648"/>
            <a:ext cx="2423160" cy="566928"/>
          </a:xfrm>
          <a:prstGeom prst="rect">
            <a:avLst/>
          </a:prstGeom>
          <a:noFill/>
          <a:ln/>
        </p:spPr>
        <p:txBody>
          <a:bodyPr wrap="square" lIns="0" tIns="0" rIns="0" bIns="0" rtlCol="0" anchor="ctr"/>
          <a:lstStyle/>
          <a:p>
            <a:pPr algn="ctr" indent="0" marL="0">
              <a:buNone/>
            </a:pPr>
            <a:r>
              <a:rPr lang="en-US" sz="1300" b="1" dirty="0">
                <a:solidFill>
                  <a:srgbClr val="1A1A1A"/>
                </a:solidFill>
                <a:latin typeface="Montserrat Medium" pitchFamily="34" charset="0"/>
                <a:ea typeface="Montserrat Medium" pitchFamily="34" charset="-122"/>
                <a:cs typeface="Montserrat Medium" pitchFamily="34" charset="-120"/>
              </a:rPr>
              <a:t>Automatic distribution</a:t>
            </a:r>
            <a:endParaRPr lang="en-US" sz="1300" dirty="0"/>
          </a:p>
        </p:txBody>
      </p:sp>
      <p:sp>
        <p:nvSpPr>
          <p:cNvPr id="13" name="Text 9"/>
          <p:cNvSpPr/>
          <p:nvPr/>
        </p:nvSpPr>
        <p:spPr>
          <a:xfrm>
            <a:off x="3593592" y="3483864"/>
            <a:ext cx="2240280" cy="1508760"/>
          </a:xfrm>
          <a:prstGeom prst="rect">
            <a:avLst/>
          </a:prstGeom>
          <a:noFill/>
          <a:ln/>
        </p:spPr>
        <p:txBody>
          <a:bodyPr wrap="square" lIns="0" tIns="0" rIns="0" bIns="0" rtlCol="0" anchor="ctr"/>
          <a:lstStyle/>
          <a:p>
            <a:pPr algn="ctr" indent="0" marL="0">
              <a:buNone/>
            </a:pPr>
            <a:r>
              <a:rPr lang="en-US" sz="1050" dirty="0">
                <a:solidFill>
                  <a:srgbClr val="595959"/>
                </a:solidFill>
                <a:latin typeface="Montserrat Medium" pitchFamily="34" charset="0"/>
                <a:ea typeface="Montserrat Medium" pitchFamily="34" charset="-122"/>
                <a:cs typeface="Montserrat Medium" pitchFamily="34" charset="-120"/>
              </a:rPr>
              <a:t>Certified-property lists shared with OTAs, procurement officers, and RFP platforms</a:t>
            </a:r>
            <a:endParaRPr lang="en-US" sz="1050" dirty="0"/>
          </a:p>
        </p:txBody>
      </p:sp>
      <p:sp>
        <p:nvSpPr>
          <p:cNvPr id="14" name="Shape 10"/>
          <p:cNvSpPr/>
          <p:nvPr/>
        </p:nvSpPr>
        <p:spPr>
          <a:xfrm>
            <a:off x="6181344" y="1874520"/>
            <a:ext cx="2606040" cy="3246120"/>
          </a:xfrm>
          <a:prstGeom prst="roundRect">
            <a:avLst>
              <a:gd name="adj" fmla="val 3158"/>
            </a:avLst>
          </a:prstGeom>
          <a:solidFill>
            <a:srgbClr val="F2F8EC"/>
          </a:solidFill>
          <a:ln/>
        </p:spPr>
      </p:sp>
      <p:sp>
        <p:nvSpPr>
          <p:cNvPr id="15" name="Shape 11"/>
          <p:cNvSpPr/>
          <p:nvPr/>
        </p:nvSpPr>
        <p:spPr>
          <a:xfrm>
            <a:off x="7164324" y="2130552"/>
            <a:ext cx="640080" cy="640080"/>
          </a:xfrm>
          <a:prstGeom prst="ellipse">
            <a:avLst/>
          </a:prstGeom>
          <a:solidFill>
            <a:srgbClr val="FFFFFF"/>
          </a:solidFill>
          <a:ln w="15875">
            <a:solidFill>
              <a:srgbClr val="196B24"/>
            </a:solidFill>
            <a:prstDash val="solid"/>
          </a:ln>
        </p:spPr>
      </p:sp>
      <p:pic>
        <p:nvPicPr>
          <p:cNvPr id="16" name="Image 2" descr="preencoded.png">    </p:cNvPr>
          <p:cNvPicPr>
            <a:picLocks noChangeAspect="1"/>
          </p:cNvPicPr>
          <p:nvPr/>
        </p:nvPicPr>
        <p:blipFill>
          <a:blip r:embed="rId3"/>
          <a:stretch>
            <a:fillRect/>
          </a:stretch>
        </p:blipFill>
        <p:spPr>
          <a:xfrm>
            <a:off x="7319772" y="2286000"/>
            <a:ext cx="329184" cy="329184"/>
          </a:xfrm>
          <a:prstGeom prst="rect">
            <a:avLst/>
          </a:prstGeom>
        </p:spPr>
      </p:pic>
      <p:sp>
        <p:nvSpPr>
          <p:cNvPr id="17" name="Text 12"/>
          <p:cNvSpPr/>
          <p:nvPr/>
        </p:nvSpPr>
        <p:spPr>
          <a:xfrm>
            <a:off x="6272784" y="2898648"/>
            <a:ext cx="2423160" cy="566928"/>
          </a:xfrm>
          <a:prstGeom prst="rect">
            <a:avLst/>
          </a:prstGeom>
          <a:noFill/>
          <a:ln/>
        </p:spPr>
        <p:txBody>
          <a:bodyPr wrap="square" lIns="0" tIns="0" rIns="0" bIns="0" rtlCol="0" anchor="ctr"/>
          <a:lstStyle/>
          <a:p>
            <a:pPr algn="ctr" indent="0" marL="0">
              <a:buNone/>
            </a:pPr>
            <a:r>
              <a:rPr lang="en-US" sz="1300" b="1" dirty="0">
                <a:solidFill>
                  <a:srgbClr val="1A1A1A"/>
                </a:solidFill>
                <a:latin typeface="Montserrat Medium" pitchFamily="34" charset="0"/>
                <a:ea typeface="Montserrat Medium" pitchFamily="34" charset="-122"/>
                <a:cs typeface="Montserrat Medium" pitchFamily="34" charset="-120"/>
              </a:rPr>
              <a:t>Performance Report</a:t>
            </a:r>
            <a:endParaRPr lang="en-US" sz="1300" dirty="0"/>
          </a:p>
        </p:txBody>
      </p:sp>
      <p:sp>
        <p:nvSpPr>
          <p:cNvPr id="18" name="Text 13"/>
          <p:cNvSpPr/>
          <p:nvPr/>
        </p:nvSpPr>
        <p:spPr>
          <a:xfrm>
            <a:off x="6364224" y="3483864"/>
            <a:ext cx="2240280" cy="1508760"/>
          </a:xfrm>
          <a:prstGeom prst="rect">
            <a:avLst/>
          </a:prstGeom>
          <a:noFill/>
          <a:ln/>
        </p:spPr>
        <p:txBody>
          <a:bodyPr wrap="square" lIns="0" tIns="0" rIns="0" bIns="0" rtlCol="0" anchor="ctr"/>
          <a:lstStyle/>
          <a:p>
            <a:pPr algn="ctr" indent="0" marL="0">
              <a:buNone/>
            </a:pPr>
            <a:r>
              <a:rPr lang="en-US" sz="1050" dirty="0">
                <a:solidFill>
                  <a:srgbClr val="595959"/>
                </a:solidFill>
                <a:latin typeface="Montserrat Medium" pitchFamily="34" charset="0"/>
                <a:ea typeface="Montserrat Medium" pitchFamily="34" charset="-122"/>
                <a:cs typeface="Montserrat Medium" pitchFamily="34" charset="-120"/>
              </a:rPr>
              <a:t>Property-specific roadmap showing where the points for the next Key live</a:t>
            </a:r>
            <a:endParaRPr lang="en-US" sz="1050" dirty="0"/>
          </a:p>
        </p:txBody>
      </p:sp>
      <p:sp>
        <p:nvSpPr>
          <p:cNvPr id="19" name="Shape 14"/>
          <p:cNvSpPr/>
          <p:nvPr/>
        </p:nvSpPr>
        <p:spPr>
          <a:xfrm>
            <a:off x="8951976" y="1874520"/>
            <a:ext cx="2606040" cy="3246120"/>
          </a:xfrm>
          <a:prstGeom prst="roundRect">
            <a:avLst>
              <a:gd name="adj" fmla="val 3158"/>
            </a:avLst>
          </a:prstGeom>
          <a:solidFill>
            <a:srgbClr val="F2F8EC"/>
          </a:solidFill>
          <a:ln/>
        </p:spPr>
      </p:sp>
      <p:sp>
        <p:nvSpPr>
          <p:cNvPr id="20" name="Shape 15"/>
          <p:cNvSpPr/>
          <p:nvPr/>
        </p:nvSpPr>
        <p:spPr>
          <a:xfrm>
            <a:off x="9934956" y="2130552"/>
            <a:ext cx="640080" cy="640080"/>
          </a:xfrm>
          <a:prstGeom prst="ellipse">
            <a:avLst/>
          </a:prstGeom>
          <a:solidFill>
            <a:srgbClr val="FFFFFF"/>
          </a:solidFill>
          <a:ln w="15875">
            <a:solidFill>
              <a:srgbClr val="196B24"/>
            </a:solidFill>
            <a:prstDash val="solid"/>
          </a:ln>
        </p:spPr>
      </p:sp>
      <p:pic>
        <p:nvPicPr>
          <p:cNvPr id="21" name="Image 3" descr="preencoded.png">    </p:cNvPr>
          <p:cNvPicPr>
            <a:picLocks noChangeAspect="1"/>
          </p:cNvPicPr>
          <p:nvPr/>
        </p:nvPicPr>
        <p:blipFill>
          <a:blip r:embed="rId4"/>
          <a:stretch>
            <a:fillRect/>
          </a:stretch>
        </p:blipFill>
        <p:spPr>
          <a:xfrm>
            <a:off x="10090404" y="2286000"/>
            <a:ext cx="329184" cy="329184"/>
          </a:xfrm>
          <a:prstGeom prst="rect">
            <a:avLst/>
          </a:prstGeom>
        </p:spPr>
      </p:pic>
      <p:sp>
        <p:nvSpPr>
          <p:cNvPr id="22" name="Text 16"/>
          <p:cNvSpPr/>
          <p:nvPr/>
        </p:nvSpPr>
        <p:spPr>
          <a:xfrm>
            <a:off x="9043416" y="2898648"/>
            <a:ext cx="2423160" cy="566928"/>
          </a:xfrm>
          <a:prstGeom prst="rect">
            <a:avLst/>
          </a:prstGeom>
          <a:noFill/>
          <a:ln/>
        </p:spPr>
        <p:txBody>
          <a:bodyPr wrap="square" lIns="0" tIns="0" rIns="0" bIns="0" rtlCol="0" anchor="ctr"/>
          <a:lstStyle/>
          <a:p>
            <a:pPr algn="ctr" indent="0" marL="0">
              <a:buNone/>
            </a:pPr>
            <a:r>
              <a:rPr lang="en-US" sz="1300" b="1" dirty="0">
                <a:solidFill>
                  <a:srgbClr val="1A1A1A"/>
                </a:solidFill>
                <a:latin typeface="Montserrat Medium" pitchFamily="34" charset="0"/>
                <a:ea typeface="Montserrat Medium" pitchFamily="34" charset="-122"/>
                <a:cs typeface="Montserrat Medium" pitchFamily="34" charset="-120"/>
              </a:rPr>
              <a:t>Vendor Directory</a:t>
            </a:r>
            <a:endParaRPr lang="en-US" sz="1300" dirty="0"/>
          </a:p>
        </p:txBody>
      </p:sp>
      <p:sp>
        <p:nvSpPr>
          <p:cNvPr id="23" name="Text 17"/>
          <p:cNvSpPr/>
          <p:nvPr/>
        </p:nvSpPr>
        <p:spPr>
          <a:xfrm>
            <a:off x="9134856" y="3483864"/>
            <a:ext cx="2240280" cy="1508760"/>
          </a:xfrm>
          <a:prstGeom prst="rect">
            <a:avLst/>
          </a:prstGeom>
          <a:noFill/>
          <a:ln/>
        </p:spPr>
        <p:txBody>
          <a:bodyPr wrap="square" lIns="0" tIns="0" rIns="0" bIns="0" rtlCol="0" anchor="ctr"/>
          <a:lstStyle/>
          <a:p>
            <a:pPr algn="ctr" indent="0" marL="0">
              <a:buNone/>
            </a:pPr>
            <a:r>
              <a:rPr lang="en-US" sz="1050" dirty="0">
                <a:solidFill>
                  <a:srgbClr val="595959"/>
                </a:solidFill>
                <a:latin typeface="Montserrat Medium" pitchFamily="34" charset="0"/>
                <a:ea typeface="Montserrat Medium" pitchFamily="34" charset="-122"/>
                <a:cs typeface="Montserrat Medium" pitchFamily="34" charset="-120"/>
              </a:rPr>
              <a:t>75+ vetted sustainability suppliers with exclusive member discounts; strictly vendor-agnostic</a:t>
            </a:r>
            <a:endParaRPr lang="en-US" sz="1050" dirty="0"/>
          </a:p>
        </p:txBody>
      </p:sp>
      <p:sp>
        <p:nvSpPr>
          <p:cNvPr id="24" name="Text 18"/>
          <p:cNvSpPr/>
          <p:nvPr/>
        </p:nvSpPr>
        <p:spPr>
          <a:xfrm>
            <a:off x="640080" y="5440680"/>
            <a:ext cx="10908792" cy="640080"/>
          </a:xfrm>
          <a:prstGeom prst="rect">
            <a:avLst/>
          </a:prstGeom>
          <a:noFill/>
          <a:ln/>
        </p:spPr>
        <p:txBody>
          <a:bodyPr wrap="square" lIns="0" tIns="0" rIns="0" bIns="0" rtlCol="0" anchor="ctr"/>
          <a:lstStyle/>
          <a:p>
            <a:pPr algn="ctr" indent="0" marL="0">
              <a:buNone/>
            </a:pPr>
            <a:r>
              <a:rPr lang="en-US" sz="1250" dirty="0">
                <a:solidFill>
                  <a:srgbClr val="222222"/>
                </a:solidFill>
                <a:latin typeface="Montserrat Medium" pitchFamily="34" charset="0"/>
                <a:ea typeface="Montserrat Medium" pitchFamily="34" charset="-122"/>
                <a:cs typeface="Montserrat Medium" pitchFamily="34" charset="-120"/>
              </a:rPr>
              <a:t>Claims-use rules protect the mark: certified members may use the Green Key name and rating only while current and in scope. That discipline is what keeps the badge worth displaying.</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09560" y="2944368"/>
            <a:ext cx="4169664" cy="3108960"/>
          </a:xfrm>
          <a:prstGeom prst="rect">
            <a:avLst/>
          </a:prstGeom>
        </p:spPr>
      </p:pic>
      <p:sp>
        <p:nvSpPr>
          <p:cNvPr id="3" name="Text 0"/>
          <p:cNvSpPr/>
          <p:nvPr/>
        </p:nvSpPr>
        <p:spPr>
          <a:xfrm>
            <a:off x="960120" y="685800"/>
            <a:ext cx="9601200" cy="1554480"/>
          </a:xfrm>
          <a:prstGeom prst="rect">
            <a:avLst/>
          </a:prstGeom>
          <a:noFill/>
          <a:ln/>
        </p:spPr>
        <p:txBody>
          <a:bodyPr wrap="square" lIns="0" tIns="0" rIns="0" bIns="0" rtlCol="0" anchor="ctr"/>
          <a:lstStyle/>
          <a:p>
            <a:pPr indent="0" marL="0">
              <a:lnSpc>
                <a:spcPct val="105000"/>
              </a:lnSpc>
              <a:buNone/>
            </a:pPr>
            <a:r>
              <a:rPr lang="en-US" sz="3800" b="1" dirty="0">
                <a:solidFill>
                  <a:srgbClr val="1A1A1A"/>
                </a:solidFill>
                <a:latin typeface="Montserrat Medium" pitchFamily="34" charset="0"/>
                <a:ea typeface="Montserrat Medium" pitchFamily="34" charset="-122"/>
                <a:cs typeface="Montserrat Medium" pitchFamily="34" charset="-120"/>
              </a:rPr>
              <a:t>Run well. Prove it.</a:t>
            </a:r>
            <a:endParaRPr lang="en-US" sz="3800" dirty="0"/>
          </a:p>
          <a:p>
            <a:pPr indent="0" marL="0">
              <a:lnSpc>
                <a:spcPct val="105000"/>
              </a:lnSpc>
              <a:buNone/>
            </a:pPr>
            <a:r>
              <a:rPr lang="en-US" sz="3800" b="1" dirty="0">
                <a:solidFill>
                  <a:srgbClr val="1A1A1A"/>
                </a:solidFill>
                <a:latin typeface="Montserrat Medium" pitchFamily="34" charset="0"/>
                <a:ea typeface="Montserrat Medium" pitchFamily="34" charset="-122"/>
                <a:cs typeface="Montserrat Medium" pitchFamily="34" charset="-120"/>
              </a:rPr>
              <a:t>Be recognized for it.</a:t>
            </a:r>
            <a:endParaRPr lang="en-US" sz="3800" dirty="0"/>
          </a:p>
        </p:txBody>
      </p:sp>
      <p:sp>
        <p:nvSpPr>
          <p:cNvPr id="4" name="Text 1"/>
          <p:cNvSpPr/>
          <p:nvPr/>
        </p:nvSpPr>
        <p:spPr>
          <a:xfrm>
            <a:off x="960120" y="2331720"/>
            <a:ext cx="8778240" cy="640080"/>
          </a:xfrm>
          <a:prstGeom prst="rect">
            <a:avLst/>
          </a:prstGeom>
          <a:noFill/>
          <a:ln/>
        </p:spPr>
        <p:txBody>
          <a:bodyPr wrap="square" lIns="0" tIns="0" rIns="0" bIns="0" rtlCol="0" anchor="ctr"/>
          <a:lstStyle/>
          <a:p>
            <a:pPr indent="0" marL="0">
              <a:buNone/>
            </a:pPr>
            <a:r>
              <a:rPr lang="en-US" sz="1500" b="1" dirty="0">
                <a:solidFill>
                  <a:srgbClr val="196B24"/>
                </a:solidFill>
                <a:latin typeface="Montserrat Medium" pitchFamily="34" charset="0"/>
                <a:ea typeface="Montserrat Medium" pitchFamily="34" charset="-122"/>
                <a:cs typeface="Montserrat Medium" pitchFamily="34" charset="-120"/>
              </a:rPr>
              <a:t>A standard hoteliers built, verified by an auditor no one can lean on, at a price every tier can carry.</a:t>
            </a:r>
            <a:endParaRPr lang="en-US" sz="1500" dirty="0"/>
          </a:p>
        </p:txBody>
      </p:sp>
      <p:sp>
        <p:nvSpPr>
          <p:cNvPr id="5" name="Shape 2"/>
          <p:cNvSpPr/>
          <p:nvPr/>
        </p:nvSpPr>
        <p:spPr>
          <a:xfrm>
            <a:off x="960120" y="3227832"/>
            <a:ext cx="502920" cy="502920"/>
          </a:xfrm>
          <a:prstGeom prst="ellipse">
            <a:avLst/>
          </a:prstGeom>
          <a:solidFill>
            <a:srgbClr val="92D050"/>
          </a:solidFill>
          <a:ln/>
        </p:spPr>
      </p:sp>
      <p:sp>
        <p:nvSpPr>
          <p:cNvPr id="6" name="Text 3"/>
          <p:cNvSpPr/>
          <p:nvPr/>
        </p:nvSpPr>
        <p:spPr>
          <a:xfrm>
            <a:off x="960120" y="322783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ontserrat" pitchFamily="34" charset="0"/>
                <a:ea typeface="Montserrat" pitchFamily="34" charset="-122"/>
                <a:cs typeface="Montserrat" pitchFamily="34" charset="-120"/>
              </a:rPr>
              <a:t>1</a:t>
            </a:r>
            <a:endParaRPr lang="en-US" sz="1700" dirty="0"/>
          </a:p>
        </p:txBody>
      </p:sp>
      <p:sp>
        <p:nvSpPr>
          <p:cNvPr id="7" name="Text 4"/>
          <p:cNvSpPr/>
          <p:nvPr/>
        </p:nvSpPr>
        <p:spPr>
          <a:xfrm>
            <a:off x="1645920" y="3154680"/>
            <a:ext cx="6035040" cy="8229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Check for an existing agreement  </a:t>
            </a:r>
            <a:pPr indent="0" marL="0">
              <a:buNone/>
            </a:pPr>
            <a:r>
              <a:rPr lang="en-US" sz="1250" dirty="0">
                <a:solidFill>
                  <a:srgbClr val="595959"/>
                </a:solidFill>
                <a:latin typeface="Montserrat Medium" pitchFamily="34" charset="0"/>
                <a:ea typeface="Montserrat Medium" pitchFamily="34" charset="-122"/>
                <a:cs typeface="Montserrat Medium" pitchFamily="34" charset="-120"/>
              </a:rPr>
              <a:t>Your brand or management group may already hold partnership terms and fast-track pathways</a:t>
            </a:r>
            <a:endParaRPr lang="en-US" sz="1250" dirty="0"/>
          </a:p>
        </p:txBody>
      </p:sp>
      <p:sp>
        <p:nvSpPr>
          <p:cNvPr id="8" name="Shape 5"/>
          <p:cNvSpPr/>
          <p:nvPr/>
        </p:nvSpPr>
        <p:spPr>
          <a:xfrm>
            <a:off x="960120" y="4123944"/>
            <a:ext cx="502920" cy="502920"/>
          </a:xfrm>
          <a:prstGeom prst="ellipse">
            <a:avLst/>
          </a:prstGeom>
          <a:solidFill>
            <a:srgbClr val="92D050"/>
          </a:solidFill>
          <a:ln/>
        </p:spPr>
      </p:sp>
      <p:sp>
        <p:nvSpPr>
          <p:cNvPr id="9" name="Text 6"/>
          <p:cNvSpPr/>
          <p:nvPr/>
        </p:nvSpPr>
        <p:spPr>
          <a:xfrm>
            <a:off x="960120" y="4123944"/>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ontserrat" pitchFamily="34" charset="0"/>
                <a:ea typeface="Montserrat" pitchFamily="34" charset="-122"/>
                <a:cs typeface="Montserrat" pitchFamily="34" charset="-120"/>
              </a:rPr>
              <a:t>2</a:t>
            </a:r>
            <a:endParaRPr lang="en-US" sz="1700" dirty="0"/>
          </a:p>
        </p:txBody>
      </p:sp>
      <p:sp>
        <p:nvSpPr>
          <p:cNvPr id="10" name="Text 7"/>
          <p:cNvSpPr/>
          <p:nvPr/>
        </p:nvSpPr>
        <p:spPr>
          <a:xfrm>
            <a:off x="1645920" y="4050792"/>
            <a:ext cx="6035040" cy="8229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Pick a pilot cohort  </a:t>
            </a:r>
            <a:pPr indent="0" marL="0">
              <a:buNone/>
            </a:pPr>
            <a:r>
              <a:rPr lang="en-US" sz="1250" dirty="0">
                <a:solidFill>
                  <a:srgbClr val="595959"/>
                </a:solidFill>
                <a:latin typeface="Montserrat Medium" pitchFamily="34" charset="0"/>
                <a:ea typeface="Montserrat Medium" pitchFamily="34" charset="-122"/>
                <a:cs typeface="Montserrat Medium" pitchFamily="34" charset="-120"/>
              </a:rPr>
              <a:t>Mirror your real portfolio: urban and rural, full- and select-service; 90 days per property</a:t>
            </a:r>
            <a:endParaRPr lang="en-US" sz="1250" dirty="0"/>
          </a:p>
        </p:txBody>
      </p:sp>
      <p:sp>
        <p:nvSpPr>
          <p:cNvPr id="11" name="Shape 8"/>
          <p:cNvSpPr/>
          <p:nvPr/>
        </p:nvSpPr>
        <p:spPr>
          <a:xfrm>
            <a:off x="960120" y="5020056"/>
            <a:ext cx="502920" cy="502920"/>
          </a:xfrm>
          <a:prstGeom prst="ellipse">
            <a:avLst/>
          </a:prstGeom>
          <a:solidFill>
            <a:srgbClr val="92D050"/>
          </a:solidFill>
          <a:ln/>
        </p:spPr>
      </p:sp>
      <p:sp>
        <p:nvSpPr>
          <p:cNvPr id="12" name="Text 9"/>
          <p:cNvSpPr/>
          <p:nvPr/>
        </p:nvSpPr>
        <p:spPr>
          <a:xfrm>
            <a:off x="960120" y="5020056"/>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Montserrat" pitchFamily="34" charset="0"/>
                <a:ea typeface="Montserrat" pitchFamily="34" charset="-122"/>
                <a:cs typeface="Montserrat" pitchFamily="34" charset="-120"/>
              </a:rPr>
              <a:t>3</a:t>
            </a:r>
            <a:endParaRPr lang="en-US" sz="1700" dirty="0"/>
          </a:p>
        </p:txBody>
      </p:sp>
      <p:sp>
        <p:nvSpPr>
          <p:cNvPr id="13" name="Text 10"/>
          <p:cNvSpPr/>
          <p:nvPr/>
        </p:nvSpPr>
        <p:spPr>
          <a:xfrm>
            <a:off x="1645920" y="4946904"/>
            <a:ext cx="6035040" cy="822960"/>
          </a:xfrm>
          <a:prstGeom prst="rect">
            <a:avLst/>
          </a:prstGeom>
          <a:noFill/>
          <a:ln/>
        </p:spPr>
        <p:txBody>
          <a:bodyPr wrap="square" lIns="0" tIns="0" rIns="0" bIns="0" rtlCol="0" anchor="ctr"/>
          <a:lstStyle/>
          <a:p>
            <a:pPr indent="0" marL="0">
              <a:buNone/>
            </a:pPr>
            <a:r>
              <a:rPr lang="en-US" sz="1250" b="1" dirty="0">
                <a:solidFill>
                  <a:srgbClr val="1A1A1A"/>
                </a:solidFill>
                <a:latin typeface="Montserrat Medium" pitchFamily="34" charset="0"/>
                <a:ea typeface="Montserrat Medium" pitchFamily="34" charset="-122"/>
                <a:cs typeface="Montserrat Medium" pitchFamily="34" charset="-120"/>
              </a:rPr>
              <a:t>Start the Core Criteria  </a:t>
            </a:r>
            <a:pPr indent="0" marL="0">
              <a:buNone/>
            </a:pPr>
            <a:r>
              <a:rPr lang="en-US" sz="1250" dirty="0">
                <a:solidFill>
                  <a:srgbClr val="595959"/>
                </a:solidFill>
                <a:latin typeface="Montserrat Medium" pitchFamily="34" charset="0"/>
                <a:ea typeface="Montserrat Medium" pitchFamily="34" charset="-122"/>
                <a:cs typeface="Montserrat Medium" pitchFamily="34" charset="-120"/>
              </a:rPr>
              <a:t>Name the accountable officer, form the Green Team, pull 12 months of utility bills, and begin</a:t>
            </a:r>
            <a:endParaRPr lang="en-US" sz="1250" dirty="0"/>
          </a:p>
        </p:txBody>
      </p:sp>
      <p:sp>
        <p:nvSpPr>
          <p:cNvPr id="14" name="Text 11"/>
          <p:cNvSpPr/>
          <p:nvPr/>
        </p:nvSpPr>
        <p:spPr>
          <a:xfrm>
            <a:off x="960120" y="5779008"/>
            <a:ext cx="7315200" cy="365760"/>
          </a:xfrm>
          <a:prstGeom prst="rect">
            <a:avLst/>
          </a:prstGeom>
          <a:noFill/>
          <a:ln/>
        </p:spPr>
        <p:txBody>
          <a:bodyPr wrap="square" lIns="0" tIns="0" rIns="0" bIns="0" rtlCol="0" anchor="ctr"/>
          <a:lstStyle/>
          <a:p>
            <a:pPr indent="0" marL="0">
              <a:buNone/>
            </a:pPr>
            <a:r>
              <a:rPr lang="en-US" sz="1400" b="1" dirty="0">
                <a:solidFill>
                  <a:srgbClr val="196B24"/>
                </a:solidFill>
                <a:latin typeface="Montserrat Medium" pitchFamily="34" charset="0"/>
                <a:ea typeface="Montserrat Medium" pitchFamily="34" charset="-122"/>
                <a:cs typeface="Montserrat Medium" pitchFamily="34" charset="-120"/>
              </a:rPr>
              <a:t>greenkeyglobal.com  |  info@greenkeyglobal.com</a:t>
            </a:r>
            <a:endParaRPr lang="en-US" sz="1400" dirty="0"/>
          </a:p>
        </p:txBody>
      </p:sp>
      <p:pic>
        <p:nvPicPr>
          <p:cNvPr id="15" name="Image 1" descr="preencoded.png">    </p:cNvPr>
          <p:cNvPicPr>
            <a:picLocks noChangeAspect="1"/>
          </p:cNvPicPr>
          <p:nvPr/>
        </p:nvPicPr>
        <p:blipFill>
          <a:blip r:embed="rId2"/>
          <a:stretch>
            <a:fillRect/>
          </a:stretch>
        </p:blipFill>
        <p:spPr>
          <a:xfrm>
            <a:off x="0" y="6117336"/>
            <a:ext cx="12188952" cy="740664"/>
          </a:xfrm>
          <a:prstGeom prst="rect">
            <a:avLst/>
          </a:prstGeom>
        </p:spPr>
      </p:pic>
      <p:sp>
        <p:nvSpPr>
          <p:cNvPr id="16" name="Text 12"/>
          <p:cNvSpPr/>
          <p:nvPr/>
        </p:nvSpPr>
        <p:spPr>
          <a:xfrm>
            <a:off x="7863840" y="6117336"/>
            <a:ext cx="3931920" cy="740664"/>
          </a:xfrm>
          <a:prstGeom prst="rect">
            <a:avLst/>
          </a:prstGeom>
          <a:noFill/>
          <a:ln/>
        </p:spPr>
        <p:txBody>
          <a:bodyPr wrap="square" lIns="1905" tIns="1905" rIns="1905" bIns="1905" rtlCol="0" anchor="ctr"/>
          <a:lstStyle/>
          <a:p>
            <a:pPr algn="r" indent="0" marL="0">
              <a:buNone/>
            </a:pPr>
            <a:r>
              <a:rPr lang="en-US" sz="1300" spc="400" kern="0" dirty="0">
                <a:solidFill>
                  <a:srgbClr val="FFFFFF"/>
                </a:solidFill>
                <a:latin typeface="Montserrat Light" pitchFamily="34" charset="0"/>
                <a:ea typeface="Montserrat Light" pitchFamily="34" charset="-122"/>
                <a:cs typeface="Montserrat Light" pitchFamily="34" charset="-120"/>
              </a:rPr>
              <a:t>GREENKEYGLOBAL.COM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2026-07-19T02:23:06Z</dcterms:created>
  <dcterms:modified xsi:type="dcterms:W3CDTF">2026-07-19T02:23:06Z</dcterms:modified>
</cp:coreProperties>
</file>
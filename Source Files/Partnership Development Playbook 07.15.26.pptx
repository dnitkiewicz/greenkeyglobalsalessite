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modernComment_7FFFF553_E23A55E8.xml" ContentType="application/vnd.ms-powerpoint.comments+xml"/>
  <Override PartName="/ppt/notesSlides/notesSlide8.xml" ContentType="application/vnd.openxmlformats-officedocument.presentationml.notesSlide+xml"/>
  <Override PartName="/ppt/comments/modernComment_7FFFF554_8FB3210B.xml" ContentType="application/vnd.ms-powerpoint.comments+xml"/>
  <Override PartName="/ppt/notesSlides/notesSlide9.xml" ContentType="application/vnd.openxmlformats-officedocument.presentationml.notesSlide+xml"/>
  <Override PartName="/ppt/comments/modernComment_7FFFF555_1143E0FA.xml" ContentType="application/vnd.ms-powerpoint.comment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7"/>
  </p:notesMasterIdLst>
  <p:sldIdLst>
    <p:sldId id="256" r:id="rId5"/>
    <p:sldId id="2147480908" r:id="rId6"/>
    <p:sldId id="2147480934" r:id="rId7"/>
    <p:sldId id="2147480936" r:id="rId8"/>
    <p:sldId id="2147480918" r:id="rId9"/>
    <p:sldId id="2147480923" r:id="rId10"/>
    <p:sldId id="2147480915" r:id="rId11"/>
    <p:sldId id="2147480916" r:id="rId12"/>
    <p:sldId id="2147480917" r:id="rId13"/>
    <p:sldId id="2147480919" r:id="rId14"/>
    <p:sldId id="2147480922" r:id="rId15"/>
    <p:sldId id="2147480925" r:id="rId16"/>
    <p:sldId id="2147480926" r:id="rId17"/>
    <p:sldId id="2147480935" r:id="rId18"/>
    <p:sldId id="2147480927" r:id="rId19"/>
    <p:sldId id="2147480920" r:id="rId20"/>
    <p:sldId id="2147480928" r:id="rId21"/>
    <p:sldId id="2147480929" r:id="rId22"/>
    <p:sldId id="2147480921" r:id="rId23"/>
    <p:sldId id="2147480930" r:id="rId24"/>
    <p:sldId id="2147480932" r:id="rId25"/>
    <p:sldId id="26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CFFA017-1235-C4F2-6B17-9671B091A307}" name="Chloe Shore" initials="CS" userId="S::chloe@synergyenterprises.ca::25ce2e96-a990-4ac3-92ac-87f6efe2944f" providerId="AD"/>
  <p188:author id="{E924C448-D785-D4BF-DA5B-7E422B53B8EB}" name="Neal Daftary" initials="ND" userId="S::neal.daftary@greenkeyglobal.com::a8e4b0f7-3cbb-4508-bbc9-5aad3ac9b503" providerId="AD"/>
  <p188:author id="{07A7DA4E-2D53-DA87-2AC2-FBAE60A429A0}" name="Heidi Grantner" initials="HG" userId="S::heidi@synergyenterprises.ca::66662460-dd73-4b01-8312-795d49ff7cd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01" autoAdjust="0"/>
    <p:restoredTop sz="88372" autoAdjust="0"/>
  </p:normalViewPr>
  <p:slideViewPr>
    <p:cSldViewPr snapToGrid="0">
      <p:cViewPr varScale="1">
        <p:scale>
          <a:sx n="65" d="100"/>
          <a:sy n="65" d="100"/>
        </p:scale>
        <p:origin x="67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al Daftary" userId="a8e4b0f7-3cbb-4508-bbc9-5aad3ac9b503" providerId="ADAL" clId="{82527E1F-6B11-4B88-9639-4B960E7DCB5C}"/>
    <pc:docChg chg="undo custSel addSld delSld modSld">
      <pc:chgData name="Neal Daftary" userId="a8e4b0f7-3cbb-4508-bbc9-5aad3ac9b503" providerId="ADAL" clId="{82527E1F-6B11-4B88-9639-4B960E7DCB5C}" dt="2026-07-17T20:04:15.705" v="558" actId="47"/>
      <pc:docMkLst>
        <pc:docMk/>
      </pc:docMkLst>
      <pc:sldChg chg="modSp mod">
        <pc:chgData name="Neal Daftary" userId="a8e4b0f7-3cbb-4508-bbc9-5aad3ac9b503" providerId="ADAL" clId="{82527E1F-6B11-4B88-9639-4B960E7DCB5C}" dt="2026-07-16T16:21:35.481" v="479" actId="20577"/>
        <pc:sldMkLst>
          <pc:docMk/>
          <pc:sldMk cId="0" sldId="256"/>
        </pc:sldMkLst>
        <pc:spChg chg="mod">
          <ac:chgData name="Neal Daftary" userId="a8e4b0f7-3cbb-4508-bbc9-5aad3ac9b503" providerId="ADAL" clId="{82527E1F-6B11-4B88-9639-4B960E7DCB5C}" dt="2026-07-16T16:21:35.481" v="479" actId="20577"/>
          <ac:spMkLst>
            <pc:docMk/>
            <pc:sldMk cId="0" sldId="256"/>
            <ac:spMk id="5" creationId="{88FE9F52-B5C5-F2CA-413C-F02F22FD9A38}"/>
          </ac:spMkLst>
        </pc:spChg>
      </pc:sldChg>
      <pc:sldChg chg="modSp mod modCm">
        <pc:chgData name="Neal Daftary" userId="a8e4b0f7-3cbb-4508-bbc9-5aad3ac9b503" providerId="ADAL" clId="{82527E1F-6B11-4B88-9639-4B960E7DCB5C}" dt="2026-07-16T14:01:34.401" v="160" actId="20577"/>
        <pc:sldMkLst>
          <pc:docMk/>
          <pc:sldMk cId="3795473896" sldId="2147480915"/>
        </pc:sldMkLst>
        <pc:spChg chg="mod">
          <ac:chgData name="Neal Daftary" userId="a8e4b0f7-3cbb-4508-bbc9-5aad3ac9b503" providerId="ADAL" clId="{82527E1F-6B11-4B88-9639-4B960E7DCB5C}" dt="2026-07-16T14:01:34.401" v="160" actId="20577"/>
          <ac:spMkLst>
            <pc:docMk/>
            <pc:sldMk cId="3795473896" sldId="2147480915"/>
            <ac:spMk id="4" creationId="{DAEF3DB2-C9F5-BD69-4BB3-B50C9D931838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Neal Daftary" userId="a8e4b0f7-3cbb-4508-bbc9-5aad3ac9b503" providerId="ADAL" clId="{82527E1F-6B11-4B88-9639-4B960E7DCB5C}" dt="2026-07-16T14:01:34.401" v="160" actId="20577"/>
              <pc2:cmMkLst xmlns:pc2="http://schemas.microsoft.com/office/powerpoint/2019/9/main/command">
                <pc:docMk/>
                <pc:sldMk cId="3795473896" sldId="2147480915"/>
                <pc2:cmMk id="{09520325-641C-4BF0-B49A-C14CC318F4AC}"/>
              </pc2:cmMkLst>
            </pc226:cmChg>
            <pc226:cmChg xmlns:pc226="http://schemas.microsoft.com/office/powerpoint/2022/06/main/command" chg="mod">
              <pc226:chgData name="Neal Daftary" userId="a8e4b0f7-3cbb-4508-bbc9-5aad3ac9b503" providerId="ADAL" clId="{82527E1F-6B11-4B88-9639-4B960E7DCB5C}" dt="2026-07-16T14:01:34.401" v="160" actId="20577"/>
              <pc2:cmMkLst xmlns:pc2="http://schemas.microsoft.com/office/powerpoint/2019/9/main/command">
                <pc:docMk/>
                <pc:sldMk cId="3795473896" sldId="2147480915"/>
                <pc2:cmMk id="{A69828E0-CF9D-4173-BA92-BC92F5424C37}"/>
              </pc2:cmMkLst>
            </pc226:cmChg>
          </p:ext>
        </pc:extLst>
      </pc:sldChg>
      <pc:sldChg chg="modSp mod modCm modNotesTx">
        <pc:chgData name="Neal Daftary" userId="a8e4b0f7-3cbb-4508-bbc9-5aad3ac9b503" providerId="ADAL" clId="{82527E1F-6B11-4B88-9639-4B960E7DCB5C}" dt="2026-07-16T14:05:37.463" v="236"/>
        <pc:sldMkLst>
          <pc:docMk/>
          <pc:sldMk cId="2410881291" sldId="2147480916"/>
        </pc:sldMkLst>
        <pc:spChg chg="mod">
          <ac:chgData name="Neal Daftary" userId="a8e4b0f7-3cbb-4508-bbc9-5aad3ac9b503" providerId="ADAL" clId="{82527E1F-6B11-4B88-9639-4B960E7DCB5C}" dt="2026-07-16T14:05:37.463" v="236"/>
          <ac:spMkLst>
            <pc:docMk/>
            <pc:sldMk cId="2410881291" sldId="2147480916"/>
            <ac:spMk id="4" creationId="{CABC3F1D-D876-6271-4D23-851C91C0E747}"/>
          </ac:spMkLst>
        </pc:spChg>
        <pc:spChg chg="mod">
          <ac:chgData name="Neal Daftary" userId="a8e4b0f7-3cbb-4508-bbc9-5aad3ac9b503" providerId="ADAL" clId="{82527E1F-6B11-4B88-9639-4B960E7DCB5C}" dt="2026-07-16T02:45:47.253" v="0"/>
          <ac:spMkLst>
            <pc:docMk/>
            <pc:sldMk cId="2410881291" sldId="2147480916"/>
            <ac:spMk id="11" creationId="{318D8199-5099-10DA-5621-6645FC7BB63E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Neal Daftary" userId="a8e4b0f7-3cbb-4508-bbc9-5aad3ac9b503" providerId="ADAL" clId="{82527E1F-6B11-4B88-9639-4B960E7DCB5C}" dt="2026-07-16T14:05:24.725" v="235" actId="20577"/>
              <pc2:cmMkLst xmlns:pc2="http://schemas.microsoft.com/office/powerpoint/2019/9/main/command">
                <pc:docMk/>
                <pc:sldMk cId="2410881291" sldId="2147480916"/>
                <pc2:cmMk id="{30287F04-1D84-4BE2-9394-7DE79A7659BE}"/>
              </pc2:cmMkLst>
            </pc226:cmChg>
            <pc226:cmChg xmlns:pc226="http://schemas.microsoft.com/office/powerpoint/2022/06/main/command" chg="mod">
              <pc226:chgData name="Neal Daftary" userId="a8e4b0f7-3cbb-4508-bbc9-5aad3ac9b503" providerId="ADAL" clId="{82527E1F-6B11-4B88-9639-4B960E7DCB5C}" dt="2026-07-16T14:05:24.725" v="235" actId="20577"/>
              <pc2:cmMkLst xmlns:pc2="http://schemas.microsoft.com/office/powerpoint/2019/9/main/command">
                <pc:docMk/>
                <pc:sldMk cId="2410881291" sldId="2147480916"/>
                <pc2:cmMk id="{CCA7CF9E-979F-42DA-ACBD-5C6F45D5A32D}"/>
              </pc2:cmMkLst>
            </pc226:cmChg>
            <pc226:cmChg xmlns:pc226="http://schemas.microsoft.com/office/powerpoint/2022/06/main/command" chg="mod">
              <pc226:chgData name="Neal Daftary" userId="a8e4b0f7-3cbb-4508-bbc9-5aad3ac9b503" providerId="ADAL" clId="{82527E1F-6B11-4B88-9639-4B960E7DCB5C}" dt="2026-07-16T14:05:24.725" v="235" actId="20577"/>
              <pc2:cmMkLst xmlns:pc2="http://schemas.microsoft.com/office/powerpoint/2019/9/main/command">
                <pc:docMk/>
                <pc:sldMk cId="2410881291" sldId="2147480916"/>
                <pc2:cmMk id="{9BC9A0E6-DD25-464F-B6D2-A310E350D182}"/>
              </pc2:cmMkLst>
            </pc226:cmChg>
          </p:ext>
        </pc:extLst>
      </pc:sldChg>
      <pc:sldChg chg="modSp mod modCm">
        <pc:chgData name="Neal Daftary" userId="a8e4b0f7-3cbb-4508-bbc9-5aad3ac9b503" providerId="ADAL" clId="{82527E1F-6B11-4B88-9639-4B960E7DCB5C}" dt="2026-07-16T14:06:23.922" v="249" actId="20577"/>
        <pc:sldMkLst>
          <pc:docMk/>
          <pc:sldMk cId="289661178" sldId="2147480917"/>
        </pc:sldMkLst>
        <pc:spChg chg="mod">
          <ac:chgData name="Neal Daftary" userId="a8e4b0f7-3cbb-4508-bbc9-5aad3ac9b503" providerId="ADAL" clId="{82527E1F-6B11-4B88-9639-4B960E7DCB5C}" dt="2026-07-16T14:06:23.922" v="249" actId="20577"/>
          <ac:spMkLst>
            <pc:docMk/>
            <pc:sldMk cId="289661178" sldId="2147480917"/>
            <ac:spMk id="4" creationId="{0FFA7D4D-0AEB-5712-D828-11A281AC8A87}"/>
          </ac:spMkLst>
        </pc:spChg>
        <pc:spChg chg="mod">
          <ac:chgData name="Neal Daftary" userId="a8e4b0f7-3cbb-4508-bbc9-5aad3ac9b503" providerId="ADAL" clId="{82527E1F-6B11-4B88-9639-4B960E7DCB5C}" dt="2026-07-16T02:45:50.616" v="1"/>
          <ac:spMkLst>
            <pc:docMk/>
            <pc:sldMk cId="289661178" sldId="2147480917"/>
            <ac:spMk id="10" creationId="{10D97EB4-DC97-FAC4-5C2A-D731D9CB09E9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Neal Daftary" userId="a8e4b0f7-3cbb-4508-bbc9-5aad3ac9b503" providerId="ADAL" clId="{82527E1F-6B11-4B88-9639-4B960E7DCB5C}" dt="2026-07-16T14:06:23.922" v="249" actId="20577"/>
              <pc2:cmMkLst xmlns:pc2="http://schemas.microsoft.com/office/powerpoint/2019/9/main/command">
                <pc:docMk/>
                <pc:sldMk cId="289661178" sldId="2147480917"/>
                <pc2:cmMk id="{0C99AF36-4A51-4517-BCBD-6819B3CBAE5C}"/>
              </pc2:cmMkLst>
            </pc226:cmChg>
            <pc226:cmChg xmlns:pc226="http://schemas.microsoft.com/office/powerpoint/2022/06/main/command" chg="mod">
              <pc226:chgData name="Neal Daftary" userId="a8e4b0f7-3cbb-4508-bbc9-5aad3ac9b503" providerId="ADAL" clId="{82527E1F-6B11-4B88-9639-4B960E7DCB5C}" dt="2026-07-16T14:06:23.922" v="249" actId="20577"/>
              <pc2:cmMkLst xmlns:pc2="http://schemas.microsoft.com/office/powerpoint/2019/9/main/command">
                <pc:docMk/>
                <pc:sldMk cId="289661178" sldId="2147480917"/>
                <pc2:cmMk id="{0F97A478-FF3B-49FA-AE68-EFA0841F1390}"/>
              </pc2:cmMkLst>
            </pc226:cmChg>
          </p:ext>
        </pc:extLst>
      </pc:sldChg>
      <pc:sldChg chg="modSp mod modNotesTx">
        <pc:chgData name="Neal Daftary" userId="a8e4b0f7-3cbb-4508-bbc9-5aad3ac9b503" providerId="ADAL" clId="{82527E1F-6B11-4B88-9639-4B960E7DCB5C}" dt="2026-07-16T14:31:19.902" v="326" actId="20577"/>
        <pc:sldMkLst>
          <pc:docMk/>
          <pc:sldMk cId="1068603912" sldId="2147480922"/>
        </pc:sldMkLst>
        <pc:spChg chg="mod">
          <ac:chgData name="Neal Daftary" userId="a8e4b0f7-3cbb-4508-bbc9-5aad3ac9b503" providerId="ADAL" clId="{82527E1F-6B11-4B88-9639-4B960E7DCB5C}" dt="2026-07-16T14:31:19.902" v="326" actId="20577"/>
          <ac:spMkLst>
            <pc:docMk/>
            <pc:sldMk cId="1068603912" sldId="2147480922"/>
            <ac:spMk id="4" creationId="{863011D1-2EB9-3528-BA5F-2B993F4CAC3E}"/>
          </ac:spMkLst>
        </pc:spChg>
        <pc:spChg chg="mod">
          <ac:chgData name="Neal Daftary" userId="a8e4b0f7-3cbb-4508-bbc9-5aad3ac9b503" providerId="ADAL" clId="{82527E1F-6B11-4B88-9639-4B960E7DCB5C}" dt="2026-07-16T14:07:10.027" v="263" actId="20577"/>
          <ac:spMkLst>
            <pc:docMk/>
            <pc:sldMk cId="1068603912" sldId="2147480922"/>
            <ac:spMk id="9" creationId="{12C0740A-BFAD-616D-FEF3-CF593C3C6DBF}"/>
          </ac:spMkLst>
        </pc:spChg>
      </pc:sldChg>
      <pc:sldChg chg="modSp mod modCm modNotesTx">
        <pc:chgData name="Neal Daftary" userId="a8e4b0f7-3cbb-4508-bbc9-5aad3ac9b503" providerId="ADAL" clId="{82527E1F-6B11-4B88-9639-4B960E7DCB5C}" dt="2026-07-16T14:00:06.463" v="153" actId="20577"/>
        <pc:sldMkLst>
          <pc:docMk/>
          <pc:sldMk cId="3470700015" sldId="2147480923"/>
        </pc:sldMkLst>
        <pc:spChg chg="mod">
          <ac:chgData name="Neal Daftary" userId="a8e4b0f7-3cbb-4508-bbc9-5aad3ac9b503" providerId="ADAL" clId="{82527E1F-6B11-4B88-9639-4B960E7DCB5C}" dt="2026-07-16T13:58:35.452" v="136" actId="1076"/>
          <ac:spMkLst>
            <pc:docMk/>
            <pc:sldMk cId="3470700015" sldId="2147480923"/>
            <ac:spMk id="3" creationId="{5F10FEB7-97B1-07D9-E8DA-402F3DF2B101}"/>
          </ac:spMkLst>
        </pc:spChg>
        <pc:spChg chg="mod">
          <ac:chgData name="Neal Daftary" userId="a8e4b0f7-3cbb-4508-bbc9-5aad3ac9b503" providerId="ADAL" clId="{82527E1F-6B11-4B88-9639-4B960E7DCB5C}" dt="2026-07-16T13:57:54.344" v="131" actId="6549"/>
          <ac:spMkLst>
            <pc:docMk/>
            <pc:sldMk cId="3470700015" sldId="2147480923"/>
            <ac:spMk id="4" creationId="{3B0384B8-B3E7-C44E-FA3A-CEC5EDAA801C}"/>
          </ac:spMkLst>
        </pc:spChg>
        <pc:grpChg chg="mod">
          <ac:chgData name="Neal Daftary" userId="a8e4b0f7-3cbb-4508-bbc9-5aad3ac9b503" providerId="ADAL" clId="{82527E1F-6B11-4B88-9639-4B960E7DCB5C}" dt="2026-07-16T13:58:34.891" v="135" actId="1076"/>
          <ac:grpSpMkLst>
            <pc:docMk/>
            <pc:sldMk cId="3470700015" sldId="2147480923"/>
            <ac:grpSpMk id="15" creationId="{53313BED-92DE-CB51-A5A3-75F9C2C8316C}"/>
          </ac:grpSpMkLst>
        </pc:gr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Neal Daftary" userId="a8e4b0f7-3cbb-4508-bbc9-5aad3ac9b503" providerId="ADAL" clId="{82527E1F-6B11-4B88-9639-4B960E7DCB5C}" dt="2026-07-16T13:57:54.344" v="131" actId="6549"/>
              <pc2:cmMkLst xmlns:pc2="http://schemas.microsoft.com/office/powerpoint/2019/9/main/command">
                <pc:docMk/>
                <pc:sldMk cId="3470700015" sldId="2147480923"/>
                <pc2:cmMk id="{5FB8F718-0368-4004-BCEC-DF7184373E8E}"/>
              </pc2:cmMkLst>
            </pc226:cmChg>
            <pc226:cmChg xmlns:pc226="http://schemas.microsoft.com/office/powerpoint/2022/06/main/command" chg="mod">
              <pc226:chgData name="Neal Daftary" userId="a8e4b0f7-3cbb-4508-bbc9-5aad3ac9b503" providerId="ADAL" clId="{82527E1F-6B11-4B88-9639-4B960E7DCB5C}" dt="2026-07-16T13:57:54.344" v="131" actId="6549"/>
              <pc2:cmMkLst xmlns:pc2="http://schemas.microsoft.com/office/powerpoint/2019/9/main/command">
                <pc:docMk/>
                <pc:sldMk cId="3470700015" sldId="2147480923"/>
                <pc2:cmMk id="{C389DA2A-8F4D-44B6-9337-B82CE71ADD4F}"/>
              </pc2:cmMkLst>
            </pc226:cmChg>
          </p:ext>
        </pc:extLst>
      </pc:sldChg>
      <pc:sldChg chg="modSp mod">
        <pc:chgData name="Neal Daftary" userId="a8e4b0f7-3cbb-4508-bbc9-5aad3ac9b503" providerId="ADAL" clId="{82527E1F-6B11-4B88-9639-4B960E7DCB5C}" dt="2026-07-16T14:48:37.104" v="475" actId="6549"/>
        <pc:sldMkLst>
          <pc:docMk/>
          <pc:sldMk cId="1243251857" sldId="2147480926"/>
        </pc:sldMkLst>
        <pc:spChg chg="mod">
          <ac:chgData name="Neal Daftary" userId="a8e4b0f7-3cbb-4508-bbc9-5aad3ac9b503" providerId="ADAL" clId="{82527E1F-6B11-4B88-9639-4B960E7DCB5C}" dt="2026-07-16T14:48:37.104" v="475" actId="6549"/>
          <ac:spMkLst>
            <pc:docMk/>
            <pc:sldMk cId="1243251857" sldId="2147480926"/>
            <ac:spMk id="4" creationId="{0DAE0A73-3D05-977F-E839-C7790856E611}"/>
          </ac:spMkLst>
        </pc:spChg>
        <pc:spChg chg="mod">
          <ac:chgData name="Neal Daftary" userId="a8e4b0f7-3cbb-4508-bbc9-5aad3ac9b503" providerId="ADAL" clId="{82527E1F-6B11-4B88-9639-4B960E7DCB5C}" dt="2026-07-16T14:32:57.911" v="368" actId="20577"/>
          <ac:spMkLst>
            <pc:docMk/>
            <pc:sldMk cId="1243251857" sldId="2147480926"/>
            <ac:spMk id="9" creationId="{EA00557E-76BA-E5D8-9C71-25C0270E05DA}"/>
          </ac:spMkLst>
        </pc:spChg>
      </pc:sldChg>
      <pc:sldChg chg="modSp mod">
        <pc:chgData name="Neal Daftary" userId="a8e4b0f7-3cbb-4508-bbc9-5aad3ac9b503" providerId="ADAL" clId="{82527E1F-6B11-4B88-9639-4B960E7DCB5C}" dt="2026-07-16T14:47:26.290" v="459" actId="20577"/>
        <pc:sldMkLst>
          <pc:docMk/>
          <pc:sldMk cId="2355705192" sldId="2147480927"/>
        </pc:sldMkLst>
        <pc:spChg chg="mod">
          <ac:chgData name="Neal Daftary" userId="a8e4b0f7-3cbb-4508-bbc9-5aad3ac9b503" providerId="ADAL" clId="{82527E1F-6B11-4B88-9639-4B960E7DCB5C}" dt="2026-07-16T14:47:26.290" v="459" actId="20577"/>
          <ac:spMkLst>
            <pc:docMk/>
            <pc:sldMk cId="2355705192" sldId="2147480927"/>
            <ac:spMk id="4" creationId="{7DA9319D-59C4-43E2-A18B-C0D287160FF5}"/>
          </ac:spMkLst>
        </pc:spChg>
      </pc:sldChg>
      <pc:sldChg chg="modSp mod">
        <pc:chgData name="Neal Daftary" userId="a8e4b0f7-3cbb-4508-bbc9-5aad3ac9b503" providerId="ADAL" clId="{82527E1F-6B11-4B88-9639-4B960E7DCB5C}" dt="2026-07-16T14:35:33.660" v="393" actId="1076"/>
        <pc:sldMkLst>
          <pc:docMk/>
          <pc:sldMk cId="29205506" sldId="2147480928"/>
        </pc:sldMkLst>
        <pc:spChg chg="mod">
          <ac:chgData name="Neal Daftary" userId="a8e4b0f7-3cbb-4508-bbc9-5aad3ac9b503" providerId="ADAL" clId="{82527E1F-6B11-4B88-9639-4B960E7DCB5C}" dt="2026-07-16T14:35:33.660" v="393" actId="1076"/>
          <ac:spMkLst>
            <pc:docMk/>
            <pc:sldMk cId="29205506" sldId="2147480928"/>
            <ac:spMk id="14" creationId="{AA253C5D-52EB-C453-51C1-098BC187A263}"/>
          </ac:spMkLst>
        </pc:spChg>
      </pc:sldChg>
      <pc:sldChg chg="modSp mod">
        <pc:chgData name="Neal Daftary" userId="a8e4b0f7-3cbb-4508-bbc9-5aad3ac9b503" providerId="ADAL" clId="{82527E1F-6B11-4B88-9639-4B960E7DCB5C}" dt="2026-07-16T14:43:41.241" v="417" actId="20577"/>
        <pc:sldMkLst>
          <pc:docMk/>
          <pc:sldMk cId="1485968153" sldId="2147480930"/>
        </pc:sldMkLst>
        <pc:spChg chg="mod">
          <ac:chgData name="Neal Daftary" userId="a8e4b0f7-3cbb-4508-bbc9-5aad3ac9b503" providerId="ADAL" clId="{82527E1F-6B11-4B88-9639-4B960E7DCB5C}" dt="2026-07-16T14:43:41.241" v="417" actId="20577"/>
          <ac:spMkLst>
            <pc:docMk/>
            <pc:sldMk cId="1485968153" sldId="2147480930"/>
            <ac:spMk id="4" creationId="{AA95C3D1-04A2-1347-6078-7B27D775458A}"/>
          </ac:spMkLst>
        </pc:spChg>
      </pc:sldChg>
      <pc:sldChg chg="modSp del mod modShow">
        <pc:chgData name="Neal Daftary" userId="a8e4b0f7-3cbb-4508-bbc9-5aad3ac9b503" providerId="ADAL" clId="{82527E1F-6B11-4B88-9639-4B960E7DCB5C}" dt="2026-07-17T20:04:15.705" v="558" actId="47"/>
        <pc:sldMkLst>
          <pc:docMk/>
          <pc:sldMk cId="3711351116" sldId="2147480933"/>
        </pc:sldMkLst>
        <pc:spChg chg="mod">
          <ac:chgData name="Neal Daftary" userId="a8e4b0f7-3cbb-4508-bbc9-5aad3ac9b503" providerId="ADAL" clId="{82527E1F-6B11-4B88-9639-4B960E7DCB5C}" dt="2026-07-16T16:22:43.252" v="487" actId="20577"/>
          <ac:spMkLst>
            <pc:docMk/>
            <pc:sldMk cId="3711351116" sldId="2147480933"/>
            <ac:spMk id="3" creationId="{EC99EEDD-F2ED-5ECB-48DF-C121B8873FE1}"/>
          </ac:spMkLst>
        </pc:spChg>
        <pc:spChg chg="mod">
          <ac:chgData name="Neal Daftary" userId="a8e4b0f7-3cbb-4508-bbc9-5aad3ac9b503" providerId="ADAL" clId="{82527E1F-6B11-4B88-9639-4B960E7DCB5C}" dt="2026-07-16T13:52:49.356" v="79" actId="20577"/>
          <ac:spMkLst>
            <pc:docMk/>
            <pc:sldMk cId="3711351116" sldId="2147480933"/>
            <ac:spMk id="14" creationId="{C315AB53-E1EF-69B1-A11A-04EC8452786A}"/>
          </ac:spMkLst>
        </pc:spChg>
      </pc:sldChg>
      <pc:sldChg chg="modSp add mod">
        <pc:chgData name="Neal Daftary" userId="a8e4b0f7-3cbb-4508-bbc9-5aad3ac9b503" providerId="ADAL" clId="{82527E1F-6B11-4B88-9639-4B960E7DCB5C}" dt="2026-07-16T14:47:22.060" v="455" actId="20577"/>
        <pc:sldMkLst>
          <pc:docMk/>
          <pc:sldMk cId="1808018698" sldId="2147480935"/>
        </pc:sldMkLst>
        <pc:spChg chg="mod">
          <ac:chgData name="Neal Daftary" userId="a8e4b0f7-3cbb-4508-bbc9-5aad3ac9b503" providerId="ADAL" clId="{82527E1F-6B11-4B88-9639-4B960E7DCB5C}" dt="2026-07-16T14:47:22.060" v="455" actId="20577"/>
          <ac:spMkLst>
            <pc:docMk/>
            <pc:sldMk cId="1808018698" sldId="2147480935"/>
            <ac:spMk id="4" creationId="{711A0567-0E6E-1666-D1D9-DBAC0C9E31C0}"/>
          </ac:spMkLst>
        </pc:spChg>
      </pc:sldChg>
      <pc:sldChg chg="modSp add del mod">
        <pc:chgData name="Neal Daftary" userId="a8e4b0f7-3cbb-4508-bbc9-5aad3ac9b503" providerId="ADAL" clId="{82527E1F-6B11-4B88-9639-4B960E7DCB5C}" dt="2026-07-16T14:34:08.519" v="374" actId="2890"/>
        <pc:sldMkLst>
          <pc:docMk/>
          <pc:sldMk cId="3488130324" sldId="2147480935"/>
        </pc:sldMkLst>
        <pc:spChg chg="mod">
          <ac:chgData name="Neal Daftary" userId="a8e4b0f7-3cbb-4508-bbc9-5aad3ac9b503" providerId="ADAL" clId="{82527E1F-6B11-4B88-9639-4B960E7DCB5C}" dt="2026-07-16T14:34:07.844" v="373" actId="6549"/>
          <ac:spMkLst>
            <pc:docMk/>
            <pc:sldMk cId="3488130324" sldId="2147480935"/>
            <ac:spMk id="4" creationId="{3DEC8A54-D198-0137-E940-B81BB21D96BE}"/>
          </ac:spMkLst>
        </pc:spChg>
      </pc:sldChg>
      <pc:sldChg chg="modSp add del mod">
        <pc:chgData name="Neal Daftary" userId="a8e4b0f7-3cbb-4508-bbc9-5aad3ac9b503" providerId="ADAL" clId="{82527E1F-6B11-4B88-9639-4B960E7DCB5C}" dt="2026-07-16T13:58:03.126" v="132" actId="47"/>
        <pc:sldMkLst>
          <pc:docMk/>
          <pc:sldMk cId="4085790709" sldId="2147480935"/>
        </pc:sldMkLst>
        <pc:spChg chg="mod">
          <ac:chgData name="Neal Daftary" userId="a8e4b0f7-3cbb-4508-bbc9-5aad3ac9b503" providerId="ADAL" clId="{82527E1F-6B11-4B88-9639-4B960E7DCB5C}" dt="2026-07-16T13:57:05.247" v="127" actId="20577"/>
          <ac:spMkLst>
            <pc:docMk/>
            <pc:sldMk cId="4085790709" sldId="2147480935"/>
            <ac:spMk id="3" creationId="{4CB9D01D-631A-C419-3DE6-A7A37D1B586B}"/>
          </ac:spMkLst>
        </pc:spChg>
      </pc:sldChg>
      <pc:sldChg chg="addSp modSp add mod">
        <pc:chgData name="Neal Daftary" userId="a8e4b0f7-3cbb-4508-bbc9-5aad3ac9b503" providerId="ADAL" clId="{82527E1F-6B11-4B88-9639-4B960E7DCB5C}" dt="2026-07-16T16:31:42.280" v="556" actId="404"/>
        <pc:sldMkLst>
          <pc:docMk/>
          <pc:sldMk cId="559145615" sldId="2147480936"/>
        </pc:sldMkLst>
        <pc:spChg chg="add mod">
          <ac:chgData name="Neal Daftary" userId="a8e4b0f7-3cbb-4508-bbc9-5aad3ac9b503" providerId="ADAL" clId="{82527E1F-6B11-4B88-9639-4B960E7DCB5C}" dt="2026-07-16T16:31:33.134" v="554" actId="1076"/>
          <ac:spMkLst>
            <pc:docMk/>
            <pc:sldMk cId="559145615" sldId="2147480936"/>
            <ac:spMk id="5" creationId="{DBBA0A91-6819-E102-E692-7CC292023BEC}"/>
          </ac:spMkLst>
        </pc:spChg>
        <pc:spChg chg="mod">
          <ac:chgData name="Neal Daftary" userId="a8e4b0f7-3cbb-4508-bbc9-5aad3ac9b503" providerId="ADAL" clId="{82527E1F-6B11-4B88-9639-4B960E7DCB5C}" dt="2026-07-16T16:31:42.280" v="556" actId="404"/>
          <ac:spMkLst>
            <pc:docMk/>
            <pc:sldMk cId="559145615" sldId="2147480936"/>
            <ac:spMk id="12" creationId="{3FED5967-189A-4676-D7A6-8F9247B71C0F}"/>
          </ac:spMkLst>
        </pc:spChg>
        <pc:spChg chg="mod">
          <ac:chgData name="Neal Daftary" userId="a8e4b0f7-3cbb-4508-bbc9-5aad3ac9b503" providerId="ADAL" clId="{82527E1F-6B11-4B88-9639-4B960E7DCB5C}" dt="2026-07-16T16:31:38.647" v="555" actId="404"/>
          <ac:spMkLst>
            <pc:docMk/>
            <pc:sldMk cId="559145615" sldId="2147480936"/>
            <ac:spMk id="14" creationId="{D7BCD169-7C58-C11E-0A32-8D57C801EED8}"/>
          </ac:spMkLst>
        </pc:spChg>
        <pc:graphicFrameChg chg="mod modGraphic">
          <ac:chgData name="Neal Daftary" userId="a8e4b0f7-3cbb-4508-bbc9-5aad3ac9b503" providerId="ADAL" clId="{82527E1F-6B11-4B88-9639-4B960E7DCB5C}" dt="2026-07-16T16:31:30.335" v="553" actId="14100"/>
          <ac:graphicFrameMkLst>
            <pc:docMk/>
            <pc:sldMk cId="559145615" sldId="2147480936"/>
            <ac:graphicFrameMk id="7" creationId="{8FD1C4AD-7589-5BF7-4A86-87A763A4F251}"/>
          </ac:graphicFrameMkLst>
        </pc:graphicFrameChg>
      </pc:sldChg>
      <pc:sldChg chg="modSp add del mod">
        <pc:chgData name="Neal Daftary" userId="a8e4b0f7-3cbb-4508-bbc9-5aad3ac9b503" providerId="ADAL" clId="{82527E1F-6B11-4B88-9639-4B960E7DCB5C}" dt="2026-07-16T16:26:37.604" v="523" actId="2696"/>
        <pc:sldMkLst>
          <pc:docMk/>
          <pc:sldMk cId="3291239378" sldId="2147480936"/>
        </pc:sldMkLst>
        <pc:spChg chg="mod">
          <ac:chgData name="Neal Daftary" userId="a8e4b0f7-3cbb-4508-bbc9-5aad3ac9b503" providerId="ADAL" clId="{82527E1F-6B11-4B88-9639-4B960E7DCB5C}" dt="2026-07-16T16:26:31.771" v="522"/>
          <ac:spMkLst>
            <pc:docMk/>
            <pc:sldMk cId="3291239378" sldId="2147480936"/>
            <ac:spMk id="3" creationId="{742E3763-AB14-2BD6-C267-B4DA2B154673}"/>
          </ac:spMkLst>
        </pc:spChg>
        <pc:graphicFrameChg chg="modGraphic">
          <ac:chgData name="Neal Daftary" userId="a8e4b0f7-3cbb-4508-bbc9-5aad3ac9b503" providerId="ADAL" clId="{82527E1F-6B11-4B88-9639-4B960E7DCB5C}" dt="2026-07-16T16:25:51.581" v="506" actId="20577"/>
          <ac:graphicFrameMkLst>
            <pc:docMk/>
            <pc:sldMk cId="3291239378" sldId="2147480936"/>
            <ac:graphicFrameMk id="7" creationId="{C145F151-1949-05E2-4CD3-F5CFA0FFC5A2}"/>
          </ac:graphicFrameMkLst>
        </pc:graphicFrameChg>
      </pc:sldChg>
    </pc:docChg>
  </pc:docChgLst>
</pc:chgInfo>
</file>

<file path=ppt/comments/modernComment_7FFFF553_E23A55E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9520325-641C-4BF0-B49A-C14CC318F4AC}" authorId="{07A7DA4E-2D53-DA87-2AC2-FBAE60A429A0}" created="2026-04-10T19:21:24.85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795473896" sldId="2147480915"/>
      <ac:spMk id="4" creationId="{DAEF3DB2-C9F5-BD69-4BB3-B50C9D931838}"/>
      <ac:txMk cp="754" len="106">
        <ac:context len="1026" hash="377540513"/>
      </ac:txMk>
    </ac:txMkLst>
    <p188:pos x="6298108" y="3453834"/>
    <p188:txBody>
      <a:bodyPr/>
      <a:lstStyle/>
      <a:p>
        <a:r>
          <a:rPr lang="en-CA"/>
          <a:t>Log discussion / decision anywhere? CRM? </a:t>
        </a:r>
      </a:p>
    </p188:txBody>
  </p188:cm>
  <p188:cm id="{A69828E0-CF9D-4173-BA92-BC92F5424C37}" authorId="{07A7DA4E-2D53-DA87-2AC2-FBAE60A429A0}" created="2026-04-10T19:21:53.07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795473896" sldId="2147480915"/>
      <ac:spMk id="4" creationId="{DAEF3DB2-C9F5-BD69-4BB3-B50C9D931838}"/>
      <ac:txMk cp="956" len="35">
        <ac:context len="1026" hash="377540513"/>
      </ac:txMk>
    </ac:txMkLst>
    <p188:pos x="4685618" y="4732028"/>
    <p188:txBody>
      <a:bodyPr/>
      <a:lstStyle/>
      <a:p>
        <a:r>
          <a:rPr lang="en-CA"/>
          <a:t>Would be great to have one case study per partner type.</a:t>
        </a:r>
      </a:p>
    </p188:txBody>
  </p188:cm>
</p188:cmLst>
</file>

<file path=ppt/comments/modernComment_7FFFF554_8FB3210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BC9A0E6-DD25-464F-B6D2-A310E350D182}" authorId="{07A7DA4E-2D53-DA87-2AC2-FBAE60A429A0}" created="2026-04-10T19:22:25.91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410881291" sldId="2147480916"/>
      <ac:spMk id="4" creationId="{CABC3F1D-D876-6271-4D23-851C91C0E747}"/>
      <ac:txMk cp="191" len="227">
        <ac:context len="851" hash="3199716230"/>
      </ac:txMk>
    </ac:txMkLst>
    <p188:pos x="10940572" y="1981607"/>
    <p188:replyLst>
      <p188:reply id="{FDE7B40A-4AE0-45A0-8E1E-8B53D9A9CCA3}" authorId="{07A7DA4E-2D53-DA87-2AC2-FBAE60A429A0}" created="2026-04-27T17:15:45.162">
        <p188:txBody>
          <a:bodyPr/>
          <a:lstStyle/>
          <a:p>
            <a:r>
              <a:rPr lang="en-CA"/>
              <a:t>No - one is deck, one is detailed commercial terms.</a:t>
            </a:r>
          </a:p>
        </p188:txBody>
      </p188:reply>
    </p188:replyLst>
    <p188:txBody>
      <a:bodyPr/>
      <a:lstStyle/>
      <a:p>
        <a:r>
          <a:rPr lang="en-CA"/>
          <a:t>Overkill to have both a Proposal and a Term Sheet? </a:t>
        </a:r>
      </a:p>
    </p188:txBody>
  </p188:cm>
  <p188:cm id="{CCA7CF9E-979F-42DA-ACBD-5C6F45D5A32D}" authorId="{07A7DA4E-2D53-DA87-2AC2-FBAE60A429A0}" status="resolved" created="2026-04-10T19:22:42.397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410881291" sldId="2147480916"/>
      <ac:spMk id="4" creationId="{CABC3F1D-D876-6271-4D23-851C91C0E747}"/>
      <ac:txMk cp="419" len="45">
        <ac:context len="851" hash="3199716230"/>
      </ac:txMk>
    </ac:txMkLst>
    <p188:pos x="5159204" y="2709194"/>
    <p188:replyLst>
      <p188:reply id="{809FFA23-592A-485F-9562-57E6A1D6CEA6}" authorId="{07A7DA4E-2D53-DA87-2AC2-FBAE60A429A0}" created="2026-04-27T17:25:50.309">
        <p188:txBody>
          <a:bodyPr/>
          <a:lstStyle/>
          <a:p>
            <a:r>
              <a:rPr lang="en-CA"/>
              <a:t>MD final sign off on term sheet - doesn’t need to review proposal. </a:t>
            </a:r>
          </a:p>
        </p188:txBody>
      </p188:reply>
    </p188:replyLst>
    <p188:txBody>
      <a:bodyPr/>
      <a:lstStyle/>
      <a:p>
        <a:r>
          <a:rPr lang="en-CA"/>
          <a:t>Who needs to review, and who gives final sign off?</a:t>
        </a:r>
      </a:p>
    </p188:txBody>
  </p188:cm>
  <p188:cm id="{30287F04-1D84-4BE2-9394-7DE79A7659BE}" authorId="{07A7DA4E-2D53-DA87-2AC2-FBAE60A429A0}" created="2026-04-10T19:23:25.90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410881291" sldId="2147480916"/>
      <ac:spMk id="4" creationId="{CABC3F1D-D876-6271-4D23-851C91C0E747}"/>
      <ac:txMk cp="694" len="12">
        <ac:context len="851" hash="3199716230"/>
      </ac:txMk>
    </ac:txMkLst>
    <p188:pos x="1658920" y="3446613"/>
    <p188:txBody>
      <a:bodyPr/>
      <a:lstStyle/>
      <a:p>
        <a:r>
          <a:rPr lang="en-CA"/>
          <a:t>Link specific folder</a:t>
        </a:r>
      </a:p>
    </p188:txBody>
  </p188:cm>
</p188:cmLst>
</file>

<file path=ppt/comments/modernComment_7FFFF555_1143E0F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C99AF36-4A51-4517-BCBD-6819B3CBAE5C}" authorId="{07A7DA4E-2D53-DA87-2AC2-FBAE60A429A0}" created="2026-04-10T19:24:15.99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89661178" sldId="2147480917"/>
      <ac:spMk id="4" creationId="{0FFA7D4D-0AEB-5712-D828-11A281AC8A87}"/>
      <ac:txMk cp="444" len="182">
        <ac:context len="965" hash="4203712731"/>
      </ac:txMk>
    </ac:txMkLst>
    <p188:pos x="2955481" y="2469305"/>
    <p188:replyLst>
      <p188:reply id="{7840B447-6D8B-406A-97E8-E4142EA32325}" authorId="{07A7DA4E-2D53-DA87-2AC2-FBAE60A429A0}" created="2026-04-27T17:32:56.049">
        <p188:txBody>
          <a:bodyPr/>
          <a:lstStyle/>
          <a:p>
            <a:r>
              <a:rPr lang="en-CA"/>
              <a:t>AHLA lawyer would do legal review.</a:t>
            </a:r>
          </a:p>
        </p188:txBody>
      </p188:reply>
    </p188:replyLst>
    <p188:txBody>
      <a:bodyPr/>
      <a:lstStyle/>
      <a:p>
        <a:r>
          <a:rPr lang="en-CA"/>
          <a:t>With who? GK lawyer?</a:t>
        </a:r>
      </a:p>
    </p188:txBody>
  </p188:cm>
  <p188:cm id="{0F97A478-FF3B-49FA-AE68-EFA0841F1390}" authorId="{07A7DA4E-2D53-DA87-2AC2-FBAE60A429A0}" created="2026-04-10T19:24:45.42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89661178" sldId="2147480917"/>
      <ac:spMk id="4" creationId="{0FFA7D4D-0AEB-5712-D828-11A281AC8A87}"/>
      <ac:txMk cp="883" len="13">
        <ac:context len="965" hash="4203712731"/>
      </ac:txMk>
    </ac:txMkLst>
    <p188:pos x="10683636" y="3206724"/>
    <p188:txBody>
      <a:bodyPr/>
      <a:lstStyle/>
      <a:p>
        <a:r>
          <a:rPr lang="en-CA"/>
          <a:t>Link specific folder.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293FD1-D5A9-401E-8F9F-E332C925D358}" type="datetimeFigureOut">
              <a:rPr lang="en-CA" smtClean="0"/>
              <a:t>2026-07-17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774ECA-E9DB-45A7-8801-7C7EE93D81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86904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704850"/>
            <a:ext cx="6254750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4" name="Google Shape;144;p1:notes"/>
          <p:cNvSpPr txBox="1">
            <a:spLocks noGrp="1"/>
          </p:cNvSpPr>
          <p:nvPr>
            <p:ph type="body" idx="1"/>
          </p:nvPr>
        </p:nvSpPr>
        <p:spPr>
          <a:xfrm>
            <a:off x="710248" y="4459527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7" tIns="47109" rIns="94217" bIns="47109" anchor="t" anchorCtr="0">
            <a:noAutofit/>
          </a:bodyPr>
          <a:lstStyle/>
          <a:p>
            <a:pPr marL="0" indent="0">
              <a:buSzPts val="1800"/>
            </a:pPr>
            <a:br>
              <a:rPr lang="en-US" sz="1800" dirty="0">
                <a:solidFill>
                  <a:srgbClr val="000000"/>
                </a:solidFill>
              </a:rPr>
            </a:br>
            <a:r>
              <a:rPr lang="en-US"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50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:notes"/>
          <p:cNvSpPr txBox="1">
            <a:spLocks noGrp="1"/>
          </p:cNvSpPr>
          <p:nvPr>
            <p:ph type="sldNum" idx="12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7" tIns="47109" rIns="94217" bIns="47109" anchor="b" anchorCtr="0">
            <a:noAutofit/>
          </a:bodyPr>
          <a:lstStyle/>
          <a:p>
            <a:pPr algn="r"/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1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DD99A-66E3-F035-BF27-71CC7D268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6ED6FD-C99A-4669-4957-4008A3F3EF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EAE41C-EB0E-5327-535F-6E83C3D349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BE250-6A69-EDC5-64A2-307C367576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42289">
              <a:defRPr/>
            </a:pPr>
            <a:fld id="{C888DCB6-0281-8542-A506-471CD96A90DE}" type="slidenum">
              <a:rPr lang="en-CA">
                <a:solidFill>
                  <a:prstClr val="black"/>
                </a:solidFill>
                <a:latin typeface="Calibri" panose="020F0502020204030204"/>
              </a:rPr>
              <a:pPr defTabSz="942289">
                <a:defRPr/>
              </a:pPr>
              <a:t>2</a:t>
            </a:fld>
            <a:endParaRPr lang="en-CA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97126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2FA6F-9BA5-3D09-0DDD-775130D26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5EB265-C442-C1E9-8874-3D190BF82F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FF5486-3596-1C48-9355-321B547FB2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9046B-3653-938E-B98A-01C51B4A73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42289">
              <a:defRPr/>
            </a:pPr>
            <a:fld id="{C888DCB6-0281-8542-A506-471CD96A90DE}" type="slidenum">
              <a:rPr lang="en-CA">
                <a:solidFill>
                  <a:prstClr val="black"/>
                </a:solidFill>
                <a:latin typeface="Calibri" panose="020F0502020204030204"/>
              </a:rPr>
              <a:pPr defTabSz="942289">
                <a:defRPr/>
              </a:pPr>
              <a:t>3</a:t>
            </a:fld>
            <a:endParaRPr lang="en-CA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463135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D91BE-D68D-862B-15B4-6DD8B3F50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54E83F-D8D2-0B33-0A64-04D1A6BB42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7ED2D6-F446-32A6-3C58-87F453801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Market Development team owns the partnership lifecycle—from prospecting and strategic sales through implementation handoff. Once a partnership is activated, the Account Manager assumes day-to-day ownership of partner success, growth, and renewals.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FDE09-682C-C1A7-B4A4-40277FCC3F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42289">
              <a:defRPr/>
            </a:pPr>
            <a:fld id="{C888DCB6-0281-8542-A506-471CD96A90DE}" type="slidenum">
              <a:rPr lang="en-CA">
                <a:solidFill>
                  <a:prstClr val="black"/>
                </a:solidFill>
                <a:latin typeface="Calibri" panose="020F0502020204030204"/>
              </a:rPr>
              <a:pPr defTabSz="942289">
                <a:defRPr/>
              </a:pPr>
              <a:t>4</a:t>
            </a:fld>
            <a:endParaRPr lang="en-CA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5755376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5BA10-EDD7-61F0-2AEC-CE6A72250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E2763D-F104-A22A-D18B-425B61B4D3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63C1AF-C528-2F25-D1A1-271CAF7F2C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1C3445-90BF-8A2F-6F69-E34788FCED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42289">
              <a:defRPr/>
            </a:pPr>
            <a:fld id="{C888DCB6-0281-8542-A506-471CD96A90DE}" type="slidenum">
              <a:rPr lang="en-CA">
                <a:solidFill>
                  <a:prstClr val="black"/>
                </a:solidFill>
                <a:latin typeface="Calibri" panose="020F0502020204030204"/>
              </a:rPr>
              <a:pPr defTabSz="942289">
                <a:defRPr/>
              </a:pPr>
              <a:t>5</a:t>
            </a:fld>
            <a:endParaRPr lang="en-CA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356959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D0203-1F29-8FF3-A421-AE4B3A1D9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12BF8B-8423-FA28-A977-5506530145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0C32D0-47C1-3353-99C4-9F1257A85C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Responsible - Director BDR </a:t>
            </a:r>
          </a:p>
          <a:p>
            <a:r>
              <a:rPr lang="en-US" dirty="0"/>
              <a:t>Accountable - VP Market Development </a:t>
            </a:r>
          </a:p>
          <a:p>
            <a:r>
              <a:rPr lang="en-US" dirty="0"/>
              <a:t>Consulted - Managing Director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BFCA6-1F83-5A79-1C92-D90BA72CC2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42289">
              <a:defRPr/>
            </a:pPr>
            <a:fld id="{C888DCB6-0281-8542-A506-471CD96A90DE}" type="slidenum">
              <a:rPr lang="en-CA">
                <a:solidFill>
                  <a:prstClr val="black"/>
                </a:solidFill>
                <a:latin typeface="Calibri" panose="020F0502020204030204"/>
              </a:rPr>
              <a:pPr defTabSz="942289">
                <a:defRPr/>
              </a:pPr>
              <a:t>6</a:t>
            </a:fld>
            <a:endParaRPr lang="en-CA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640772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D2696-1AE8-A919-6838-F8C37987F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6D2A1A-0AD6-93D9-B9BA-622E0C5957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EDF083-EB72-4E1B-66AD-CE822012DB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Large brands Director + VP Management companies Director Small PMGs Director / BDR Independent hotels BDR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45D763-D8A8-12BF-2476-5D0182448C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42289">
              <a:defRPr/>
            </a:pPr>
            <a:fld id="{C888DCB6-0281-8542-A506-471CD96A90DE}" type="slidenum">
              <a:rPr lang="en-CA">
                <a:solidFill>
                  <a:prstClr val="black"/>
                </a:solidFill>
                <a:latin typeface="Calibri" panose="020F0502020204030204"/>
              </a:rPr>
              <a:pPr defTabSz="942289">
                <a:defRPr/>
              </a:pPr>
              <a:t>7</a:t>
            </a:fld>
            <a:endParaRPr lang="en-CA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534429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73C4D-FD00-2E43-310F-3943036AA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28789D-02A4-7CFB-47B8-575AFEE087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BC0358-A311-0D32-28BC-6ACF66A1B4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Proposal Creation Director-  BDR </a:t>
            </a:r>
          </a:p>
          <a:p>
            <a:r>
              <a:rPr lang="en-US" dirty="0"/>
              <a:t>Pricing Strategy - VP </a:t>
            </a:r>
          </a:p>
          <a:p>
            <a:r>
              <a:rPr lang="en-US" dirty="0"/>
              <a:t>Commercial Terms - VP </a:t>
            </a:r>
          </a:p>
          <a:p>
            <a:r>
              <a:rPr lang="en-US" dirty="0"/>
              <a:t>Executive Negotiation – VP, Managing Director </a:t>
            </a:r>
          </a:p>
          <a:p>
            <a:r>
              <a:rPr lang="en-US" dirty="0"/>
              <a:t>Proposal Administration - BDR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71426-FEB4-7CDF-5625-37864C0807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42289">
              <a:defRPr/>
            </a:pPr>
            <a:fld id="{C888DCB6-0281-8542-A506-471CD96A90DE}" type="slidenum">
              <a:rPr lang="en-CA">
                <a:solidFill>
                  <a:prstClr val="black"/>
                </a:solidFill>
                <a:latin typeface="Calibri" panose="020F0502020204030204"/>
              </a:rPr>
              <a:pPr defTabSz="942289">
                <a:defRPr/>
              </a:pPr>
              <a:t>8</a:t>
            </a:fld>
            <a:endParaRPr lang="en-CA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138879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62A5A-E2A7-172B-A80C-23E8BFA68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5E91C8-D4CB-5E44-E81B-F3AA904D3A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6382D1-0497-A198-4B3B-A3B8893D26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FC8C7-5227-FCC4-E4AA-960A307F72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42289">
              <a:defRPr/>
            </a:pPr>
            <a:fld id="{C888DCB6-0281-8542-A506-471CD96A90DE}" type="slidenum">
              <a:rPr lang="en-CA">
                <a:solidFill>
                  <a:prstClr val="black"/>
                </a:solidFill>
                <a:latin typeface="Calibri" panose="020F0502020204030204"/>
              </a:rPr>
              <a:pPr defTabSz="942289">
                <a:defRPr/>
              </a:pPr>
              <a:t>9</a:t>
            </a:fld>
            <a:endParaRPr lang="en-CA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1136569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68D7B-0480-C1F0-DA4C-76E7A6518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1E1BA2-122B-9354-ECA9-B7F00D414E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5859EF-D77D-4BD1-FCCB-45F7E94447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04B7F6-58E0-3E59-954E-BADE310C39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42289">
              <a:defRPr/>
            </a:pPr>
            <a:fld id="{C888DCB6-0281-8542-A506-471CD96A90DE}" type="slidenum">
              <a:rPr lang="en-CA">
                <a:solidFill>
                  <a:prstClr val="black"/>
                </a:solidFill>
                <a:latin typeface="Calibri" panose="020F0502020204030204"/>
              </a:rPr>
              <a:pPr defTabSz="942289">
                <a:defRPr/>
              </a:pPr>
              <a:t>10</a:t>
            </a:fld>
            <a:endParaRPr lang="en-CA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52533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383FF-FFEC-B170-97D3-E6AAB0704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2360F4-017D-160C-96A8-15CD24CF3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41E465-B9BF-7737-08CE-5ED8196797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Formal Sales to Account Management Handoff Review: </a:t>
            </a:r>
          </a:p>
          <a:p>
            <a:r>
              <a:rPr lang="en-US" dirty="0"/>
              <a:t>• Partner objectives </a:t>
            </a:r>
          </a:p>
          <a:p>
            <a:r>
              <a:rPr lang="en-US" dirty="0"/>
              <a:t>• Pricing </a:t>
            </a:r>
          </a:p>
          <a:p>
            <a:r>
              <a:rPr lang="en-US" dirty="0"/>
              <a:t>• Key stakeholders</a:t>
            </a:r>
          </a:p>
          <a:p>
            <a:r>
              <a:rPr lang="en-US" dirty="0"/>
              <a:t>• Risks </a:t>
            </a:r>
          </a:p>
          <a:p>
            <a:r>
              <a:rPr lang="en-US" dirty="0"/>
              <a:t>• Open commitments </a:t>
            </a:r>
          </a:p>
          <a:p>
            <a:endParaRPr lang="en-US" dirty="0"/>
          </a:p>
          <a:p>
            <a:r>
              <a:rPr lang="en-US" dirty="0"/>
              <a:t>• Next milestones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9DF1A2-B1A2-8124-B57D-4E6F7F3C07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42289">
              <a:defRPr/>
            </a:pPr>
            <a:fld id="{C888DCB6-0281-8542-A506-471CD96A90DE}" type="slidenum">
              <a:rPr lang="en-CA">
                <a:solidFill>
                  <a:prstClr val="black"/>
                </a:solidFill>
                <a:latin typeface="Calibri" panose="020F0502020204030204"/>
              </a:rPr>
              <a:pPr defTabSz="942289">
                <a:defRPr/>
              </a:pPr>
              <a:t>11</a:t>
            </a:fld>
            <a:endParaRPr lang="en-CA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5096898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444B6-2BFE-8C22-C143-CCC6C2FE0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F76E59-AD15-D0F1-74C7-E228BC7157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345321-41C5-BEA4-E4FD-7782069134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1941B-E8B2-F40F-D492-690AE5FC7F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42289">
              <a:defRPr/>
            </a:pPr>
            <a:fld id="{C888DCB6-0281-8542-A506-471CD96A90DE}" type="slidenum">
              <a:rPr lang="en-CA">
                <a:solidFill>
                  <a:prstClr val="black"/>
                </a:solidFill>
                <a:latin typeface="Calibri" panose="020F0502020204030204"/>
              </a:rPr>
              <a:pPr defTabSz="942289">
                <a:defRPr/>
              </a:pPr>
              <a:t>12</a:t>
            </a:fld>
            <a:endParaRPr lang="en-CA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924946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7418C-832B-BBA0-62CB-E4E5880C6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FA95EE-97F2-E8BD-0081-BA2BBAA6E3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4CFFDB-C735-3040-D761-364E3DDC98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CEBBB-2053-0F62-8A67-9E28E66C6C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42289">
              <a:defRPr/>
            </a:pPr>
            <a:fld id="{C888DCB6-0281-8542-A506-471CD96A90DE}" type="slidenum">
              <a:rPr lang="en-CA">
                <a:solidFill>
                  <a:prstClr val="black"/>
                </a:solidFill>
                <a:latin typeface="Calibri" panose="020F0502020204030204"/>
              </a:rPr>
              <a:pPr defTabSz="942289">
                <a:defRPr/>
              </a:pPr>
              <a:t>13</a:t>
            </a:fld>
            <a:endParaRPr lang="en-CA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49757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6E5C8-0BA6-B831-B918-7F3A8683F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0B0883-98B7-D313-9D0B-67C51F1BD6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7A7C89-87D3-0AC0-AE50-A30C07337C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FE1DD1-3401-2F0B-74F2-FF2202FF29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42289">
              <a:defRPr/>
            </a:pPr>
            <a:fld id="{C888DCB6-0281-8542-A506-471CD96A90DE}" type="slidenum">
              <a:rPr lang="en-CA">
                <a:solidFill>
                  <a:prstClr val="black"/>
                </a:solidFill>
                <a:latin typeface="Calibri" panose="020F0502020204030204"/>
              </a:rPr>
              <a:pPr defTabSz="942289">
                <a:defRPr/>
              </a:pPr>
              <a:t>14</a:t>
            </a:fld>
            <a:endParaRPr lang="en-CA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9765515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729C7-3902-0153-5489-3E1012A54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EB1AE3-91E0-8318-6CCE-94403D8B17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1A88EB-3635-2704-9004-6792AD10FC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183FB1-5A1C-BA76-879D-590466A686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42289">
              <a:defRPr/>
            </a:pPr>
            <a:fld id="{C888DCB6-0281-8542-A506-471CD96A90DE}" type="slidenum">
              <a:rPr lang="en-CA">
                <a:solidFill>
                  <a:prstClr val="black"/>
                </a:solidFill>
                <a:latin typeface="Calibri" panose="020F0502020204030204"/>
              </a:rPr>
              <a:pPr defTabSz="942289">
                <a:defRPr/>
              </a:pPr>
              <a:t>15</a:t>
            </a:fld>
            <a:endParaRPr lang="en-CA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82914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BF9BC-2E02-B1DF-F56E-CC2AC2828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9E5128-E1C8-5876-4A08-1BC3166574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32AC12-98F9-F8A3-4232-B5F0007322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BD187-3072-2B09-50B3-250CC35191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42289">
              <a:defRPr/>
            </a:pPr>
            <a:fld id="{C888DCB6-0281-8542-A506-471CD96A90DE}" type="slidenum">
              <a:rPr lang="en-CA">
                <a:solidFill>
                  <a:prstClr val="black"/>
                </a:solidFill>
                <a:latin typeface="Calibri" panose="020F0502020204030204"/>
              </a:rPr>
              <a:pPr defTabSz="942289">
                <a:defRPr/>
              </a:pPr>
              <a:t>16</a:t>
            </a:fld>
            <a:endParaRPr lang="en-CA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7476278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F35D3-21C9-DF61-3C18-9D2371442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CCD54A-9911-2F80-30E3-74B155521D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4BBA74-50F2-3EA4-EEB5-C70D9D5C76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CEFC63-09D3-5E4D-5E66-07E011DD6B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42289">
              <a:defRPr/>
            </a:pPr>
            <a:fld id="{C888DCB6-0281-8542-A506-471CD96A90DE}" type="slidenum">
              <a:rPr lang="en-CA">
                <a:solidFill>
                  <a:prstClr val="black"/>
                </a:solidFill>
                <a:latin typeface="Calibri" panose="020F0502020204030204"/>
              </a:rPr>
              <a:pPr defTabSz="942289">
                <a:defRPr/>
              </a:pPr>
              <a:t>17</a:t>
            </a:fld>
            <a:endParaRPr lang="en-CA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074652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C7903-983E-D2E8-DE49-08423B263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BE7C8A-DC53-CB13-9B6A-C5FDA85704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E76BC3-9BA0-9194-38F7-D9402E0947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89F904-5613-3847-A550-FDDEF271C6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42289">
              <a:defRPr/>
            </a:pPr>
            <a:fld id="{C888DCB6-0281-8542-A506-471CD96A90DE}" type="slidenum">
              <a:rPr lang="en-CA">
                <a:solidFill>
                  <a:prstClr val="black"/>
                </a:solidFill>
                <a:latin typeface="Calibri" panose="020F0502020204030204"/>
              </a:rPr>
              <a:pPr defTabSz="942289">
                <a:defRPr/>
              </a:pPr>
              <a:t>18</a:t>
            </a:fld>
            <a:endParaRPr lang="en-CA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9488912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A793A-1BEC-A1EA-4378-5EB6842DB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7FA7E3-8346-368F-791A-F518E5C968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70E76A-93DF-73FE-3916-564C8FA2CF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C14382-F6EE-1D01-479D-644A05A87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42289">
              <a:defRPr/>
            </a:pPr>
            <a:fld id="{C888DCB6-0281-8542-A506-471CD96A90DE}" type="slidenum">
              <a:rPr lang="en-CA">
                <a:solidFill>
                  <a:prstClr val="black"/>
                </a:solidFill>
                <a:latin typeface="Calibri" panose="020F0502020204030204"/>
              </a:rPr>
              <a:pPr defTabSz="942289">
                <a:defRPr/>
              </a:pPr>
              <a:t>19</a:t>
            </a:fld>
            <a:endParaRPr lang="en-CA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3400574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26688-DE42-F7FB-326C-2433755EE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99EDE7-A9B6-8CFF-6CD7-7742F34A6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D16197-16F2-E42D-BCFA-DFB823AB5C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FC7C5-46D0-AD49-D60E-BAA8E571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42289">
              <a:defRPr/>
            </a:pPr>
            <a:fld id="{C888DCB6-0281-8542-A506-471CD96A90DE}" type="slidenum">
              <a:rPr lang="en-CA">
                <a:solidFill>
                  <a:prstClr val="black"/>
                </a:solidFill>
                <a:latin typeface="Calibri" panose="020F0502020204030204"/>
              </a:rPr>
              <a:pPr defTabSz="942289">
                <a:defRPr/>
              </a:pPr>
              <a:t>20</a:t>
            </a:fld>
            <a:endParaRPr lang="en-CA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364516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49526-B4D2-9E48-E31F-39104E938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99EC5B-4D14-1F02-7BF0-13EEF8B902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783397-E20E-46AC-B528-70CADF007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ECD44-B9D7-3CEC-9720-0087CED00A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42289">
              <a:defRPr/>
            </a:pPr>
            <a:fld id="{C888DCB6-0281-8542-A506-471CD96A90DE}" type="slidenum">
              <a:rPr lang="en-CA">
                <a:solidFill>
                  <a:prstClr val="black"/>
                </a:solidFill>
                <a:latin typeface="Calibri" panose="020F0502020204030204"/>
              </a:rPr>
              <a:pPr defTabSz="942289">
                <a:defRPr/>
              </a:pPr>
              <a:t>21</a:t>
            </a:fld>
            <a:endParaRPr lang="en-CA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16468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0:notes"/>
          <p:cNvSpPr txBox="1">
            <a:spLocks noGrp="1"/>
          </p:cNvSpPr>
          <p:nvPr>
            <p:ph type="body" idx="1"/>
          </p:nvPr>
        </p:nvSpPr>
        <p:spPr>
          <a:xfrm>
            <a:off x="938551" y="3417643"/>
            <a:ext cx="7511373" cy="2797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989" tIns="23988" rIns="47989" bIns="23988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293" name="Google Shape;29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65400" y="889000"/>
            <a:ext cx="4257675" cy="239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2B86F-A94F-2B00-D060-8CA47B8E74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288E52-D2E4-87B7-D3C2-37138844EE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C07F2-032E-4DC6-0330-C88970BED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DE574-5C2B-46ED-B604-B9993834EE01}" type="datetimeFigureOut">
              <a:rPr lang="en-CA" smtClean="0"/>
              <a:t>2026-07-17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ACFC4-5390-E2C7-7392-0AE579F4A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584B9-EDBA-C848-B368-8900D3681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C9D01-FD3E-4CCE-A5CC-7271A18DA8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5567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1035A-0B94-D04F-5EBA-B5C271C5F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2418A-F22D-065A-CE3C-88B49AE0F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CF06C-E01A-6823-79DA-5746CA944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DE574-5C2B-46ED-B604-B9993834EE01}" type="datetimeFigureOut">
              <a:rPr lang="en-CA" smtClean="0"/>
              <a:t>2026-07-17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51445-5038-0052-05C9-E07D75165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3FC5F-91F2-3D50-382B-F9FFE3A0D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C9D01-FD3E-4CCE-A5CC-7271A18DA8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3258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5F856-35C0-28F5-F7A4-952A4C029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C4BB68-371A-C4F2-D1AC-E112959E2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593B8-611D-FA73-0064-D793542E6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DE574-5C2B-46ED-B604-B9993834EE01}" type="datetimeFigureOut">
              <a:rPr lang="en-CA" smtClean="0"/>
              <a:t>2026-07-17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E734D-8714-943B-5128-CBFC9CF12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DBC45-0DBB-27B1-E9BD-691C6550D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C9D01-FD3E-4CCE-A5CC-7271A18DA8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8476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1A343-FDD1-EE11-34E7-43B905587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C56EB-5B5E-500F-BE75-088759D772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551479-05DB-CF13-0CD3-E666C6EBD3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60EEC-5917-833E-6E7D-854524FFC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DE574-5C2B-46ED-B604-B9993834EE01}" type="datetimeFigureOut">
              <a:rPr lang="en-CA" smtClean="0"/>
              <a:t>2026-07-17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847C1-D587-D7A7-D957-DA825375B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2AF516-5913-3B5B-A605-4418F24BD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C9D01-FD3E-4CCE-A5CC-7271A18DA8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98030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D0E15-0AB7-BE94-FA29-F6442CD22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C34AAD-FA8A-5360-6FFB-DFDD83309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537C46-9D95-C53E-271B-96E01FB0E6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0B8B83-F966-6832-7C43-26A271672E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24B1F2-0863-8B53-5420-4BB3CFF268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41C292-B579-8509-9156-DC2F8B468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DE574-5C2B-46ED-B604-B9993834EE01}" type="datetimeFigureOut">
              <a:rPr lang="en-CA" smtClean="0"/>
              <a:t>2026-07-17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7C9B49-73BF-A502-FDA6-63B7B5758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E732A5-439E-553D-43FC-309EE7B9B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C9D01-FD3E-4CCE-A5CC-7271A18DA8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5236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BF87A-2F34-791D-1450-ED4E031C0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51E142-43A6-699F-FCF2-96168C668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DE574-5C2B-46ED-B604-B9993834EE01}" type="datetimeFigureOut">
              <a:rPr lang="en-CA" smtClean="0"/>
              <a:t>2026-07-17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9BD521-2695-A9D7-E64E-453A0BEEB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46D6A-09D8-BC66-9EE5-B57E004FD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C9D01-FD3E-4CCE-A5CC-7271A18DA8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7688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06A5D6-9B34-78C6-2FD7-A1B35A29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DE574-5C2B-46ED-B604-B9993834EE01}" type="datetimeFigureOut">
              <a:rPr lang="en-CA" smtClean="0"/>
              <a:t>2026-07-17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349E1A-9BBE-E584-DD17-B724DAC15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40E049-D048-E182-1C69-16DAD0A97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C9D01-FD3E-4CCE-A5CC-7271A18DA8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0349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7E50F-35F2-E5F6-9D66-2F771334D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6D10B-31B0-9D65-100F-7673D9181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4C2DD-5242-32A0-F49A-127143D76A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AF665D-6B4A-B551-2755-351ACEF60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DE574-5C2B-46ED-B604-B9993834EE01}" type="datetimeFigureOut">
              <a:rPr lang="en-CA" smtClean="0"/>
              <a:t>2026-07-17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82B69F-EC50-D5E5-4E11-D1178C40B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31A0D4-F875-10B0-9AA0-F814066C0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C9D01-FD3E-4CCE-A5CC-7271A18DA8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8023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C8E55-2ACE-CF5E-C6DE-AA1C10D5C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ABF224-BAF8-08D5-81C4-0EE9B1FC03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31FC3E-405D-157E-1DFB-C554FC0B2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B18F9D-3984-46EB-935C-0BE20E668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DE574-5C2B-46ED-B604-B9993834EE01}" type="datetimeFigureOut">
              <a:rPr lang="en-CA" smtClean="0"/>
              <a:t>2026-07-17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1453D-3BAD-4F7D-A1E2-F73EC796A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F1A4F-5081-A12A-35BB-98AEECB85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C9D01-FD3E-4CCE-A5CC-7271A18DA8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32887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D8C44-5B32-DE56-AEC1-E27774D6C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982D30-1A32-BD05-FC63-22F63918B7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0FE17-6832-F4B3-3C3B-C9DD944CC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DE574-5C2B-46ED-B604-B9993834EE01}" type="datetimeFigureOut">
              <a:rPr lang="en-CA" smtClean="0"/>
              <a:t>2026-07-17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4ED84-9A9A-199B-F44B-04A192B3F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35517-32AC-7278-E868-749AF0847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C9D01-FD3E-4CCE-A5CC-7271A18DA8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7165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C346D3-AA3C-3F85-FDA6-B81ACA9BAA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CF6642-0393-7438-B965-FC9CDE822D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18528-8E0B-CBD5-027C-CE419E2A3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DE574-5C2B-46ED-B604-B9993834EE01}" type="datetimeFigureOut">
              <a:rPr lang="en-CA" smtClean="0"/>
              <a:t>2026-07-17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0015B-2E8D-3F4F-CB2D-102DF494A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D5205-B1A0-D4D6-F462-2CE2C871D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C9D01-FD3E-4CCE-A5CC-7271A18DA8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57035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Gener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3"/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4115872" cy="6858000"/>
          </a:xfrm>
          <a:effectLst/>
        </p:spPr>
        <p:txBody>
          <a:bodyPr>
            <a:normAutofit/>
          </a:bodyPr>
          <a:lstStyle>
            <a:lvl1pPr marL="0" indent="0">
              <a:buNone/>
              <a:defRPr sz="14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117797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3"/>
          <p:cNvSpPr txBox="1">
            <a:spLocks noGrp="1"/>
          </p:cNvSpPr>
          <p:nvPr>
            <p:ph type="title"/>
          </p:nvPr>
        </p:nvSpPr>
        <p:spPr>
          <a:xfrm>
            <a:off x="1444114" y="1988794"/>
            <a:ext cx="9303771" cy="9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34" b="0" i="0">
                <a:solidFill>
                  <a:srgbClr val="0A9344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body" idx="1"/>
          </p:nvPr>
        </p:nvSpPr>
        <p:spPr>
          <a:xfrm>
            <a:off x="1968929" y="2822320"/>
            <a:ext cx="8254053" cy="275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77246" lvl="0" indent="-1386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89" b="0" i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554492" lvl="1" indent="-1386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831738" lvl="2" indent="-1386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108984" lvl="3" indent="-1386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1386230" lvl="4" indent="-1386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1663476" lvl="5" indent="-1386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1940723" lvl="6" indent="-1386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2217969" lvl="7" indent="-1386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2495215" lvl="8" indent="-1386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3"/>
          <p:cNvSpPr txBox="1">
            <a:spLocks noGrp="1"/>
          </p:cNvSpPr>
          <p:nvPr>
            <p:ph type="sldNum" idx="12"/>
          </p:nvPr>
        </p:nvSpPr>
        <p:spPr>
          <a:xfrm>
            <a:off x="8778241" y="6377941"/>
            <a:ext cx="2804160" cy="168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09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09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09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09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09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09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09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09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09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5374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laceholder-Image">
  <p:cSld name="Placeholder-Imag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>
            <a:spLocks noGrp="1"/>
          </p:cNvSpPr>
          <p:nvPr>
            <p:ph type="pic" idx="2"/>
          </p:nvPr>
        </p:nvSpPr>
        <p:spPr>
          <a:xfrm>
            <a:off x="0" y="2"/>
            <a:ext cx="12192000" cy="685799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59408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A9679B-62D5-2DF9-C921-ADE630CFB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6FE19-D080-6325-16E6-F26792C92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52FF6-F905-9003-BB7A-72E4143FDA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DDE574-5C2B-46ED-B604-B9993834EE01}" type="datetimeFigureOut">
              <a:rPr lang="en-CA" smtClean="0"/>
              <a:t>2026-07-17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757C0-B31F-67C5-6AB3-B2F7698CF4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24385-23B2-95B5-894F-F9169E80B5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FC9D01-FD3E-4CCE-A5CC-7271A18DA8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63168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FFFF553_E23A55E8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FFFF554_8FB3210B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FFFF555_1143E0FA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reenkeyglobal.com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png"/><Relationship Id="rId4" Type="http://schemas.openxmlformats.org/officeDocument/2006/relationships/hyperlink" Target="mailto:rebecca.bartlettjones@greenkeygloba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0204" y="-21677"/>
            <a:ext cx="12210188" cy="61376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8" name="Google Shape;148;p1"/>
          <p:cNvGrpSpPr/>
          <p:nvPr/>
        </p:nvGrpSpPr>
        <p:grpSpPr>
          <a:xfrm>
            <a:off x="2016" y="6115950"/>
            <a:ext cx="12187969" cy="739126"/>
            <a:chOff x="856" y="12231900"/>
            <a:chExt cx="24375938" cy="1478251"/>
          </a:xfrm>
        </p:grpSpPr>
        <p:pic>
          <p:nvPicPr>
            <p:cNvPr id="149" name="Google Shape;149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56" y="12231900"/>
              <a:ext cx="24375938" cy="14782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" name="Google Shape;150;p1"/>
            <p:cNvSpPr txBox="1"/>
            <p:nvPr/>
          </p:nvSpPr>
          <p:spPr>
            <a:xfrm>
              <a:off x="13909108" y="12652048"/>
              <a:ext cx="8072944" cy="6462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13" tIns="22850" rIns="45713" bIns="22850" anchor="t" anchorCtr="0">
              <a:spAutoFit/>
            </a:bodyPr>
            <a:lstStyle/>
            <a:p>
              <a:pPr algn="ctr"/>
              <a:r>
                <a:rPr lang="en-US" dirty="0">
                  <a:solidFill>
                    <a:srgbClr val="E8E8E8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GREENKEYGLOBAL.COM</a:t>
              </a:r>
              <a:endParaRPr dirty="0">
                <a:solidFill>
                  <a:srgbClr val="E8E8E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51" name="Google Shape;151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90422" y="2800915"/>
            <a:ext cx="4165281" cy="310912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68;g373a2eee218_1_10">
            <a:extLst>
              <a:ext uri="{FF2B5EF4-FFF2-40B4-BE49-F238E27FC236}">
                <a16:creationId xmlns:a16="http://schemas.microsoft.com/office/drawing/2014/main" id="{73B8472E-9ABA-B76A-2184-840F29DF2263}"/>
              </a:ext>
            </a:extLst>
          </p:cNvPr>
          <p:cNvSpPr txBox="1"/>
          <p:nvPr/>
        </p:nvSpPr>
        <p:spPr>
          <a:xfrm>
            <a:off x="580610" y="-644451"/>
            <a:ext cx="11618324" cy="1414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63" tIns="121863" rIns="121863" bIns="121863" anchor="t" anchorCtr="0">
            <a:spAutoFit/>
          </a:bodyPr>
          <a:lstStyle/>
          <a:p>
            <a:pPr marL="16828" indent="-16828">
              <a:lnSpc>
                <a:spcPct val="115000"/>
              </a:lnSpc>
            </a:pPr>
            <a:r>
              <a:rPr lang="en-US" sz="3300" b="1" dirty="0">
                <a:solidFill>
                  <a:srgbClr val="0B9544"/>
                </a:solidFill>
                <a:latin typeface="Montserrat"/>
                <a:ea typeface="Roboto"/>
                <a:cs typeface="Roboto"/>
                <a:sym typeface="Roboto"/>
              </a:rPr>
              <a:t> </a:t>
            </a:r>
          </a:p>
          <a:p>
            <a:pPr marL="16828" indent="-16828">
              <a:lnSpc>
                <a:spcPct val="115000"/>
              </a:lnSpc>
            </a:pPr>
            <a:endParaRPr lang="en-US" sz="3300" b="1" dirty="0">
              <a:solidFill>
                <a:srgbClr val="0B9544"/>
              </a:solidFill>
              <a:latin typeface="Montserrat"/>
              <a:ea typeface="Roboto"/>
              <a:cs typeface="Robot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4B45C6-6E07-8224-A8DF-9192EEB556E0}"/>
              </a:ext>
            </a:extLst>
          </p:cNvPr>
          <p:cNvSpPr txBox="1"/>
          <p:nvPr/>
        </p:nvSpPr>
        <p:spPr>
          <a:xfrm>
            <a:off x="685800" y="2471142"/>
            <a:ext cx="759142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chemeClr val="accent6"/>
                </a:solidFill>
                <a:latin typeface="Montserrat Medium"/>
              </a:rPr>
              <a:t>Partnership Development Playbook</a:t>
            </a:r>
            <a:endParaRPr lang="en-CA" sz="4400" b="1" dirty="0">
              <a:solidFill>
                <a:schemeClr val="accent6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FE9F52-B5C5-F2CA-413C-F02F22FD9A38}"/>
              </a:ext>
            </a:extLst>
          </p:cNvPr>
          <p:cNvSpPr txBox="1"/>
          <p:nvPr/>
        </p:nvSpPr>
        <p:spPr>
          <a:xfrm>
            <a:off x="861666" y="5150855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Last Updated: July 2026</a:t>
            </a:r>
            <a:endParaRPr lang="en-CA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32899-07DC-75F0-614E-54B3DD282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D927D2-571B-2031-9634-69D28036A048}"/>
              </a:ext>
            </a:extLst>
          </p:cNvPr>
          <p:cNvSpPr txBox="1"/>
          <p:nvPr/>
        </p:nvSpPr>
        <p:spPr>
          <a:xfrm>
            <a:off x="958111" y="504782"/>
            <a:ext cx="10275779" cy="7078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34" tIns="45717" rIns="91434" bIns="45717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619" algn="ctr">
              <a:spcBef>
                <a:spcPts val="61"/>
              </a:spcBef>
              <a:tabLst>
                <a:tab pos="639177" algn="l"/>
                <a:tab pos="2160879" algn="l"/>
                <a:tab pos="2880915" algn="l"/>
                <a:tab pos="6521911" algn="l"/>
              </a:tabLst>
            </a:pPr>
            <a:r>
              <a:rPr lang="en-US" sz="4000" b="1" dirty="0">
                <a:ln w="0"/>
                <a:gradFill flip="none">
                  <a:gsLst>
                    <a:gs pos="0">
                      <a:srgbClr val="009548"/>
                    </a:gs>
                    <a:gs pos="52000">
                      <a:srgbClr val="8CC642"/>
                    </a:gs>
                    <a:gs pos="100000">
                      <a:srgbClr val="C0CF3A"/>
                    </a:gs>
                  </a:gsLst>
                  <a:lin ang="0" scaled="1"/>
                  <a:tileRect/>
                </a:gradFill>
                <a:latin typeface="Montserrat"/>
              </a:rPr>
              <a:t>ABOUT THIS PLAYBOOK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C1D4CA-11AE-2AB5-48DA-201A7D550C06}"/>
              </a:ext>
            </a:extLst>
          </p:cNvPr>
          <p:cNvSpPr txBox="1"/>
          <p:nvPr/>
        </p:nvSpPr>
        <p:spPr>
          <a:xfrm>
            <a:off x="797668" y="1495926"/>
            <a:ext cx="10671243" cy="4200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Avenir Next LT Pro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playbook is an internal tool for GK Market Development Team and other staff who lead partnership development. It provides a structured end-to-end process and standardized tools and templates to support staff with the successful development and implementation of partnerships that </a:t>
            </a:r>
            <a:r>
              <a:rPr lang="en-US" dirty="0">
                <a:latin typeface="Avenir Next LT Pro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focus on advancing GK membership adoption (i.e., </a:t>
            </a:r>
            <a:r>
              <a:rPr lang="en-US" sz="1800" dirty="0">
                <a:effectLst/>
                <a:latin typeface="Avenir Next LT Pro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with brands, ownership </a:t>
            </a:r>
            <a:r>
              <a:rPr lang="en-US" dirty="0">
                <a:latin typeface="Avenir Next LT Pro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&amp; property management groups, </a:t>
            </a:r>
            <a:r>
              <a:rPr lang="en-US" sz="1800" dirty="0">
                <a:effectLst/>
                <a:latin typeface="Avenir Next LT Pro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destinations, and industry groups)</a:t>
            </a:r>
            <a:r>
              <a:rPr lang="en-US" sz="1800" dirty="0">
                <a:solidFill>
                  <a:srgbClr val="92D050"/>
                </a:solidFill>
                <a:effectLst/>
                <a:latin typeface="Avenir Next LT Pro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*</a:t>
            </a:r>
            <a:r>
              <a:rPr lang="en-US" sz="1800" dirty="0">
                <a:effectLst/>
                <a:latin typeface="Avenir Next LT Pro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These partnerships are typically structured as a formal commitment to GK membership in exchange for a discount on certification fees.</a:t>
            </a:r>
          </a:p>
          <a:p>
            <a:endParaRPr lang="en-US" dirty="0">
              <a:latin typeface="Avenir Next LT Pro" panose="020B05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Avenir Next LT Pro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By using this playbook, Green Key will ensure all new partnerships are:</a:t>
            </a:r>
            <a:endParaRPr lang="en-CA" sz="1800" dirty="0">
              <a:effectLst/>
              <a:latin typeface="Avenir Next LT Pro" panose="020B05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CA" sz="1800" dirty="0">
              <a:effectLst/>
              <a:latin typeface="Avenir Next LT Pro" panose="020B05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CA" dirty="0">
                <a:effectLst/>
                <a:latin typeface="Avenir Next LT Pro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Designed for success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CA" dirty="0">
                <a:latin typeface="Avenir Next LT Pro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Negotiated strategically</a:t>
            </a:r>
            <a:endParaRPr lang="en-CA" dirty="0">
              <a:effectLst/>
              <a:latin typeface="Avenir Next LT Pro" panose="020B05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CA" dirty="0">
                <a:effectLst/>
                <a:latin typeface="Avenir Next LT Pro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Integrated seamlessly into Green Key’s internal processes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CA" dirty="0">
              <a:effectLst/>
              <a:latin typeface="Avenir Next LT Pro" panose="020B05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Google Shape;151;p1">
            <a:extLst>
              <a:ext uri="{FF2B5EF4-FFF2-40B4-BE49-F238E27FC236}">
                <a16:creationId xmlns:a16="http://schemas.microsoft.com/office/drawing/2014/main" id="{98767D27-0AC0-B196-13E6-D2D17FE052AF}"/>
              </a:ext>
            </a:extLst>
          </p:cNvPr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>
            <a:off x="7539583" y="3970953"/>
            <a:ext cx="4165281" cy="310912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4DD548-7593-7C44-BD03-67BE13914E5D}"/>
              </a:ext>
            </a:extLst>
          </p:cNvPr>
          <p:cNvSpPr txBox="1"/>
          <p:nvPr/>
        </p:nvSpPr>
        <p:spPr>
          <a:xfrm>
            <a:off x="958111" y="5614554"/>
            <a:ext cx="6850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i="1" dirty="0">
                <a:solidFill>
                  <a:srgbClr val="92D050"/>
                </a:solidFill>
                <a:latin typeface="Avenir Next LT Pro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*While this process has been specifically designed for these types of partnerships, many of the elements of this playbook are applicable to other GK relationships (e.g. vendors).</a:t>
            </a:r>
          </a:p>
        </p:txBody>
      </p:sp>
    </p:spTree>
    <p:extLst>
      <p:ext uri="{BB962C8B-B14F-4D97-AF65-F5344CB8AC3E}">
        <p14:creationId xmlns:p14="http://schemas.microsoft.com/office/powerpoint/2010/main" val="54601029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C614A-A0D3-09AB-AB2C-36277C5C5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BF7F1D-9BC9-4FFB-FE43-756212D225B1}"/>
              </a:ext>
            </a:extLst>
          </p:cNvPr>
          <p:cNvSpPr txBox="1"/>
          <p:nvPr/>
        </p:nvSpPr>
        <p:spPr>
          <a:xfrm>
            <a:off x="958111" y="504782"/>
            <a:ext cx="10275779" cy="13234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34" tIns="45717" rIns="91434" bIns="45717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619" algn="ctr">
              <a:spcBef>
                <a:spcPts val="61"/>
              </a:spcBef>
              <a:tabLst>
                <a:tab pos="639177" algn="l"/>
                <a:tab pos="2160879" algn="l"/>
                <a:tab pos="2880915" algn="l"/>
                <a:tab pos="6521911" algn="l"/>
              </a:tabLst>
            </a:pPr>
            <a:r>
              <a:rPr lang="en-US" sz="4000" b="1" dirty="0">
                <a:ln w="0"/>
                <a:gradFill flip="none">
                  <a:gsLst>
                    <a:gs pos="0">
                      <a:srgbClr val="009548"/>
                    </a:gs>
                    <a:gs pos="52000">
                      <a:srgbClr val="8CC642"/>
                    </a:gs>
                    <a:gs pos="100000">
                      <a:srgbClr val="C0CF3A"/>
                    </a:gs>
                  </a:gsLst>
                  <a:lin ang="0" scaled="1"/>
                  <a:tileRect/>
                </a:gradFill>
                <a:latin typeface="Montserrat"/>
              </a:rPr>
              <a:t>PARTNERSHIP DEVELOPMENT PROCESS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D3457D4-A48B-8A03-53E6-E7115F4675D3}"/>
              </a:ext>
            </a:extLst>
          </p:cNvPr>
          <p:cNvGrpSpPr/>
          <p:nvPr/>
        </p:nvGrpSpPr>
        <p:grpSpPr>
          <a:xfrm>
            <a:off x="513993" y="1677931"/>
            <a:ext cx="2103451" cy="1937546"/>
            <a:chOff x="4701786" y="1948244"/>
            <a:chExt cx="2103451" cy="193754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4BEF08E2-8DB1-A436-0C34-37D9B586478C}"/>
                </a:ext>
              </a:extLst>
            </p:cNvPr>
            <p:cNvSpPr/>
            <p:nvPr/>
          </p:nvSpPr>
          <p:spPr>
            <a:xfrm>
              <a:off x="4701786" y="1953046"/>
              <a:ext cx="2098267" cy="1932744"/>
            </a:xfrm>
            <a:prstGeom prst="roundRect">
              <a:avLst>
                <a:gd name="adj" fmla="val 8966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endParaRPr lang="en-CA" dirty="0">
                <a:latin typeface="Montserrat Medium" panose="00000600000000000000" pitchFamily="2" charset="0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EBD07EC9-3F4A-D335-FA9A-59440AE55D2B}"/>
                </a:ext>
              </a:extLst>
            </p:cNvPr>
            <p:cNvSpPr/>
            <p:nvPr/>
          </p:nvSpPr>
          <p:spPr>
            <a:xfrm>
              <a:off x="4706970" y="1948244"/>
              <a:ext cx="2098267" cy="576709"/>
            </a:xfrm>
            <a:prstGeom prst="roundRect">
              <a:avLst>
                <a:gd name="adj" fmla="val 21837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4906" tIns="104906" rIns="104906" bIns="104906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500" b="1" dirty="0">
                  <a:solidFill>
                    <a:schemeClr val="bg1"/>
                  </a:solidFill>
                  <a:latin typeface="Montserrat Medium" panose="00000600000000000000" pitchFamily="2" charset="0"/>
                </a:rPr>
                <a:t>Partnership         Sales</a:t>
              </a:r>
              <a:endParaRPr lang="en-CA" sz="1500" b="1" kern="1200" dirty="0">
                <a:solidFill>
                  <a:schemeClr val="bg1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C378D162-669C-B997-77D8-8385C40698B1}"/>
                </a:ext>
              </a:extLst>
            </p:cNvPr>
            <p:cNvSpPr/>
            <p:nvPr/>
          </p:nvSpPr>
          <p:spPr>
            <a:xfrm>
              <a:off x="4740528" y="2752673"/>
              <a:ext cx="1958986" cy="790552"/>
            </a:xfrm>
            <a:custGeom>
              <a:avLst/>
              <a:gdLst>
                <a:gd name="csX0" fmla="*/ 0 w 1016311"/>
                <a:gd name="csY0" fmla="*/ 0 h 790552"/>
                <a:gd name="csX1" fmla="*/ 1016311 w 1016311"/>
                <a:gd name="csY1" fmla="*/ 0 h 790552"/>
                <a:gd name="csX2" fmla="*/ 1016311 w 1016311"/>
                <a:gd name="csY2" fmla="*/ 790552 h 790552"/>
                <a:gd name="csX3" fmla="*/ 0 w 1016311"/>
                <a:gd name="csY3" fmla="*/ 790552 h 790552"/>
                <a:gd name="csX4" fmla="*/ 0 w 1016311"/>
                <a:gd name="csY4" fmla="*/ 0 h 7905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16311" h="790552">
                  <a:moveTo>
                    <a:pt x="0" y="0"/>
                  </a:moveTo>
                  <a:lnTo>
                    <a:pt x="1016311" y="0"/>
                  </a:lnTo>
                  <a:lnTo>
                    <a:pt x="1016311" y="790552"/>
                  </a:lnTo>
                  <a:lnTo>
                    <a:pt x="0" y="79055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0480" tIns="30480" rIns="30480" bIns="30480" numCol="1" spcCol="1270" anchor="ctr" anchorCtr="0">
              <a:noAutofit/>
            </a:bodyPr>
            <a:lstStyle/>
            <a:p>
              <a:pPr marL="171450" lvl="1" indent="-171450" algn="l" defTabSz="914400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</a:pPr>
              <a:r>
                <a:rPr lang="en-CA" sz="1100" kern="1200" dirty="0">
                  <a:solidFill>
                    <a:srgbClr val="000000"/>
                  </a:solidFill>
                  <a:latin typeface="Montserrat Medium" panose="00000600000000000000" pitchFamily="2" charset="0"/>
                </a:rPr>
                <a:t>Initiate Contact</a:t>
              </a:r>
            </a:p>
            <a:p>
              <a:pPr marL="171450" lvl="1" indent="-171450" algn="l" defTabSz="914400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</a:pPr>
              <a:r>
                <a:rPr lang="en-CA" sz="1100" kern="1200" dirty="0">
                  <a:solidFill>
                    <a:srgbClr val="000000"/>
                  </a:solidFill>
                  <a:latin typeface="Montserrat Medium" panose="00000600000000000000" pitchFamily="2" charset="0"/>
                </a:rPr>
                <a:t>Exploratory Discussion</a:t>
              </a:r>
            </a:p>
            <a:p>
              <a:pPr marL="171450" lvl="1" indent="-171450" algn="l" defTabSz="914400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</a:pPr>
              <a:r>
                <a:rPr lang="en-CA" sz="1100" kern="1200" dirty="0">
                  <a:solidFill>
                    <a:srgbClr val="000000"/>
                  </a:solidFill>
                  <a:latin typeface="Montserrat Medium" panose="00000600000000000000" pitchFamily="2" charset="0"/>
                </a:rPr>
                <a:t>Proposal &amp; Negotiation</a:t>
              </a:r>
              <a:endParaRPr lang="en-CA" sz="1100" dirty="0">
                <a:solidFill>
                  <a:srgbClr val="000000"/>
                </a:solidFill>
                <a:latin typeface="Montserrat Medium" panose="00000600000000000000" pitchFamily="2" charset="0"/>
              </a:endParaRPr>
            </a:p>
            <a:p>
              <a:pPr marL="171450" lvl="1" indent="-171450" algn="l" defTabSz="914400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</a:pPr>
              <a:r>
                <a:rPr lang="en-CA" sz="1100" kern="1200" dirty="0">
                  <a:solidFill>
                    <a:srgbClr val="000000"/>
                  </a:solidFill>
                  <a:latin typeface="Montserrat Medium" panose="00000600000000000000" pitchFamily="2" charset="0"/>
                </a:rPr>
                <a:t>Final Agreement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7BEC15D3-997D-D699-6822-8A84C61198A6}"/>
              </a:ext>
            </a:extLst>
          </p:cNvPr>
          <p:cNvSpPr txBox="1"/>
          <p:nvPr/>
        </p:nvSpPr>
        <p:spPr>
          <a:xfrm>
            <a:off x="552735" y="1724070"/>
            <a:ext cx="410175" cy="400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34" tIns="45717" rIns="91434" bIns="45717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619" algn="ctr">
              <a:spcBef>
                <a:spcPts val="61"/>
              </a:spcBef>
              <a:tabLst>
                <a:tab pos="639177" algn="l"/>
                <a:tab pos="2160879" algn="l"/>
                <a:tab pos="2880915" algn="l"/>
                <a:tab pos="6521911" algn="l"/>
              </a:tabLst>
            </a:pPr>
            <a:r>
              <a:rPr lang="en-US" sz="2000" b="1" dirty="0">
                <a:ln w="0"/>
                <a:solidFill>
                  <a:srgbClr val="92D050"/>
                </a:solidFill>
                <a:latin typeface="Montserrat"/>
              </a:rPr>
              <a:t>1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814ADD9-E739-DDCB-DA50-D8526FE77CA7}"/>
              </a:ext>
            </a:extLst>
          </p:cNvPr>
          <p:cNvGrpSpPr/>
          <p:nvPr/>
        </p:nvGrpSpPr>
        <p:grpSpPr>
          <a:xfrm>
            <a:off x="3354157" y="2331830"/>
            <a:ext cx="2098268" cy="1934460"/>
            <a:chOff x="7990020" y="3174334"/>
            <a:chExt cx="2098268" cy="1934460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D145BD2-1C2F-D620-49A8-0448DFE51795}"/>
                </a:ext>
              </a:extLst>
            </p:cNvPr>
            <p:cNvGrpSpPr/>
            <p:nvPr/>
          </p:nvGrpSpPr>
          <p:grpSpPr>
            <a:xfrm>
              <a:off x="7990020" y="3174334"/>
              <a:ext cx="2098268" cy="1934460"/>
              <a:chOff x="1197108" y="3891235"/>
              <a:chExt cx="2098268" cy="1934460"/>
            </a:xfrm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571A3363-796A-CEB3-3E3C-D6017D483A78}"/>
                  </a:ext>
                </a:extLst>
              </p:cNvPr>
              <p:cNvSpPr/>
              <p:nvPr/>
            </p:nvSpPr>
            <p:spPr>
              <a:xfrm>
                <a:off x="1197108" y="3892951"/>
                <a:ext cx="2098267" cy="1932744"/>
              </a:xfrm>
              <a:prstGeom prst="roundRect">
                <a:avLst>
                  <a:gd name="adj" fmla="val 8966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>
                  <a:latin typeface="Montserrat Medium" panose="00000600000000000000" pitchFamily="2" charset="0"/>
                </a:endParaRPr>
              </a:p>
            </p:txBody>
          </p:sp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FBBCEBC3-5B09-F214-4072-BEA343C3D633}"/>
                  </a:ext>
                </a:extLst>
              </p:cNvPr>
              <p:cNvSpPr/>
              <p:nvPr/>
            </p:nvSpPr>
            <p:spPr>
              <a:xfrm>
                <a:off x="1197109" y="3891235"/>
                <a:ext cx="2098267" cy="576709"/>
              </a:xfrm>
              <a:prstGeom prst="roundRect">
                <a:avLst>
                  <a:gd name="adj" fmla="val 23561"/>
                </a:avLst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3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04906" tIns="104906" rIns="104906" bIns="104906" numCol="1" spcCol="1270" anchor="ctr" anchorCtr="0">
                <a:noAutofit/>
              </a:bodyPr>
              <a:lstStyle/>
              <a:p>
                <a:pPr marL="0" lvl="0" indent="0" algn="ctr" defTabSz="666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CA" sz="1500" b="1" kern="1200" dirty="0">
                    <a:solidFill>
                      <a:schemeClr val="bg1"/>
                    </a:solidFill>
                    <a:latin typeface="Montserrat Medium" panose="00000600000000000000" pitchFamily="2" charset="0"/>
                  </a:rPr>
                  <a:t>Onboarding &amp; Initiation</a:t>
                </a:r>
                <a:endParaRPr lang="en-CA" sz="1500" kern="1200" dirty="0">
                  <a:solidFill>
                    <a:schemeClr val="bg1"/>
                  </a:solidFill>
                  <a:latin typeface="Montserrat Medium" panose="00000600000000000000" pitchFamily="2" charset="0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D6C0B4BC-AFA9-97C9-34C2-D74B15B73612}"/>
                  </a:ext>
                </a:extLst>
              </p:cNvPr>
              <p:cNvSpPr/>
              <p:nvPr/>
            </p:nvSpPr>
            <p:spPr>
              <a:xfrm>
                <a:off x="1304178" y="4669372"/>
                <a:ext cx="1991198" cy="790552"/>
              </a:xfrm>
              <a:custGeom>
                <a:avLst/>
                <a:gdLst>
                  <a:gd name="csX0" fmla="*/ 0 w 1016311"/>
                  <a:gd name="csY0" fmla="*/ 0 h 790552"/>
                  <a:gd name="csX1" fmla="*/ 1016311 w 1016311"/>
                  <a:gd name="csY1" fmla="*/ 0 h 790552"/>
                  <a:gd name="csX2" fmla="*/ 1016311 w 1016311"/>
                  <a:gd name="csY2" fmla="*/ 790552 h 790552"/>
                  <a:gd name="csX3" fmla="*/ 0 w 1016311"/>
                  <a:gd name="csY3" fmla="*/ 790552 h 790552"/>
                  <a:gd name="csX4" fmla="*/ 0 w 1016311"/>
                  <a:gd name="csY4" fmla="*/ 0 h 7905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016311" h="790552">
                    <a:moveTo>
                      <a:pt x="0" y="0"/>
                    </a:moveTo>
                    <a:lnTo>
                      <a:pt x="1016311" y="0"/>
                    </a:lnTo>
                    <a:lnTo>
                      <a:pt x="1016311" y="790552"/>
                    </a:lnTo>
                    <a:lnTo>
                      <a:pt x="0" y="790552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34290" tIns="34290" rIns="34290" bIns="34290" numCol="1" spcCol="1270" anchor="ctr" anchorCtr="0">
                <a:noAutofit/>
              </a:bodyPr>
              <a:lstStyle/>
              <a:p>
                <a:pPr marL="171450" lvl="1" indent="-171450" algn="l" defTabSz="311150">
                  <a:lnSpc>
                    <a:spcPct val="90000"/>
                  </a:lnSpc>
                  <a:spcBef>
                    <a:spcPct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CA" sz="1100" kern="1200" dirty="0">
                    <a:solidFill>
                      <a:srgbClr val="000000"/>
                    </a:solidFill>
                    <a:latin typeface="Montserrat Medium" panose="00000600000000000000" pitchFamily="2" charset="0"/>
                  </a:rPr>
                  <a:t>Internal Alignment</a:t>
                </a:r>
                <a:endParaRPr lang="en-CA" sz="1100" dirty="0">
                  <a:latin typeface="Montserrat Medium" panose="00000600000000000000" pitchFamily="2" charset="0"/>
                </a:endParaRPr>
              </a:p>
              <a:p>
                <a:pPr marL="171450" lvl="1" indent="-171450" algn="l" defTabSz="311150">
                  <a:lnSpc>
                    <a:spcPct val="90000"/>
                  </a:lnSpc>
                  <a:spcBef>
                    <a:spcPct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CA" sz="1100" kern="1200" dirty="0">
                    <a:solidFill>
                      <a:srgbClr val="000000"/>
                    </a:solidFill>
                    <a:latin typeface="Montserrat Medium" panose="00000600000000000000" pitchFamily="2" charset="0"/>
                  </a:rPr>
                  <a:t>Operational Set Up</a:t>
                </a:r>
              </a:p>
              <a:p>
                <a:pPr marL="171450" lvl="1" indent="-171450" algn="l" defTabSz="311150">
                  <a:lnSpc>
                    <a:spcPct val="90000"/>
                  </a:lnSpc>
                  <a:spcBef>
                    <a:spcPct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CA" sz="1100" kern="1200" dirty="0">
                    <a:solidFill>
                      <a:srgbClr val="000000"/>
                    </a:solidFill>
                    <a:latin typeface="Montserrat Medium" panose="00000600000000000000" pitchFamily="2" charset="0"/>
                  </a:rPr>
                  <a:t>Partnership Activation</a:t>
                </a:r>
              </a:p>
              <a:p>
                <a:pPr marL="171450" lvl="1" indent="-171450" algn="l" defTabSz="311150">
                  <a:lnSpc>
                    <a:spcPct val="90000"/>
                  </a:lnSpc>
                  <a:spcBef>
                    <a:spcPct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CA" sz="1100" kern="1200" dirty="0">
                    <a:solidFill>
                      <a:srgbClr val="000000"/>
                    </a:solidFill>
                    <a:latin typeface="Montserrat Medium" panose="00000600000000000000" pitchFamily="2" charset="0"/>
                  </a:rPr>
                  <a:t>Marketing Launch</a:t>
                </a:r>
                <a:endParaRPr lang="en-CA" sz="1050" kern="1200" dirty="0">
                  <a:solidFill>
                    <a:srgbClr val="000000"/>
                  </a:solidFill>
                  <a:latin typeface="Montserrat Medium" panose="00000600000000000000" pitchFamily="2" charset="0"/>
                </a:endParaRP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F0F3696-951B-DE82-95C8-A4C7C7F98932}"/>
                </a:ext>
              </a:extLst>
            </p:cNvPr>
            <p:cNvSpPr txBox="1"/>
            <p:nvPr/>
          </p:nvSpPr>
          <p:spPr>
            <a:xfrm>
              <a:off x="7995091" y="3262637"/>
              <a:ext cx="410175" cy="40010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34" tIns="45717" rIns="91434" bIns="45717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7619" algn="ctr">
                <a:spcBef>
                  <a:spcPts val="61"/>
                </a:spcBef>
                <a:tabLst>
                  <a:tab pos="639177" algn="l"/>
                  <a:tab pos="2160879" algn="l"/>
                  <a:tab pos="2880915" algn="l"/>
                  <a:tab pos="6521911" algn="l"/>
                </a:tabLst>
              </a:pPr>
              <a:r>
                <a:rPr lang="en-US" sz="2000" b="1" dirty="0">
                  <a:ln w="0"/>
                  <a:solidFill>
                    <a:srgbClr val="92D050"/>
                  </a:solidFill>
                  <a:latin typeface="Montserrat Medium" panose="00000600000000000000" pitchFamily="2" charset="0"/>
                </a:rPr>
                <a:t>2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0D16C51-EE69-3EA6-B22B-D7D5BF592B22}"/>
              </a:ext>
            </a:extLst>
          </p:cNvPr>
          <p:cNvGrpSpPr/>
          <p:nvPr/>
        </p:nvGrpSpPr>
        <p:grpSpPr>
          <a:xfrm>
            <a:off x="6396710" y="3094213"/>
            <a:ext cx="2099010" cy="1935573"/>
            <a:chOff x="4695972" y="4589459"/>
            <a:chExt cx="2099010" cy="1935573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D5B9975B-0295-F36A-42A1-F2E190ADE337}"/>
                </a:ext>
              </a:extLst>
            </p:cNvPr>
            <p:cNvGrpSpPr/>
            <p:nvPr/>
          </p:nvGrpSpPr>
          <p:grpSpPr>
            <a:xfrm>
              <a:off x="4695972" y="4589459"/>
              <a:ext cx="2099010" cy="1935573"/>
              <a:chOff x="4695972" y="4589459"/>
              <a:chExt cx="2099010" cy="1935573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BC67975C-07DE-FD37-4F5C-F0A450C35D8C}"/>
                  </a:ext>
                </a:extLst>
              </p:cNvPr>
              <p:cNvSpPr/>
              <p:nvPr/>
            </p:nvSpPr>
            <p:spPr>
              <a:xfrm>
                <a:off x="4695972" y="4597090"/>
                <a:ext cx="2098267" cy="1927942"/>
              </a:xfrm>
              <a:prstGeom prst="roundRect">
                <a:avLst>
                  <a:gd name="adj" fmla="val 8966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>
                  <a:latin typeface="Montserrat Medium" panose="00000600000000000000" pitchFamily="2" charset="0"/>
                </a:endParaRPr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CF5EB26A-47BF-DE90-511B-1222CFAA6111}"/>
                  </a:ext>
                </a:extLst>
              </p:cNvPr>
              <p:cNvSpPr/>
              <p:nvPr/>
            </p:nvSpPr>
            <p:spPr>
              <a:xfrm>
                <a:off x="4696715" y="4589459"/>
                <a:ext cx="2098267" cy="576709"/>
              </a:xfrm>
              <a:prstGeom prst="roundRect">
                <a:avLst>
                  <a:gd name="adj" fmla="val 25284"/>
                </a:avLst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3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04906" tIns="104906" rIns="104906" bIns="104906" numCol="1" spcCol="1270" anchor="ctr" anchorCtr="0">
                <a:noAutofit/>
              </a:bodyPr>
              <a:lstStyle/>
              <a:p>
                <a:pPr marL="0" lvl="0" indent="0" algn="ctr" defTabSz="666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CA" sz="1500" b="1" kern="1200" dirty="0">
                    <a:solidFill>
                      <a:schemeClr val="bg1"/>
                    </a:solidFill>
                    <a:latin typeface="Montserrat Medium" panose="00000600000000000000" pitchFamily="2" charset="0"/>
                  </a:rPr>
                  <a:t>Execution</a:t>
                </a:r>
                <a:endParaRPr lang="en-CA" sz="1500" kern="1200" dirty="0">
                  <a:solidFill>
                    <a:schemeClr val="bg1"/>
                  </a:solidFill>
                  <a:latin typeface="Montserrat Medium" panose="00000600000000000000" pitchFamily="2" charset="0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04D50A32-6ED7-52E9-E213-C79087ED54AE}"/>
                  </a:ext>
                </a:extLst>
              </p:cNvPr>
              <p:cNvSpPr/>
              <p:nvPr/>
            </p:nvSpPr>
            <p:spPr>
              <a:xfrm>
                <a:off x="4803413" y="5291920"/>
                <a:ext cx="1991198" cy="790552"/>
              </a:xfrm>
              <a:custGeom>
                <a:avLst/>
                <a:gdLst>
                  <a:gd name="csX0" fmla="*/ 0 w 1016311"/>
                  <a:gd name="csY0" fmla="*/ 0 h 790552"/>
                  <a:gd name="csX1" fmla="*/ 1016311 w 1016311"/>
                  <a:gd name="csY1" fmla="*/ 0 h 790552"/>
                  <a:gd name="csX2" fmla="*/ 1016311 w 1016311"/>
                  <a:gd name="csY2" fmla="*/ 790552 h 790552"/>
                  <a:gd name="csX3" fmla="*/ 0 w 1016311"/>
                  <a:gd name="csY3" fmla="*/ 790552 h 790552"/>
                  <a:gd name="csX4" fmla="*/ 0 w 1016311"/>
                  <a:gd name="csY4" fmla="*/ 0 h 7905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016311" h="790552">
                    <a:moveTo>
                      <a:pt x="0" y="0"/>
                    </a:moveTo>
                    <a:lnTo>
                      <a:pt x="1016311" y="0"/>
                    </a:lnTo>
                    <a:lnTo>
                      <a:pt x="1016311" y="790552"/>
                    </a:lnTo>
                    <a:lnTo>
                      <a:pt x="0" y="790552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34290" tIns="34290" rIns="34290" bIns="34290" numCol="1" spcCol="1270" anchor="ctr" anchorCtr="0">
                <a:noAutofit/>
              </a:bodyPr>
              <a:lstStyle/>
              <a:p>
                <a:pPr marL="171450" lvl="1" indent="-171450" algn="l" defTabSz="311150">
                  <a:lnSpc>
                    <a:spcPct val="90000"/>
                  </a:lnSpc>
                  <a:spcBef>
                    <a:spcPct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CA" sz="1100" kern="1200" dirty="0">
                    <a:solidFill>
                      <a:srgbClr val="000000"/>
                    </a:solidFill>
                    <a:latin typeface="Montserrat Medium" panose="00000600000000000000" pitchFamily="2" charset="0"/>
                  </a:rPr>
                  <a:t>Ongoing Activities</a:t>
                </a:r>
              </a:p>
              <a:p>
                <a:pPr marL="171450" lvl="1" indent="-171450" algn="l" defTabSz="311150">
                  <a:lnSpc>
                    <a:spcPct val="90000"/>
                  </a:lnSpc>
                  <a:spcBef>
                    <a:spcPct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CA" sz="1100" kern="1200" dirty="0">
                    <a:solidFill>
                      <a:srgbClr val="000000"/>
                    </a:solidFill>
                    <a:latin typeface="Montserrat Medium" panose="00000600000000000000" pitchFamily="2" charset="0"/>
                  </a:rPr>
                  <a:t>Quarterly &amp; Annual Reporting</a:t>
                </a:r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41378C4-C884-C526-128C-E6FCF7974FF0}"/>
                </a:ext>
              </a:extLst>
            </p:cNvPr>
            <p:cNvSpPr txBox="1"/>
            <p:nvPr/>
          </p:nvSpPr>
          <p:spPr>
            <a:xfrm>
              <a:off x="4734498" y="4677761"/>
              <a:ext cx="410175" cy="40010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34" tIns="45717" rIns="91434" bIns="45717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7619" algn="ctr">
                <a:spcBef>
                  <a:spcPts val="61"/>
                </a:spcBef>
                <a:tabLst>
                  <a:tab pos="639177" algn="l"/>
                  <a:tab pos="2160879" algn="l"/>
                  <a:tab pos="2880915" algn="l"/>
                  <a:tab pos="6521911" algn="l"/>
                </a:tabLst>
              </a:pPr>
              <a:r>
                <a:rPr lang="en-US" sz="2000" b="1" dirty="0">
                  <a:ln w="0"/>
                  <a:solidFill>
                    <a:srgbClr val="92D050"/>
                  </a:solidFill>
                  <a:latin typeface="Montserrat Medium" panose="00000600000000000000" pitchFamily="2" charset="0"/>
                </a:rPr>
                <a:t>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AE1596F-6601-A59B-DBD1-30BF50FC14C7}"/>
              </a:ext>
            </a:extLst>
          </p:cNvPr>
          <p:cNvGrpSpPr/>
          <p:nvPr/>
        </p:nvGrpSpPr>
        <p:grpSpPr>
          <a:xfrm>
            <a:off x="9337301" y="3894455"/>
            <a:ext cx="2104194" cy="1932744"/>
            <a:chOff x="1360620" y="3174333"/>
            <a:chExt cx="2104194" cy="1932744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4DC4C892-2F0B-98E6-9C57-670E1E50BE95}"/>
                </a:ext>
              </a:extLst>
            </p:cNvPr>
            <p:cNvGrpSpPr/>
            <p:nvPr/>
          </p:nvGrpSpPr>
          <p:grpSpPr>
            <a:xfrm>
              <a:off x="1365804" y="3174333"/>
              <a:ext cx="2099010" cy="1932744"/>
              <a:chOff x="7921190" y="3820767"/>
              <a:chExt cx="2099010" cy="1932744"/>
            </a:xfrm>
          </p:grpSpPr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E22F0DCA-33F5-AC7C-ABF5-426EE32285AE}"/>
                  </a:ext>
                </a:extLst>
              </p:cNvPr>
              <p:cNvSpPr/>
              <p:nvPr/>
            </p:nvSpPr>
            <p:spPr>
              <a:xfrm>
                <a:off x="7921190" y="3820767"/>
                <a:ext cx="2098267" cy="1932744"/>
              </a:xfrm>
              <a:prstGeom prst="roundRect">
                <a:avLst>
                  <a:gd name="adj" fmla="val 8966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>
                  <a:latin typeface="Montserrat Medium" panose="00000600000000000000" pitchFamily="2" charset="0"/>
                </a:endParaRPr>
              </a:p>
            </p:txBody>
          </p:sp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DD5F0414-151A-4BCA-5E3F-9270B918984B}"/>
                  </a:ext>
                </a:extLst>
              </p:cNvPr>
              <p:cNvSpPr/>
              <p:nvPr/>
            </p:nvSpPr>
            <p:spPr>
              <a:xfrm>
                <a:off x="7921933" y="3820767"/>
                <a:ext cx="2098267" cy="576709"/>
              </a:xfrm>
              <a:prstGeom prst="roundRect">
                <a:avLst>
                  <a:gd name="adj" fmla="val 21837"/>
                </a:avLst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3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04906" tIns="104906" rIns="104906" bIns="104906" numCol="1" spcCol="1270" anchor="ctr" anchorCtr="0">
                <a:noAutofit/>
              </a:bodyPr>
              <a:lstStyle/>
              <a:p>
                <a:pPr marL="0" lvl="0" indent="0" algn="ctr" defTabSz="666750">
                  <a:lnSpc>
                    <a:spcPct val="90000"/>
                  </a:lnSpc>
                  <a:spcBef>
                    <a:spcPct val="0"/>
                  </a:spcBef>
                  <a:buNone/>
                </a:pPr>
                <a:r>
                  <a:rPr lang="en-CA" sz="1500" b="1" kern="1200" dirty="0">
                    <a:solidFill>
                      <a:schemeClr val="bg1"/>
                    </a:solidFill>
                    <a:latin typeface="Montserrat Medium" panose="00000600000000000000" pitchFamily="2" charset="0"/>
                  </a:rPr>
                  <a:t>Closing &amp;</a:t>
                </a:r>
              </a:p>
              <a:p>
                <a:pPr marL="0" lvl="0" indent="0" algn="ctr" defTabSz="666750">
                  <a:lnSpc>
                    <a:spcPct val="90000"/>
                  </a:lnSpc>
                  <a:spcBef>
                    <a:spcPct val="0"/>
                  </a:spcBef>
                  <a:buNone/>
                </a:pPr>
                <a:r>
                  <a:rPr lang="en-CA" sz="1500" b="1" kern="1200" dirty="0">
                    <a:solidFill>
                      <a:schemeClr val="bg1"/>
                    </a:solidFill>
                    <a:latin typeface="Montserrat Medium" panose="00000600000000000000" pitchFamily="2" charset="0"/>
                  </a:rPr>
                  <a:t> Renewal</a:t>
                </a:r>
                <a:endParaRPr lang="en-CA" sz="1500" kern="1200" dirty="0">
                  <a:solidFill>
                    <a:schemeClr val="bg1"/>
                  </a:solidFill>
                  <a:latin typeface="Montserrat Medium" panose="00000600000000000000" pitchFamily="2" charset="0"/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A4EEAA07-1594-8106-91E2-8EAE6A355A16}"/>
                  </a:ext>
                </a:extLst>
              </p:cNvPr>
              <p:cNvSpPr/>
              <p:nvPr/>
            </p:nvSpPr>
            <p:spPr>
              <a:xfrm>
                <a:off x="8017967" y="4485778"/>
                <a:ext cx="2001491" cy="790552"/>
              </a:xfrm>
              <a:custGeom>
                <a:avLst/>
                <a:gdLst>
                  <a:gd name="csX0" fmla="*/ 0 w 1016311"/>
                  <a:gd name="csY0" fmla="*/ 0 h 790552"/>
                  <a:gd name="csX1" fmla="*/ 1016311 w 1016311"/>
                  <a:gd name="csY1" fmla="*/ 0 h 790552"/>
                  <a:gd name="csX2" fmla="*/ 1016311 w 1016311"/>
                  <a:gd name="csY2" fmla="*/ 790552 h 790552"/>
                  <a:gd name="csX3" fmla="*/ 0 w 1016311"/>
                  <a:gd name="csY3" fmla="*/ 790552 h 790552"/>
                  <a:gd name="csX4" fmla="*/ 0 w 1016311"/>
                  <a:gd name="csY4" fmla="*/ 0 h 7905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016311" h="790552">
                    <a:moveTo>
                      <a:pt x="0" y="0"/>
                    </a:moveTo>
                    <a:lnTo>
                      <a:pt x="1016311" y="0"/>
                    </a:lnTo>
                    <a:lnTo>
                      <a:pt x="1016311" y="790552"/>
                    </a:lnTo>
                    <a:lnTo>
                      <a:pt x="0" y="790552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49530" tIns="49530" rIns="49530" bIns="49530" numCol="1" spcCol="1270" anchor="ctr" anchorCtr="0">
                <a:noAutofit/>
              </a:bodyPr>
              <a:lstStyle/>
              <a:p>
                <a:pPr marL="171450" lvl="1" indent="-171450" algn="l" defTabSz="444500">
                  <a:lnSpc>
                    <a:spcPct val="90000"/>
                  </a:lnSpc>
                  <a:spcBef>
                    <a:spcPct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100" kern="1200" dirty="0">
                    <a:solidFill>
                      <a:srgbClr val="000000"/>
                    </a:solidFill>
                    <a:latin typeface="Montserrat Medium" panose="00000600000000000000" pitchFamily="2" charset="0"/>
                  </a:rPr>
                  <a:t>External Debrief</a:t>
                </a:r>
                <a:endParaRPr lang="en-CA" sz="1100" dirty="0">
                  <a:solidFill>
                    <a:srgbClr val="000000"/>
                  </a:solidFill>
                  <a:latin typeface="Montserrat Medium" panose="00000600000000000000" pitchFamily="2" charset="0"/>
                </a:endParaRPr>
              </a:p>
              <a:p>
                <a:pPr marL="171450" lvl="1" indent="-171450" algn="l" defTabSz="444500">
                  <a:lnSpc>
                    <a:spcPct val="90000"/>
                  </a:lnSpc>
                  <a:spcBef>
                    <a:spcPct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100" kern="1200" dirty="0">
                    <a:solidFill>
                      <a:srgbClr val="000000"/>
                    </a:solidFill>
                    <a:latin typeface="Montserrat Medium" panose="00000600000000000000" pitchFamily="2" charset="0"/>
                  </a:rPr>
                  <a:t>Offboarding OR Renewal</a:t>
                </a:r>
                <a:endParaRPr lang="en-CA" sz="1100" kern="1200" dirty="0">
                  <a:solidFill>
                    <a:srgbClr val="000000"/>
                  </a:solidFill>
                  <a:latin typeface="Montserrat Medium" panose="00000600000000000000" pitchFamily="2" charset="0"/>
                </a:endParaRP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CF1BAE9-9076-5B31-DF06-D80D2B6D9321}"/>
                </a:ext>
              </a:extLst>
            </p:cNvPr>
            <p:cNvSpPr txBox="1"/>
            <p:nvPr/>
          </p:nvSpPr>
          <p:spPr>
            <a:xfrm>
              <a:off x="1360620" y="3262635"/>
              <a:ext cx="410175" cy="40010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34" tIns="45717" rIns="91434" bIns="45717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7619" algn="ctr">
                <a:spcBef>
                  <a:spcPts val="61"/>
                </a:spcBef>
                <a:tabLst>
                  <a:tab pos="639177" algn="l"/>
                  <a:tab pos="2160879" algn="l"/>
                  <a:tab pos="2880915" algn="l"/>
                  <a:tab pos="6521911" algn="l"/>
                </a:tabLst>
              </a:pPr>
              <a:r>
                <a:rPr lang="en-US" sz="2000" b="1" dirty="0">
                  <a:ln w="0"/>
                  <a:solidFill>
                    <a:srgbClr val="92D050"/>
                  </a:solidFill>
                  <a:latin typeface="Montserrat Medium" panose="00000600000000000000" pitchFamily="2" charset="0"/>
                </a:rPr>
                <a:t>4</a:t>
              </a:r>
            </a:p>
          </p:txBody>
        </p:sp>
      </p:grp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751FD91B-15B4-29A9-718A-4F1CC7D55091}"/>
              </a:ext>
            </a:extLst>
          </p:cNvPr>
          <p:cNvCxnSpPr>
            <a:cxnSpLocks/>
            <a:stCxn id="35" idx="3"/>
            <a:endCxn id="32" idx="1"/>
          </p:cNvCxnSpPr>
          <p:nvPr/>
        </p:nvCxnSpPr>
        <p:spPr>
          <a:xfrm>
            <a:off x="2612260" y="2649105"/>
            <a:ext cx="741897" cy="65081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04D00324-AB0A-116D-534C-9031C6BEA613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5452424" y="3412154"/>
            <a:ext cx="944286" cy="65366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4324AB71-525D-9956-6EE6-3E88818E4CF0}"/>
              </a:ext>
            </a:extLst>
          </p:cNvPr>
          <p:cNvCxnSpPr>
            <a:cxnSpLocks/>
            <a:endCxn id="34" idx="1"/>
          </p:cNvCxnSpPr>
          <p:nvPr/>
        </p:nvCxnSpPr>
        <p:spPr>
          <a:xfrm>
            <a:off x="8504526" y="4182808"/>
            <a:ext cx="837959" cy="67801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E28BE803-0272-1F06-D533-13B3E0CB4D6A}"/>
              </a:ext>
            </a:extLst>
          </p:cNvPr>
          <p:cNvCxnSpPr>
            <a:cxnSpLocks/>
            <a:stCxn id="34" idx="2"/>
            <a:endCxn id="35" idx="2"/>
          </p:cNvCxnSpPr>
          <p:nvPr/>
        </p:nvCxnSpPr>
        <p:spPr>
          <a:xfrm rot="5400000" flipH="1">
            <a:off x="4871512" y="307092"/>
            <a:ext cx="2211722" cy="8828492"/>
          </a:xfrm>
          <a:prstGeom prst="bentConnector3">
            <a:avLst>
              <a:gd name="adj1" fmla="val -10336"/>
            </a:avLst>
          </a:prstGeom>
          <a:ln>
            <a:prstDash val="dash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6D9860DD-EC5D-3698-C74B-F5FA29CBCD97}"/>
              </a:ext>
            </a:extLst>
          </p:cNvPr>
          <p:cNvSpPr txBox="1"/>
          <p:nvPr/>
        </p:nvSpPr>
        <p:spPr>
          <a:xfrm>
            <a:off x="2324912" y="6169765"/>
            <a:ext cx="5256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rgbClr val="92D050"/>
                </a:solidFill>
                <a:latin typeface="Montserrat Medium" panose="00000600000000000000" pitchFamily="2" charset="0"/>
              </a:rPr>
              <a:t>If renewing, return to Phase 1, Proposal &amp; Negotiation</a:t>
            </a:r>
            <a:endParaRPr lang="en-CA" sz="1400" i="1" dirty="0">
              <a:solidFill>
                <a:srgbClr val="92D050"/>
              </a:solidFill>
              <a:latin typeface="Montserrat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33064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220B0-B917-CADB-2E3E-6E369DFF4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F064C0-5353-2C85-B1CB-BCDB4077BDB9}"/>
              </a:ext>
            </a:extLst>
          </p:cNvPr>
          <p:cNvSpPr txBox="1"/>
          <p:nvPr/>
        </p:nvSpPr>
        <p:spPr>
          <a:xfrm>
            <a:off x="958111" y="504782"/>
            <a:ext cx="10275779" cy="7078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34" tIns="45717" rIns="91434" bIns="45717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619" algn="ctr">
              <a:spcBef>
                <a:spcPts val="61"/>
              </a:spcBef>
              <a:tabLst>
                <a:tab pos="639177" algn="l"/>
                <a:tab pos="2160879" algn="l"/>
                <a:tab pos="2880915" algn="l"/>
                <a:tab pos="6521911" algn="l"/>
              </a:tabLst>
            </a:pPr>
            <a:r>
              <a:rPr lang="en-US" sz="4000" b="1" dirty="0">
                <a:ln w="0"/>
                <a:gradFill flip="none">
                  <a:gsLst>
                    <a:gs pos="0">
                      <a:srgbClr val="009548"/>
                    </a:gs>
                    <a:gs pos="52000">
                      <a:srgbClr val="8CC642"/>
                    </a:gs>
                    <a:gs pos="100000">
                      <a:srgbClr val="C0CF3A"/>
                    </a:gs>
                  </a:gsLst>
                  <a:lin ang="0" scaled="1"/>
                  <a:tileRect/>
                </a:gradFill>
                <a:latin typeface="Montserrat"/>
              </a:rPr>
              <a:t>ROLES &amp; RESPONSIBILITIES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FD1C4AD-7589-5BF7-4A86-87A763A4F2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8283636"/>
              </p:ext>
            </p:extLst>
          </p:nvPr>
        </p:nvGraphicFramePr>
        <p:xfrm>
          <a:off x="3016078" y="1139217"/>
          <a:ext cx="8844617" cy="461561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33889">
                  <a:extLst>
                    <a:ext uri="{9D8B030D-6E8A-4147-A177-3AD203B41FA5}">
                      <a16:colId xmlns:a16="http://schemas.microsoft.com/office/drawing/2014/main" val="2101891946"/>
                    </a:ext>
                  </a:extLst>
                </a:gridCol>
                <a:gridCol w="1965891">
                  <a:extLst>
                    <a:ext uri="{9D8B030D-6E8A-4147-A177-3AD203B41FA5}">
                      <a16:colId xmlns:a16="http://schemas.microsoft.com/office/drawing/2014/main" val="2142554441"/>
                    </a:ext>
                  </a:extLst>
                </a:gridCol>
                <a:gridCol w="820691">
                  <a:extLst>
                    <a:ext uri="{9D8B030D-6E8A-4147-A177-3AD203B41FA5}">
                      <a16:colId xmlns:a16="http://schemas.microsoft.com/office/drawing/2014/main" val="1025200067"/>
                    </a:ext>
                  </a:extLst>
                </a:gridCol>
                <a:gridCol w="820691">
                  <a:extLst>
                    <a:ext uri="{9D8B030D-6E8A-4147-A177-3AD203B41FA5}">
                      <a16:colId xmlns:a16="http://schemas.microsoft.com/office/drawing/2014/main" val="497461917"/>
                    </a:ext>
                  </a:extLst>
                </a:gridCol>
                <a:gridCol w="820691">
                  <a:extLst>
                    <a:ext uri="{9D8B030D-6E8A-4147-A177-3AD203B41FA5}">
                      <a16:colId xmlns:a16="http://schemas.microsoft.com/office/drawing/2014/main" val="2063930119"/>
                    </a:ext>
                  </a:extLst>
                </a:gridCol>
                <a:gridCol w="820691">
                  <a:extLst>
                    <a:ext uri="{9D8B030D-6E8A-4147-A177-3AD203B41FA5}">
                      <a16:colId xmlns:a16="http://schemas.microsoft.com/office/drawing/2014/main" val="1332426306"/>
                    </a:ext>
                  </a:extLst>
                </a:gridCol>
                <a:gridCol w="820691">
                  <a:extLst>
                    <a:ext uri="{9D8B030D-6E8A-4147-A177-3AD203B41FA5}">
                      <a16:colId xmlns:a16="http://schemas.microsoft.com/office/drawing/2014/main" val="2433053047"/>
                    </a:ext>
                  </a:extLst>
                </a:gridCol>
                <a:gridCol w="820691">
                  <a:extLst>
                    <a:ext uri="{9D8B030D-6E8A-4147-A177-3AD203B41FA5}">
                      <a16:colId xmlns:a16="http://schemas.microsoft.com/office/drawing/2014/main" val="4140918176"/>
                    </a:ext>
                  </a:extLst>
                </a:gridCol>
                <a:gridCol w="820691">
                  <a:extLst>
                    <a:ext uri="{9D8B030D-6E8A-4147-A177-3AD203B41FA5}">
                      <a16:colId xmlns:a16="http://schemas.microsoft.com/office/drawing/2014/main" val="2134225219"/>
                    </a:ext>
                  </a:extLst>
                </a:gridCol>
              </a:tblGrid>
              <a:tr h="317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Phase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Step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/>
                        <a:t>VP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/>
                        <a:t>DIR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/>
                        <a:t>BDR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/>
                        <a:t>AM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/>
                        <a:t>OPS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/>
                        <a:t>MKTG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/>
                        <a:t>FIN</a:t>
                      </a:r>
                      <a:endParaRPr 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766759"/>
                  </a:ext>
                </a:extLst>
              </a:tr>
              <a:tr h="402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Partnership Sales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Initiate Contact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/>
                        <a:t>A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/>
                        <a:t>R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9138653"/>
                  </a:ext>
                </a:extLst>
              </a:tr>
              <a:tr h="32384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Exploratory Discussion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/>
                        <a:t>A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/>
                        <a:t>R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8829062"/>
                  </a:ext>
                </a:extLst>
              </a:tr>
              <a:tr h="32384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Proposal 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/>
                        <a:t>A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/>
                        <a:t>R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3687748"/>
                  </a:ext>
                </a:extLst>
              </a:tr>
              <a:tr h="32384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Negotiation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/>
                        <a:t>A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0284283"/>
                  </a:ext>
                </a:extLst>
              </a:tr>
              <a:tr h="32384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Final Agreement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C*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/>
                        <a:t>A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9956361"/>
                  </a:ext>
                </a:extLst>
              </a:tr>
              <a:tr h="402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Onboarding &amp; Initiation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Internal Alignment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/>
                        <a:t>R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/>
                        <a:t>A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49477"/>
                  </a:ext>
                </a:extLst>
              </a:tr>
              <a:tr h="32384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Operational Setup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/>
                        <a:t>R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/>
                        <a:t>A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6049012"/>
                  </a:ext>
                </a:extLst>
              </a:tr>
              <a:tr h="32384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Partnership Activation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/>
                        <a:t>A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/>
                        <a:t>R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2333735"/>
                  </a:ext>
                </a:extLst>
              </a:tr>
              <a:tr h="32384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Marketing Launch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/>
                        <a:t>A/R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2559213"/>
                  </a:ext>
                </a:extLst>
              </a:tr>
              <a:tr h="402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Execution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Ongoing Partnership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/>
                        <a:t>A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3029664"/>
                  </a:ext>
                </a:extLst>
              </a:tr>
              <a:tr h="32384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Quarterly &amp; Annual Reporting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/>
                        <a:t>A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3725193"/>
                  </a:ext>
                </a:extLst>
              </a:tr>
              <a:tr h="402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Closing &amp; Renewal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External Debrief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/>
                        <a:t>A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549917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FED5967-189A-4676-D7A6-8F9247B71C0F}"/>
              </a:ext>
            </a:extLst>
          </p:cNvPr>
          <p:cNvSpPr txBox="1"/>
          <p:nvPr/>
        </p:nvSpPr>
        <p:spPr>
          <a:xfrm>
            <a:off x="238532" y="2861377"/>
            <a:ext cx="2684777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RACI Legend</a:t>
            </a:r>
          </a:p>
          <a:p>
            <a:r>
              <a:rPr lang="en-US" sz="1200" dirty="0"/>
              <a:t>R = Responsible (does the work)</a:t>
            </a:r>
          </a:p>
          <a:p>
            <a:r>
              <a:rPr lang="en-US" sz="1200" dirty="0"/>
              <a:t>A = Accountable (final decision / ownership)</a:t>
            </a:r>
          </a:p>
          <a:p>
            <a:r>
              <a:rPr lang="en-US" sz="1200" dirty="0"/>
              <a:t>C = Consulted (input required)</a:t>
            </a:r>
          </a:p>
          <a:p>
            <a:r>
              <a:rPr lang="en-US" sz="1200" dirty="0"/>
              <a:t>I = Informed (kept up to date)</a:t>
            </a:r>
            <a:endParaRPr lang="en-CA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BCD169-7C58-C11E-0A32-8D57C801EED8}"/>
              </a:ext>
            </a:extLst>
          </p:cNvPr>
          <p:cNvSpPr txBox="1"/>
          <p:nvPr/>
        </p:nvSpPr>
        <p:spPr>
          <a:xfrm>
            <a:off x="238532" y="4307927"/>
            <a:ext cx="2684777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b="1" dirty="0"/>
              <a:t>Roles Key</a:t>
            </a:r>
          </a:p>
          <a:p>
            <a:r>
              <a:rPr lang="en-CA" sz="1200" dirty="0"/>
              <a:t>VP = VP, Market Development</a:t>
            </a:r>
          </a:p>
          <a:p>
            <a:r>
              <a:rPr lang="en-CA" sz="1200" dirty="0"/>
              <a:t>DIR = Dir. Market Development</a:t>
            </a:r>
          </a:p>
          <a:p>
            <a:r>
              <a:rPr lang="en-CA" sz="1200" dirty="0"/>
              <a:t>BD = Business Development </a:t>
            </a:r>
          </a:p>
          <a:p>
            <a:r>
              <a:rPr lang="en-CA" sz="1200" dirty="0"/>
              <a:t>AM = Account Manager</a:t>
            </a:r>
          </a:p>
          <a:p>
            <a:r>
              <a:rPr lang="en-CA" sz="1200" dirty="0"/>
              <a:t>OPS = Operations</a:t>
            </a:r>
          </a:p>
          <a:p>
            <a:r>
              <a:rPr lang="en-CA" sz="1200" dirty="0"/>
              <a:t>MKTG = Marketing</a:t>
            </a:r>
          </a:p>
          <a:p>
            <a:r>
              <a:rPr lang="en-CA" sz="1200" dirty="0"/>
              <a:t>FIN = Finance</a:t>
            </a:r>
          </a:p>
          <a:p>
            <a:r>
              <a:rPr lang="en-CA" sz="1200" dirty="0"/>
              <a:t>LEGAL = Legal Counsel</a:t>
            </a:r>
          </a:p>
          <a:p>
            <a:r>
              <a:rPr lang="en-CA" sz="1200" dirty="0"/>
              <a:t>MD = Managing Director </a:t>
            </a:r>
          </a:p>
          <a:p>
            <a:r>
              <a:rPr lang="en-CA" sz="1200" dirty="0"/>
              <a:t>PARTNER = Partner Stakeholders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6A0402-C011-DBFC-82D8-6C89A6233289}"/>
              </a:ext>
            </a:extLst>
          </p:cNvPr>
          <p:cNvSpPr txBox="1"/>
          <p:nvPr/>
        </p:nvSpPr>
        <p:spPr>
          <a:xfrm>
            <a:off x="114707" y="1252189"/>
            <a:ext cx="268477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92D050"/>
                </a:solidFill>
              </a:rPr>
              <a:t>Overall, the Business Development team is accountable for the partnership development process.</a:t>
            </a:r>
            <a:endParaRPr lang="en-CA" sz="1400" dirty="0">
              <a:solidFill>
                <a:srgbClr val="92D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BA0A91-6819-E102-E692-7CC292023BEC}"/>
              </a:ext>
            </a:extLst>
          </p:cNvPr>
          <p:cNvSpPr txBox="1"/>
          <p:nvPr/>
        </p:nvSpPr>
        <p:spPr>
          <a:xfrm>
            <a:off x="2923309" y="5859264"/>
            <a:ext cx="903015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/>
              <a:t>*Final Agreement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Director</a:t>
            </a:r>
            <a:r>
              <a:rPr lang="en-US" sz="1200" dirty="0"/>
              <a:t> is accountable for completing the sales process.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VP</a:t>
            </a:r>
            <a:r>
              <a:rPr lang="en-US" sz="1200" dirty="0"/>
              <a:t> is consulted for strategic deals, pricing exceptions, enterprise partnerships, and executive negotiations.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Managing Director</a:t>
            </a:r>
            <a:r>
              <a:rPr lang="en-US" sz="1200" dirty="0"/>
              <a:t> is accountable only for agreements requiring executive approval or signature authority.</a:t>
            </a:r>
          </a:p>
        </p:txBody>
      </p:sp>
    </p:spTree>
    <p:extLst>
      <p:ext uri="{BB962C8B-B14F-4D97-AF65-F5344CB8AC3E}">
        <p14:creationId xmlns:p14="http://schemas.microsoft.com/office/powerpoint/2010/main" val="55914561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D6EA6-145D-82D9-B284-6FF7BEF2C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51;p1">
            <a:extLst>
              <a:ext uri="{FF2B5EF4-FFF2-40B4-BE49-F238E27FC236}">
                <a16:creationId xmlns:a16="http://schemas.microsoft.com/office/drawing/2014/main" id="{B9794338-A50D-75E3-CD12-EE7DB8045EF5}"/>
              </a:ext>
            </a:extLst>
          </p:cNvPr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>
            <a:off x="7539583" y="3970953"/>
            <a:ext cx="4165281" cy="310912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431C0E7-68F4-2E89-F99D-D1FFDBB131A9}"/>
              </a:ext>
            </a:extLst>
          </p:cNvPr>
          <p:cNvSpPr txBox="1"/>
          <p:nvPr/>
        </p:nvSpPr>
        <p:spPr>
          <a:xfrm>
            <a:off x="1026937" y="1399463"/>
            <a:ext cx="10275779" cy="28392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34" tIns="45717" rIns="91434" bIns="45717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619" algn="ctr">
              <a:spcBef>
                <a:spcPts val="61"/>
              </a:spcBef>
              <a:tabLst>
                <a:tab pos="639177" algn="l"/>
                <a:tab pos="2160879" algn="l"/>
                <a:tab pos="2880915" algn="l"/>
                <a:tab pos="6521911" algn="l"/>
              </a:tabLst>
            </a:pPr>
            <a:r>
              <a:rPr lang="en-US" sz="4000" b="1" dirty="0">
                <a:ln w="0"/>
                <a:gradFill flip="none">
                  <a:gsLst>
                    <a:gs pos="0">
                      <a:srgbClr val="009548"/>
                    </a:gs>
                    <a:gs pos="52000">
                      <a:srgbClr val="8CC642"/>
                    </a:gs>
                    <a:gs pos="100000">
                      <a:srgbClr val="C0CF3A"/>
                    </a:gs>
                  </a:gsLst>
                  <a:lin ang="0" scaled="1"/>
                  <a:tileRect/>
                </a:gradFill>
                <a:latin typeface="Montserrat"/>
              </a:rPr>
              <a:t>PARTNERSHIP SALES</a:t>
            </a:r>
          </a:p>
          <a:p>
            <a:pPr marL="7619" algn="ctr">
              <a:spcBef>
                <a:spcPts val="61"/>
              </a:spcBef>
              <a:tabLst>
                <a:tab pos="639177" algn="l"/>
                <a:tab pos="2160879" algn="l"/>
                <a:tab pos="2880915" algn="l"/>
                <a:tab pos="6521911" algn="l"/>
              </a:tabLst>
            </a:pPr>
            <a:r>
              <a:rPr lang="en-US" sz="4000" b="1" dirty="0">
                <a:ln w="0"/>
                <a:gradFill flip="none">
                  <a:gsLst>
                    <a:gs pos="0">
                      <a:srgbClr val="009548"/>
                    </a:gs>
                    <a:gs pos="52000">
                      <a:srgbClr val="8CC642"/>
                    </a:gs>
                    <a:gs pos="100000">
                      <a:srgbClr val="C0CF3A"/>
                    </a:gs>
                  </a:gsLst>
                  <a:lin ang="0" scaled="1"/>
                  <a:tileRect/>
                </a:gradFill>
                <a:latin typeface="Montserrat"/>
              </a:rPr>
              <a:t>PHASE: </a:t>
            </a:r>
          </a:p>
          <a:p>
            <a:pPr marL="7619" algn="ctr">
              <a:spcBef>
                <a:spcPts val="61"/>
              </a:spcBef>
              <a:tabLst>
                <a:tab pos="639177" algn="l"/>
                <a:tab pos="2160879" algn="l"/>
                <a:tab pos="2880915" algn="l"/>
                <a:tab pos="6521911" algn="l"/>
              </a:tabLst>
            </a:pPr>
            <a:endParaRPr lang="en-US" sz="3200" i="1" dirty="0">
              <a:ln w="0"/>
              <a:gradFill flip="none">
                <a:gsLst>
                  <a:gs pos="0">
                    <a:srgbClr val="009548"/>
                  </a:gs>
                  <a:gs pos="52000">
                    <a:srgbClr val="8CC642"/>
                  </a:gs>
                  <a:gs pos="100000">
                    <a:srgbClr val="C0CF3A"/>
                  </a:gs>
                </a:gsLst>
                <a:lin ang="0" scaled="1"/>
                <a:tileRect/>
              </a:gradFill>
              <a:latin typeface="Montserrat"/>
            </a:endParaRPr>
          </a:p>
          <a:p>
            <a:pPr marL="7619" algn="ctr">
              <a:spcBef>
                <a:spcPts val="61"/>
              </a:spcBef>
              <a:tabLst>
                <a:tab pos="639177" algn="l"/>
                <a:tab pos="2160879" algn="l"/>
                <a:tab pos="2880915" algn="l"/>
                <a:tab pos="6521911" algn="l"/>
              </a:tabLst>
            </a:pPr>
            <a:r>
              <a:rPr lang="en-US" sz="3200" i="1" dirty="0">
                <a:ln w="0"/>
                <a:gradFill flip="none">
                  <a:gsLst>
                    <a:gs pos="0">
                      <a:srgbClr val="009548"/>
                    </a:gs>
                    <a:gs pos="52000">
                      <a:srgbClr val="8CC642"/>
                    </a:gs>
                    <a:gs pos="100000">
                      <a:srgbClr val="C0CF3A"/>
                    </a:gs>
                  </a:gsLst>
                  <a:lin ang="0" scaled="1"/>
                  <a:tileRect/>
                </a:gradFill>
                <a:latin typeface="Montserrat"/>
              </a:rPr>
              <a:t>From making first contact to signing on the dotted line. </a:t>
            </a:r>
          </a:p>
        </p:txBody>
      </p:sp>
    </p:spTree>
    <p:extLst>
      <p:ext uri="{BB962C8B-B14F-4D97-AF65-F5344CB8AC3E}">
        <p14:creationId xmlns:p14="http://schemas.microsoft.com/office/powerpoint/2010/main" val="319747585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AE80F-4E5E-C97D-6411-5B3058BB0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6FB2E5-7444-58C4-F7B8-C52D0BD9FD2A}"/>
              </a:ext>
            </a:extLst>
          </p:cNvPr>
          <p:cNvSpPr txBox="1"/>
          <p:nvPr/>
        </p:nvSpPr>
        <p:spPr>
          <a:xfrm>
            <a:off x="958111" y="504782"/>
            <a:ext cx="10275779" cy="7078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34" tIns="45717" rIns="91434" bIns="45717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619" algn="ctr">
              <a:spcBef>
                <a:spcPts val="61"/>
              </a:spcBef>
              <a:tabLst>
                <a:tab pos="639177" algn="l"/>
                <a:tab pos="2160879" algn="l"/>
                <a:tab pos="2880915" algn="l"/>
                <a:tab pos="6521911" algn="l"/>
              </a:tabLst>
            </a:pPr>
            <a:r>
              <a:rPr lang="en-US" sz="4000" b="1" dirty="0">
                <a:ln w="0"/>
                <a:gradFill flip="none">
                  <a:gsLst>
                    <a:gs pos="0">
                      <a:srgbClr val="009548"/>
                    </a:gs>
                    <a:gs pos="52000">
                      <a:srgbClr val="8CC642"/>
                    </a:gs>
                    <a:gs pos="100000">
                      <a:srgbClr val="C0CF3A"/>
                    </a:gs>
                  </a:gsLst>
                  <a:lin ang="0" scaled="1"/>
                  <a:tileRect/>
                </a:gradFill>
                <a:latin typeface="Montserrat"/>
              </a:rPr>
              <a:t>PARTNERSHIP SALES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0384B8-B3E7-C44E-FA3A-CEC5EDAA801C}"/>
              </a:ext>
            </a:extLst>
          </p:cNvPr>
          <p:cNvSpPr txBox="1"/>
          <p:nvPr/>
        </p:nvSpPr>
        <p:spPr>
          <a:xfrm>
            <a:off x="619808" y="1425726"/>
            <a:ext cx="10973881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CA" sz="2400" b="1" dirty="0">
                <a:solidFill>
                  <a:schemeClr val="accent6"/>
                </a:solidFill>
                <a:latin typeface="Montserrat Medium"/>
              </a:rPr>
              <a:t>Step 1: Initiate Contact</a:t>
            </a:r>
          </a:p>
          <a:p>
            <a:pPr lvl="0"/>
            <a:endParaRPr lang="en-CA" dirty="0">
              <a:solidFill>
                <a:srgbClr val="000000"/>
              </a:solidFill>
              <a:latin typeface="Montserrat Medium"/>
            </a:endParaRPr>
          </a:p>
          <a:p>
            <a:pPr lvl="0"/>
            <a:r>
              <a:rPr lang="en-CA" b="1" dirty="0">
                <a:solidFill>
                  <a:srgbClr val="000000"/>
                </a:solidFill>
                <a:latin typeface="Montserrat Medium"/>
              </a:rPr>
              <a:t>Goal: </a:t>
            </a:r>
            <a:r>
              <a:rPr lang="en-US" sz="1600" dirty="0">
                <a:solidFill>
                  <a:srgbClr val="000000"/>
                </a:solidFill>
                <a:latin typeface="Montserrat Medium"/>
              </a:rPr>
              <a:t>To identify and engage prospective partners whose sustainability objectives, portfolio, and influence align with GKG’s growth strategy.</a:t>
            </a:r>
            <a:endParaRPr lang="en-CA" sz="1600" dirty="0">
              <a:solidFill>
                <a:srgbClr val="000000"/>
              </a:solidFill>
              <a:latin typeface="Montserrat Medium"/>
            </a:endParaRPr>
          </a:p>
          <a:p>
            <a:pPr lvl="0"/>
            <a:endParaRPr lang="en-CA" b="1" dirty="0">
              <a:solidFill>
                <a:srgbClr val="000000"/>
              </a:solidFill>
              <a:latin typeface="Montserrat Medium"/>
            </a:endParaRPr>
          </a:p>
          <a:p>
            <a:pPr lvl="0"/>
            <a:r>
              <a:rPr lang="en-CA" b="1" dirty="0">
                <a:solidFill>
                  <a:srgbClr val="000000"/>
                </a:solidFill>
                <a:latin typeface="Montserrat Medium"/>
              </a:rPr>
              <a:t>Process: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Identify target organizations based on strategic fit (portfolio size, geography, sustainability maturity, influence within the industry).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Research the organization’s ESG priorities, current certifications, public commitments, and sustainability personnel.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Initiate outreach via warm introductions where possible, or through targeted outbound communication.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Secure interest and confirm the appropriate stakeholders for an exploratory discussion.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Create target account strategy within HubSpot including ownership, priority level, and outreach plan.</a:t>
            </a:r>
            <a:endParaRPr lang="en-CA" sz="1600" dirty="0">
              <a:solidFill>
                <a:srgbClr val="000000"/>
              </a:solidFill>
              <a:latin typeface="Montserrat Medium"/>
            </a:endParaRPr>
          </a:p>
          <a:p>
            <a:pPr lvl="0"/>
            <a:endParaRPr lang="en-CA" b="1" dirty="0">
              <a:solidFill>
                <a:srgbClr val="000000"/>
              </a:solidFill>
              <a:latin typeface="Montserrat Medium"/>
            </a:endParaRPr>
          </a:p>
          <a:p>
            <a:pPr lvl="0"/>
            <a:r>
              <a:rPr lang="en-CA" b="1" dirty="0">
                <a:solidFill>
                  <a:srgbClr val="000000"/>
                </a:solidFill>
                <a:latin typeface="Montserrat Medium"/>
              </a:rPr>
              <a:t>Supporting Resources: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solidFill>
                  <a:schemeClr val="accent3"/>
                </a:solidFill>
                <a:latin typeface="Montserrat Medium"/>
              </a:rPr>
              <a:t>Ideal Partner Profile criteria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solidFill>
                  <a:schemeClr val="accent3"/>
                </a:solidFill>
                <a:latin typeface="Montserrat Medium"/>
              </a:rPr>
              <a:t>Outreach email templates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solidFill>
                  <a:schemeClr val="accent3"/>
                </a:solidFill>
                <a:latin typeface="Montserrat Medium"/>
              </a:rPr>
              <a:t>Partnership pitch deck (high-level)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solidFill>
                  <a:schemeClr val="accent3"/>
                </a:solidFill>
                <a:latin typeface="Montserrat Medium"/>
              </a:rPr>
              <a:t>CRM / partner tracking tool (</a:t>
            </a:r>
            <a:r>
              <a:rPr lang="en-US" sz="1600" dirty="0" err="1">
                <a:solidFill>
                  <a:schemeClr val="accent3"/>
                </a:solidFill>
                <a:latin typeface="Montserrat Medium"/>
              </a:rPr>
              <a:t>Hubspot</a:t>
            </a:r>
            <a:r>
              <a:rPr lang="en-US" sz="1600" dirty="0">
                <a:solidFill>
                  <a:schemeClr val="accent3"/>
                </a:solidFill>
                <a:latin typeface="Montserrat Medium"/>
              </a:rPr>
              <a:t>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3313BED-92DE-CB51-A5A3-75F9C2C8316C}"/>
              </a:ext>
            </a:extLst>
          </p:cNvPr>
          <p:cNvGrpSpPr/>
          <p:nvPr/>
        </p:nvGrpSpPr>
        <p:grpSpPr>
          <a:xfrm>
            <a:off x="9737414" y="5778285"/>
            <a:ext cx="2180552" cy="725754"/>
            <a:chOff x="9413137" y="5596839"/>
            <a:chExt cx="2180552" cy="725754"/>
          </a:xfrm>
        </p:grpSpPr>
        <p:pic>
          <p:nvPicPr>
            <p:cNvPr id="13" name="Graphic 12" descr="Call center with solid fill">
              <a:extLst>
                <a:ext uri="{FF2B5EF4-FFF2-40B4-BE49-F238E27FC236}">
                  <a16:creationId xmlns:a16="http://schemas.microsoft.com/office/drawing/2014/main" id="{FAA47890-A296-7965-5B38-C4F1C4B1E5A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13137" y="5596839"/>
              <a:ext cx="725754" cy="725754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AE411C5-4F79-0DB2-F41D-1D007DFE2E92}"/>
                </a:ext>
              </a:extLst>
            </p:cNvPr>
            <p:cNvSpPr txBox="1"/>
            <p:nvPr/>
          </p:nvSpPr>
          <p:spPr>
            <a:xfrm>
              <a:off x="10138891" y="5707172"/>
              <a:ext cx="145479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accent3"/>
                  </a:solidFill>
                  <a:latin typeface="Montserrat Medium" panose="00000600000000000000" pitchFamily="2" charset="0"/>
                </a:rPr>
                <a:t>Director, MD &amp; BDR</a:t>
              </a:r>
              <a:endParaRPr lang="en-CA" sz="1400" dirty="0">
                <a:solidFill>
                  <a:schemeClr val="accent3"/>
                </a:solidFill>
                <a:latin typeface="Montserrat Medium" panose="00000600000000000000" pitchFamily="2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10FEB7-97B1-07D9-E8DA-402F3DF2B101}"/>
              </a:ext>
            </a:extLst>
          </p:cNvPr>
          <p:cNvSpPr txBox="1"/>
          <p:nvPr/>
        </p:nvSpPr>
        <p:spPr>
          <a:xfrm>
            <a:off x="9897908" y="5470508"/>
            <a:ext cx="1454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accent3"/>
                </a:solidFill>
                <a:latin typeface="Montserrat Medium" panose="00000600000000000000" pitchFamily="2" charset="0"/>
              </a:rPr>
              <a:t>Responsible:</a:t>
            </a:r>
            <a:endParaRPr lang="en-CA" sz="1400" i="1" dirty="0">
              <a:solidFill>
                <a:schemeClr val="accent3"/>
              </a:solidFill>
              <a:latin typeface="Montserrat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070001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4C401-71FA-74B7-54FF-B06DCC9AD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EF3DB2-C9F5-BD69-4BB3-B50C9D931838}"/>
              </a:ext>
            </a:extLst>
          </p:cNvPr>
          <p:cNvSpPr txBox="1"/>
          <p:nvPr/>
        </p:nvSpPr>
        <p:spPr>
          <a:xfrm>
            <a:off x="643466" y="1383637"/>
            <a:ext cx="10905067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CA" sz="2400" b="1" dirty="0">
                <a:solidFill>
                  <a:schemeClr val="accent6"/>
                </a:solidFill>
                <a:latin typeface="Montserrat Medium"/>
              </a:rPr>
              <a:t>Step 2: Exploratory Discussion</a:t>
            </a:r>
          </a:p>
          <a:p>
            <a:pPr lvl="0"/>
            <a:endParaRPr lang="en-CA" dirty="0">
              <a:solidFill>
                <a:srgbClr val="000000"/>
              </a:solidFill>
              <a:latin typeface="Montserrat Medium"/>
            </a:endParaRPr>
          </a:p>
          <a:p>
            <a:pPr lvl="0"/>
            <a:r>
              <a:rPr lang="en-CA" b="1" dirty="0">
                <a:solidFill>
                  <a:srgbClr val="000000"/>
                </a:solidFill>
                <a:latin typeface="Montserrat Medium"/>
              </a:rPr>
              <a:t>Goal: </a:t>
            </a:r>
            <a:r>
              <a:rPr lang="en-US" sz="1600" dirty="0">
                <a:solidFill>
                  <a:srgbClr val="000000"/>
                </a:solidFill>
                <a:latin typeface="Montserrat Medium"/>
              </a:rPr>
              <a:t>To get to know prospective partners, assess partnership fit and objectives, and determine whether to proceed toward a formal partnership proposal.</a:t>
            </a:r>
            <a:endParaRPr lang="en-CA" sz="1600" dirty="0">
              <a:solidFill>
                <a:srgbClr val="000000"/>
              </a:solidFill>
              <a:latin typeface="Montserrat Medium"/>
            </a:endParaRPr>
          </a:p>
          <a:p>
            <a:pPr lvl="0"/>
            <a:endParaRPr lang="en-CA" b="1" dirty="0">
              <a:solidFill>
                <a:srgbClr val="000000"/>
              </a:solidFill>
              <a:latin typeface="Montserrat Medium"/>
            </a:endParaRPr>
          </a:p>
          <a:p>
            <a:pPr lvl="0"/>
            <a:r>
              <a:rPr lang="en-CA" b="1" dirty="0">
                <a:solidFill>
                  <a:srgbClr val="000000"/>
                </a:solidFill>
                <a:latin typeface="Montserrat Medium"/>
              </a:rPr>
              <a:t>Process: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Conduct a discovery call or meeting with potential partner.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Understand the partner’s sustainability goals, challenges, timelines, and portfolio composition.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Present GK’s certification program in more depth, including value proposition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Discuss potential partnership structures (e.g., </a:t>
            </a:r>
            <a:r>
              <a:rPr lang="en-US" sz="1600" dirty="0">
                <a:latin typeface="Montserrat Medium"/>
              </a:rPr>
              <a:t>MSA, MOU, destination partner</a:t>
            </a:r>
            <a:r>
              <a:rPr lang="en-US" sz="1600" dirty="0">
                <a:solidFill>
                  <a:srgbClr val="000000"/>
                </a:solidFill>
                <a:latin typeface="Montserrat Medium"/>
              </a:rPr>
              <a:t>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Confirm partner success criteria, internal approval processes, and decision-makers.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Agree on next steps and timeline for proposal development.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Determine whether opportunity remains with BDR or transitions to Director based on strategic value.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If either party decides not to proceed with a proposal, update </a:t>
            </a:r>
            <a:r>
              <a:rPr lang="en-US" sz="1600" dirty="0" err="1">
                <a:solidFill>
                  <a:srgbClr val="000000"/>
                </a:solidFill>
                <a:latin typeface="Montserrat Medium"/>
              </a:rPr>
              <a:t>Hubspot</a:t>
            </a:r>
            <a:r>
              <a:rPr lang="en-US" sz="1600" dirty="0">
                <a:solidFill>
                  <a:srgbClr val="000000"/>
                </a:solidFill>
                <a:latin typeface="Montserrat Medium"/>
              </a:rPr>
              <a:t> (capture why) &amp; report back to SLT.</a:t>
            </a:r>
          </a:p>
          <a:p>
            <a:pPr lvl="0"/>
            <a:endParaRPr lang="en-CA" b="1" dirty="0">
              <a:solidFill>
                <a:srgbClr val="000000"/>
              </a:solidFill>
              <a:latin typeface="Montserrat Medium"/>
            </a:endParaRPr>
          </a:p>
          <a:p>
            <a:pPr lvl="0"/>
            <a:r>
              <a:rPr lang="en-CA" b="1" dirty="0">
                <a:solidFill>
                  <a:srgbClr val="000000"/>
                </a:solidFill>
                <a:latin typeface="Montserrat Medium"/>
              </a:rPr>
              <a:t>Supporting Resources: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solidFill>
                  <a:schemeClr val="accent3"/>
                </a:solidFill>
                <a:latin typeface="Montserrat Medium"/>
              </a:rPr>
              <a:t>Discovery question framework / notes document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solidFill>
                  <a:schemeClr val="accent3"/>
                </a:solidFill>
                <a:latin typeface="Montserrat Medium"/>
              </a:rPr>
              <a:t>GKG program overview deck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solidFill>
                  <a:schemeClr val="accent3"/>
                </a:solidFill>
                <a:latin typeface="Montserrat Medium"/>
              </a:rPr>
              <a:t>Case studies and reference partners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solidFill>
                  <a:schemeClr val="accent3"/>
                </a:solidFill>
                <a:latin typeface="Montserrat Medium"/>
              </a:rPr>
              <a:t>Preliminary pricing or fee models</a:t>
            </a:r>
            <a:endParaRPr lang="en-CA" sz="1600" dirty="0">
              <a:solidFill>
                <a:schemeClr val="accent3"/>
              </a:solidFill>
              <a:latin typeface="Montserrat Medium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36DC358-72ED-CAD2-1883-6590CCFD6BA6}"/>
              </a:ext>
            </a:extLst>
          </p:cNvPr>
          <p:cNvGrpSpPr/>
          <p:nvPr/>
        </p:nvGrpSpPr>
        <p:grpSpPr>
          <a:xfrm>
            <a:off x="9737414" y="5778285"/>
            <a:ext cx="2180552" cy="725754"/>
            <a:chOff x="9413137" y="5596839"/>
            <a:chExt cx="2180552" cy="725754"/>
          </a:xfrm>
        </p:grpSpPr>
        <p:pic>
          <p:nvPicPr>
            <p:cNvPr id="10" name="Graphic 9" descr="Call center with solid fill">
              <a:extLst>
                <a:ext uri="{FF2B5EF4-FFF2-40B4-BE49-F238E27FC236}">
                  <a16:creationId xmlns:a16="http://schemas.microsoft.com/office/drawing/2014/main" id="{67655670-6945-F664-DD64-4D6D4C4AF03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413137" y="5596839"/>
              <a:ext cx="725754" cy="725754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2AF1958-80CA-B5DC-E801-5B6E2178DA4D}"/>
                </a:ext>
              </a:extLst>
            </p:cNvPr>
            <p:cNvSpPr txBox="1"/>
            <p:nvPr/>
          </p:nvSpPr>
          <p:spPr>
            <a:xfrm>
              <a:off x="10138891" y="5707172"/>
              <a:ext cx="145479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accent3"/>
                  </a:solidFill>
                  <a:latin typeface="Montserrat Medium" panose="00000600000000000000" pitchFamily="2" charset="0"/>
                </a:rPr>
                <a:t>Director, MD &amp; BDR</a:t>
              </a:r>
              <a:endParaRPr lang="en-CA" sz="1400" dirty="0">
                <a:solidFill>
                  <a:schemeClr val="accent3"/>
                </a:solidFill>
                <a:latin typeface="Montserrat Medium" panose="00000600000000000000" pitchFamily="2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71E2E19-5E9D-5CF9-564E-98A226B36DCE}"/>
              </a:ext>
            </a:extLst>
          </p:cNvPr>
          <p:cNvSpPr txBox="1"/>
          <p:nvPr/>
        </p:nvSpPr>
        <p:spPr>
          <a:xfrm>
            <a:off x="958111" y="504782"/>
            <a:ext cx="10275779" cy="7078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34" tIns="45717" rIns="91434" bIns="45717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619" algn="ctr">
              <a:spcBef>
                <a:spcPts val="61"/>
              </a:spcBef>
              <a:tabLst>
                <a:tab pos="639177" algn="l"/>
                <a:tab pos="2160879" algn="l"/>
                <a:tab pos="2880915" algn="l"/>
                <a:tab pos="6521911" algn="l"/>
              </a:tabLst>
            </a:pPr>
            <a:r>
              <a:rPr lang="en-US" sz="4000" b="1" dirty="0">
                <a:ln w="0"/>
                <a:gradFill flip="none">
                  <a:gsLst>
                    <a:gs pos="0">
                      <a:srgbClr val="009548"/>
                    </a:gs>
                    <a:gs pos="52000">
                      <a:srgbClr val="8CC642"/>
                    </a:gs>
                    <a:gs pos="100000">
                      <a:srgbClr val="C0CF3A"/>
                    </a:gs>
                  </a:gsLst>
                  <a:lin ang="0" scaled="1"/>
                  <a:tileRect/>
                </a:gradFill>
                <a:latin typeface="Montserrat"/>
              </a:rPr>
              <a:t>PARTNERSHIP SALES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5EF8BD-BA9E-0676-5B95-878973D988E4}"/>
              </a:ext>
            </a:extLst>
          </p:cNvPr>
          <p:cNvSpPr txBox="1"/>
          <p:nvPr/>
        </p:nvSpPr>
        <p:spPr>
          <a:xfrm>
            <a:off x="9897908" y="5470508"/>
            <a:ext cx="1454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accent3"/>
                </a:solidFill>
                <a:latin typeface="Montserrat Medium" panose="00000600000000000000" pitchFamily="2" charset="0"/>
              </a:rPr>
              <a:t>Responsible:</a:t>
            </a:r>
            <a:endParaRPr lang="en-CA" sz="1400" i="1" dirty="0">
              <a:solidFill>
                <a:schemeClr val="accent3"/>
              </a:solidFill>
              <a:latin typeface="Montserrat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5473896"/>
      </p:ext>
    </p:extLst>
  </p:cSld>
  <p:clrMapOvr>
    <a:masterClrMapping/>
  </p:clrMapOvr>
  <p:transition/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1CEF0-0E3C-A21F-80F7-99F1BCFF4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BC3F1D-D876-6271-4D23-851C91C0E747}"/>
              </a:ext>
            </a:extLst>
          </p:cNvPr>
          <p:cNvSpPr txBox="1"/>
          <p:nvPr/>
        </p:nvSpPr>
        <p:spPr>
          <a:xfrm>
            <a:off x="592667" y="1479348"/>
            <a:ext cx="11006666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CA" sz="2400" b="1" dirty="0">
                <a:solidFill>
                  <a:schemeClr val="accent6"/>
                </a:solidFill>
                <a:latin typeface="Montserrat Medium"/>
              </a:rPr>
              <a:t>Step 3: Partnership Proposal &amp; Negotiation</a:t>
            </a:r>
          </a:p>
          <a:p>
            <a:pPr lvl="0"/>
            <a:endParaRPr lang="en-CA" dirty="0">
              <a:solidFill>
                <a:srgbClr val="000000"/>
              </a:solidFill>
              <a:latin typeface="Montserrat Medium"/>
            </a:endParaRPr>
          </a:p>
          <a:p>
            <a:pPr lvl="0"/>
            <a:r>
              <a:rPr lang="en-CA" b="1" dirty="0">
                <a:solidFill>
                  <a:srgbClr val="000000"/>
                </a:solidFill>
                <a:latin typeface="Montserrat Medium"/>
              </a:rPr>
              <a:t>Goal: </a:t>
            </a:r>
            <a:r>
              <a:rPr lang="en-US" sz="1600" dirty="0">
                <a:solidFill>
                  <a:srgbClr val="000000"/>
                </a:solidFill>
                <a:latin typeface="Montserrat Medium"/>
              </a:rPr>
              <a:t>To present a clear, compelling partnership proposal that defines scope, value exchange, commercial terms, and mutual commitments.</a:t>
            </a:r>
            <a:endParaRPr lang="en-CA" sz="1600" dirty="0">
              <a:solidFill>
                <a:srgbClr val="000000"/>
              </a:solidFill>
              <a:latin typeface="Montserrat Medium"/>
            </a:endParaRPr>
          </a:p>
          <a:p>
            <a:pPr lvl="0"/>
            <a:endParaRPr lang="en-CA" b="1" dirty="0">
              <a:solidFill>
                <a:srgbClr val="000000"/>
              </a:solidFill>
              <a:latin typeface="Montserrat Medium"/>
            </a:endParaRPr>
          </a:p>
          <a:p>
            <a:pPr lvl="0"/>
            <a:r>
              <a:rPr lang="en-CA" b="1" dirty="0">
                <a:solidFill>
                  <a:srgbClr val="000000"/>
                </a:solidFill>
                <a:latin typeface="Montserrat Medium"/>
              </a:rPr>
              <a:t>Process: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Develop a customized partnership proposal based on discovery insights. Define proposed partnership structure, scope, pricing, incentives, and service levels.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Draft a term sheet outlining key commercial and non-commercial terms.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Review internally for alignment and approval. VP, MD should review the term sheet BEFORE it goes to the partner.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Share proposal with partner and answer clarification questions.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Negotiate terms as required. Each time the term sheet is revised, save a copy of the revisions on SharePoint.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Finalize a clean, agreed‑upon term sheet.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  <a:latin typeface="Montserrat Medium"/>
            </a:endParaRPr>
          </a:p>
          <a:p>
            <a:pPr lvl="0"/>
            <a:endParaRPr lang="en-CA" b="1" dirty="0">
              <a:solidFill>
                <a:srgbClr val="000000"/>
              </a:solidFill>
              <a:latin typeface="Montserrat Medium"/>
            </a:endParaRPr>
          </a:p>
          <a:p>
            <a:pPr lvl="0"/>
            <a:r>
              <a:rPr lang="en-CA" b="1" dirty="0">
                <a:solidFill>
                  <a:srgbClr val="000000"/>
                </a:solidFill>
                <a:latin typeface="Montserrat Medium"/>
              </a:rPr>
              <a:t>Supporting Resources: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sz="1600" dirty="0">
                <a:solidFill>
                  <a:schemeClr val="accent3"/>
                </a:solidFill>
                <a:latin typeface="Montserrat Medium"/>
              </a:rPr>
              <a:t>Partnership Proposal Deck Template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solidFill>
                  <a:schemeClr val="accent3"/>
                </a:solidFill>
                <a:latin typeface="Montserrat Medium"/>
              </a:rPr>
              <a:t>Partnership Agreement (MSA / MOU) Template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7F3765F-673A-29AD-F2F4-AE96879D90DA}"/>
              </a:ext>
            </a:extLst>
          </p:cNvPr>
          <p:cNvGrpSpPr/>
          <p:nvPr/>
        </p:nvGrpSpPr>
        <p:grpSpPr>
          <a:xfrm>
            <a:off x="9658860" y="5705286"/>
            <a:ext cx="2180552" cy="725754"/>
            <a:chOff x="9413137" y="5596839"/>
            <a:chExt cx="2180552" cy="725754"/>
          </a:xfrm>
        </p:grpSpPr>
        <p:pic>
          <p:nvPicPr>
            <p:cNvPr id="10" name="Graphic 9" descr="Call center with solid fill">
              <a:extLst>
                <a:ext uri="{FF2B5EF4-FFF2-40B4-BE49-F238E27FC236}">
                  <a16:creationId xmlns:a16="http://schemas.microsoft.com/office/drawing/2014/main" id="{DE6623E9-973C-C923-F237-24C75955DCE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413137" y="5596839"/>
              <a:ext cx="725754" cy="725754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18D8199-5099-10DA-5621-6645FC7BB63E}"/>
                </a:ext>
              </a:extLst>
            </p:cNvPr>
            <p:cNvSpPr txBox="1"/>
            <p:nvPr/>
          </p:nvSpPr>
          <p:spPr>
            <a:xfrm>
              <a:off x="10138891" y="5707172"/>
              <a:ext cx="145479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accent3"/>
                  </a:solidFill>
                  <a:latin typeface="Montserrat Medium" panose="00000600000000000000" pitchFamily="2" charset="0"/>
                </a:rPr>
                <a:t>Director, MD &amp; BDR</a:t>
              </a:r>
              <a:endParaRPr lang="en-CA" sz="1400" dirty="0">
                <a:solidFill>
                  <a:schemeClr val="accent3"/>
                </a:solidFill>
                <a:latin typeface="Montserrat Medium" panose="00000600000000000000" pitchFamily="2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6FAEF80-60C9-DC05-FD14-C35F248B85B3}"/>
              </a:ext>
            </a:extLst>
          </p:cNvPr>
          <p:cNvSpPr txBox="1"/>
          <p:nvPr/>
        </p:nvSpPr>
        <p:spPr>
          <a:xfrm>
            <a:off x="958111" y="504782"/>
            <a:ext cx="10275779" cy="7078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34" tIns="45717" rIns="91434" bIns="45717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619" algn="ctr">
              <a:spcBef>
                <a:spcPts val="61"/>
              </a:spcBef>
              <a:tabLst>
                <a:tab pos="639177" algn="l"/>
                <a:tab pos="2160879" algn="l"/>
                <a:tab pos="2880915" algn="l"/>
                <a:tab pos="6521911" algn="l"/>
              </a:tabLst>
            </a:pPr>
            <a:r>
              <a:rPr lang="en-US" sz="4000" b="1" dirty="0">
                <a:ln w="0"/>
                <a:gradFill flip="none">
                  <a:gsLst>
                    <a:gs pos="0">
                      <a:srgbClr val="009548"/>
                    </a:gs>
                    <a:gs pos="52000">
                      <a:srgbClr val="8CC642"/>
                    </a:gs>
                    <a:gs pos="100000">
                      <a:srgbClr val="C0CF3A"/>
                    </a:gs>
                  </a:gsLst>
                  <a:lin ang="0" scaled="1"/>
                  <a:tileRect/>
                </a:gradFill>
                <a:latin typeface="Montserrat"/>
              </a:rPr>
              <a:t>PARTNERSHIP SALES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50241A-84F2-BFDC-C4DA-C762490ACFF3}"/>
              </a:ext>
            </a:extLst>
          </p:cNvPr>
          <p:cNvSpPr txBox="1"/>
          <p:nvPr/>
        </p:nvSpPr>
        <p:spPr>
          <a:xfrm>
            <a:off x="9897908" y="5470508"/>
            <a:ext cx="1454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accent3"/>
                </a:solidFill>
                <a:latin typeface="Montserrat Medium" panose="00000600000000000000" pitchFamily="2" charset="0"/>
              </a:rPr>
              <a:t>Responsible:</a:t>
            </a:r>
            <a:endParaRPr lang="en-CA" sz="1400" i="1" dirty="0">
              <a:solidFill>
                <a:schemeClr val="accent3"/>
              </a:solidFill>
              <a:latin typeface="Montserrat Medium" panose="000006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37EF58-BEC3-9526-5488-DC8ABBB7EF4E}"/>
              </a:ext>
            </a:extLst>
          </p:cNvPr>
          <p:cNvSpPr txBox="1"/>
          <p:nvPr/>
        </p:nvSpPr>
        <p:spPr>
          <a:xfrm>
            <a:off x="9383193" y="868952"/>
            <a:ext cx="24416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rgbClr val="92D050"/>
                </a:solidFill>
                <a:latin typeface="Montserrat Medium" panose="00000600000000000000" pitchFamily="2" charset="0"/>
              </a:rPr>
              <a:t>Note: </a:t>
            </a:r>
          </a:p>
          <a:p>
            <a:pPr algn="ctr"/>
            <a:r>
              <a:rPr lang="en-US" sz="1400" i="1" dirty="0" err="1">
                <a:solidFill>
                  <a:srgbClr val="92D050"/>
                </a:solidFill>
                <a:latin typeface="Montserrat Medium" panose="00000600000000000000" pitchFamily="2" charset="0"/>
              </a:rPr>
              <a:t>Hubspot</a:t>
            </a:r>
            <a:r>
              <a:rPr lang="en-US" sz="1400" i="1" dirty="0">
                <a:solidFill>
                  <a:srgbClr val="92D050"/>
                </a:solidFill>
                <a:latin typeface="Montserrat Medium" panose="00000600000000000000" pitchFamily="2" charset="0"/>
              </a:rPr>
              <a:t> should be kept up-to-date throughout this phase!</a:t>
            </a:r>
            <a:endParaRPr lang="en-CA" sz="1400" i="1" dirty="0">
              <a:solidFill>
                <a:srgbClr val="92D050"/>
              </a:solidFill>
              <a:latin typeface="Montserrat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0881291"/>
      </p:ext>
    </p:extLst>
  </p:cSld>
  <p:clrMapOvr>
    <a:masterClrMapping/>
  </p:clrMapOvr>
  <p:transition/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DD3A2-0B36-C646-ED4B-59AF6005A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FA7D4D-0AEB-5712-D828-11A281AC8A87}"/>
              </a:ext>
            </a:extLst>
          </p:cNvPr>
          <p:cNvSpPr txBox="1"/>
          <p:nvPr/>
        </p:nvSpPr>
        <p:spPr>
          <a:xfrm>
            <a:off x="584132" y="1414437"/>
            <a:ext cx="11009557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CA" sz="2400" b="1" dirty="0">
                <a:solidFill>
                  <a:schemeClr val="accent6"/>
                </a:solidFill>
                <a:latin typeface="Montserrat Medium"/>
              </a:rPr>
              <a:t>Step 4: Final Agreement</a:t>
            </a:r>
          </a:p>
          <a:p>
            <a:pPr lvl="0"/>
            <a:endParaRPr lang="en-CA" dirty="0">
              <a:solidFill>
                <a:srgbClr val="000000"/>
              </a:solidFill>
              <a:latin typeface="Montserrat Medium"/>
            </a:endParaRPr>
          </a:p>
          <a:p>
            <a:pPr lvl="0"/>
            <a:r>
              <a:rPr lang="en-CA" b="1" dirty="0">
                <a:solidFill>
                  <a:srgbClr val="000000"/>
                </a:solidFill>
                <a:latin typeface="Montserrat Medium"/>
              </a:rPr>
              <a:t>Goal: </a:t>
            </a:r>
            <a:r>
              <a:rPr lang="en-US" sz="1600" dirty="0">
                <a:solidFill>
                  <a:srgbClr val="000000"/>
                </a:solidFill>
                <a:latin typeface="Montserrat Medium"/>
              </a:rPr>
              <a:t>To formalize the partnership through a signed, legally-binding agreement that clearly defines roles, responsibilities, and commercial terms.</a:t>
            </a:r>
            <a:endParaRPr lang="en-CA" sz="1600" dirty="0">
              <a:solidFill>
                <a:srgbClr val="000000"/>
              </a:solidFill>
              <a:latin typeface="Montserrat Medium"/>
            </a:endParaRPr>
          </a:p>
          <a:p>
            <a:pPr lvl="0"/>
            <a:endParaRPr lang="en-CA" b="1" dirty="0">
              <a:solidFill>
                <a:srgbClr val="000000"/>
              </a:solidFill>
              <a:latin typeface="Montserrat Medium"/>
            </a:endParaRPr>
          </a:p>
          <a:p>
            <a:pPr lvl="0"/>
            <a:r>
              <a:rPr lang="en-CA" b="1" dirty="0">
                <a:solidFill>
                  <a:srgbClr val="000000"/>
                </a:solidFill>
                <a:latin typeface="Montserrat Medium"/>
              </a:rPr>
              <a:t>Process: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Translate the agreed term sheet into a formal Partnership Agreement (MSA or MOU) using the template.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ontserrat Medium"/>
              </a:rPr>
              <a:t>Coordinate internal reviews (flag for any inconsistencies with agreed-upon terms). Note: you must provide team members with 48 </a:t>
            </a:r>
            <a:r>
              <a:rPr lang="en-US" sz="1600" dirty="0" err="1">
                <a:latin typeface="Montserrat Medium"/>
              </a:rPr>
              <a:t>hrs</a:t>
            </a:r>
            <a:r>
              <a:rPr lang="en-US" sz="1600" dirty="0">
                <a:latin typeface="Montserrat Medium"/>
              </a:rPr>
              <a:t> to review &amp; provide comment.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If new clauses have been added (e.g. new section on data protection) or if significant changes to clause wording have been made during course of negotiation, coordinate legal review.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Send draft Partnership Agreement to partner for review &amp; revisions. Ideally at this stage the revisions are minimal, as key terms have been agreed upon in the term sheet!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Finalize agreement and secure signatures. Save a copy of the final signed agreement on SharePoint.</a:t>
            </a:r>
            <a:endParaRPr lang="en-CA" b="1" dirty="0">
              <a:solidFill>
                <a:srgbClr val="000000"/>
              </a:solidFill>
              <a:latin typeface="Montserrat Medium"/>
            </a:endParaRPr>
          </a:p>
          <a:p>
            <a:pPr lvl="0"/>
            <a:endParaRPr lang="en-CA" b="1" dirty="0">
              <a:solidFill>
                <a:srgbClr val="000000"/>
              </a:solidFill>
              <a:latin typeface="Montserrat Medium"/>
            </a:endParaRPr>
          </a:p>
          <a:p>
            <a:pPr lvl="0"/>
            <a:r>
              <a:rPr lang="en-CA" b="1" dirty="0">
                <a:solidFill>
                  <a:srgbClr val="000000"/>
                </a:solidFill>
                <a:latin typeface="Montserrat Medium"/>
              </a:rPr>
              <a:t>Supporting Resources: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solidFill>
                  <a:schemeClr val="accent3"/>
                </a:solidFill>
                <a:latin typeface="Montserrat Medium"/>
              </a:rPr>
              <a:t>Partnership Agreement (MSA / MOU) Template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CA" b="1" dirty="0">
              <a:solidFill>
                <a:srgbClr val="000000"/>
              </a:solidFill>
              <a:latin typeface="Montserrat Medium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C4BD319-944C-BE62-DE43-852014B86A90}"/>
              </a:ext>
            </a:extLst>
          </p:cNvPr>
          <p:cNvGrpSpPr/>
          <p:nvPr/>
        </p:nvGrpSpPr>
        <p:grpSpPr>
          <a:xfrm>
            <a:off x="9678315" y="5911140"/>
            <a:ext cx="2180552" cy="725754"/>
            <a:chOff x="9413137" y="5596839"/>
            <a:chExt cx="2180552" cy="725754"/>
          </a:xfrm>
        </p:grpSpPr>
        <p:pic>
          <p:nvPicPr>
            <p:cNvPr id="9" name="Graphic 8" descr="Call center with solid fill">
              <a:extLst>
                <a:ext uri="{FF2B5EF4-FFF2-40B4-BE49-F238E27FC236}">
                  <a16:creationId xmlns:a16="http://schemas.microsoft.com/office/drawing/2014/main" id="{DF65367B-459B-D345-1430-B2A79FD3984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413137" y="5596839"/>
              <a:ext cx="725754" cy="725754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0D97EB4-DC97-FAC4-5C2A-D731D9CB09E9}"/>
                </a:ext>
              </a:extLst>
            </p:cNvPr>
            <p:cNvSpPr txBox="1"/>
            <p:nvPr/>
          </p:nvSpPr>
          <p:spPr>
            <a:xfrm>
              <a:off x="10138891" y="5707172"/>
              <a:ext cx="145479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accent3"/>
                  </a:solidFill>
                  <a:latin typeface="Montserrat Medium" panose="00000600000000000000" pitchFamily="2" charset="0"/>
                </a:rPr>
                <a:t>VP, MD</a:t>
              </a:r>
              <a:endParaRPr lang="en-CA" sz="1400" dirty="0">
                <a:solidFill>
                  <a:schemeClr val="accent3"/>
                </a:solidFill>
                <a:latin typeface="Montserrat Medium" panose="00000600000000000000" pitchFamily="2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E28DC7C-1E62-C18D-A117-E118AA2E25F5}"/>
              </a:ext>
            </a:extLst>
          </p:cNvPr>
          <p:cNvSpPr txBox="1"/>
          <p:nvPr/>
        </p:nvSpPr>
        <p:spPr>
          <a:xfrm>
            <a:off x="958111" y="504782"/>
            <a:ext cx="10275779" cy="7078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34" tIns="45717" rIns="91434" bIns="45717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619" algn="ctr">
              <a:spcBef>
                <a:spcPts val="61"/>
              </a:spcBef>
              <a:tabLst>
                <a:tab pos="639177" algn="l"/>
                <a:tab pos="2160879" algn="l"/>
                <a:tab pos="2880915" algn="l"/>
                <a:tab pos="6521911" algn="l"/>
              </a:tabLst>
            </a:pPr>
            <a:r>
              <a:rPr lang="en-US" sz="4000" b="1" dirty="0">
                <a:ln w="0"/>
                <a:gradFill flip="none">
                  <a:gsLst>
                    <a:gs pos="0">
                      <a:srgbClr val="009548"/>
                    </a:gs>
                    <a:gs pos="52000">
                      <a:srgbClr val="8CC642"/>
                    </a:gs>
                    <a:gs pos="100000">
                      <a:srgbClr val="C0CF3A"/>
                    </a:gs>
                  </a:gsLst>
                  <a:lin ang="0" scaled="1"/>
                  <a:tileRect/>
                </a:gradFill>
                <a:latin typeface="Montserrat"/>
              </a:rPr>
              <a:t>PARTNERSHIP SALES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E97864-4BA4-6778-8EE9-49F666A44DCF}"/>
              </a:ext>
            </a:extLst>
          </p:cNvPr>
          <p:cNvSpPr txBox="1"/>
          <p:nvPr/>
        </p:nvSpPr>
        <p:spPr>
          <a:xfrm>
            <a:off x="9809259" y="5642528"/>
            <a:ext cx="1454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accent3"/>
                </a:solidFill>
                <a:latin typeface="Montserrat Medium" panose="00000600000000000000" pitchFamily="2" charset="0"/>
              </a:rPr>
              <a:t>Responsible:</a:t>
            </a:r>
            <a:endParaRPr lang="en-CA" sz="1400" i="1" dirty="0">
              <a:solidFill>
                <a:schemeClr val="accent3"/>
              </a:solidFill>
              <a:latin typeface="Montserrat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661178"/>
      </p:ext>
    </p:extLst>
  </p:cSld>
  <p:clrMapOvr>
    <a:masterClrMapping/>
  </p:clrMapOvr>
  <p:transition/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91EB4-0838-E64E-398D-BD23FCFBE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51;p1">
            <a:extLst>
              <a:ext uri="{FF2B5EF4-FFF2-40B4-BE49-F238E27FC236}">
                <a16:creationId xmlns:a16="http://schemas.microsoft.com/office/drawing/2014/main" id="{48637C91-6978-2064-D8B5-48C038244424}"/>
              </a:ext>
            </a:extLst>
          </p:cNvPr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>
            <a:off x="7539583" y="3970953"/>
            <a:ext cx="4165281" cy="310912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A06BF32-A4AF-02A6-B5AF-2420712A8349}"/>
              </a:ext>
            </a:extLst>
          </p:cNvPr>
          <p:cNvSpPr txBox="1"/>
          <p:nvPr/>
        </p:nvSpPr>
        <p:spPr>
          <a:xfrm>
            <a:off x="1026937" y="1399463"/>
            <a:ext cx="10275779" cy="28392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34" tIns="45717" rIns="91434" bIns="45717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619" algn="ctr">
              <a:spcBef>
                <a:spcPts val="61"/>
              </a:spcBef>
              <a:tabLst>
                <a:tab pos="639177" algn="l"/>
                <a:tab pos="2160879" algn="l"/>
                <a:tab pos="2880915" algn="l"/>
                <a:tab pos="6521911" algn="l"/>
              </a:tabLst>
            </a:pPr>
            <a:r>
              <a:rPr lang="en-US" sz="4000" b="1" dirty="0">
                <a:ln w="0"/>
                <a:gradFill flip="none">
                  <a:gsLst>
                    <a:gs pos="0">
                      <a:srgbClr val="009548"/>
                    </a:gs>
                    <a:gs pos="52000">
                      <a:srgbClr val="8CC642"/>
                    </a:gs>
                    <a:gs pos="100000">
                      <a:srgbClr val="C0CF3A"/>
                    </a:gs>
                  </a:gsLst>
                  <a:lin ang="0" scaled="1"/>
                  <a:tileRect/>
                </a:gradFill>
                <a:latin typeface="Montserrat"/>
              </a:rPr>
              <a:t>ONBOARDING &amp; INITIATION </a:t>
            </a:r>
          </a:p>
          <a:p>
            <a:pPr marL="7619" algn="ctr">
              <a:spcBef>
                <a:spcPts val="61"/>
              </a:spcBef>
              <a:tabLst>
                <a:tab pos="639177" algn="l"/>
                <a:tab pos="2160879" algn="l"/>
                <a:tab pos="2880915" algn="l"/>
                <a:tab pos="6521911" algn="l"/>
              </a:tabLst>
            </a:pPr>
            <a:r>
              <a:rPr lang="en-US" sz="4000" b="1" dirty="0">
                <a:ln w="0"/>
                <a:gradFill flip="none">
                  <a:gsLst>
                    <a:gs pos="0">
                      <a:srgbClr val="009548"/>
                    </a:gs>
                    <a:gs pos="52000">
                      <a:srgbClr val="8CC642"/>
                    </a:gs>
                    <a:gs pos="100000">
                      <a:srgbClr val="C0CF3A"/>
                    </a:gs>
                  </a:gsLst>
                  <a:lin ang="0" scaled="1"/>
                  <a:tileRect/>
                </a:gradFill>
                <a:latin typeface="Montserrat"/>
              </a:rPr>
              <a:t>PHASE: </a:t>
            </a:r>
          </a:p>
          <a:p>
            <a:pPr marL="7619" algn="ctr">
              <a:spcBef>
                <a:spcPts val="61"/>
              </a:spcBef>
              <a:tabLst>
                <a:tab pos="639177" algn="l"/>
                <a:tab pos="2160879" algn="l"/>
                <a:tab pos="2880915" algn="l"/>
                <a:tab pos="6521911" algn="l"/>
              </a:tabLst>
            </a:pPr>
            <a:endParaRPr lang="en-US" sz="3200" i="1" dirty="0">
              <a:ln w="0"/>
              <a:gradFill flip="none">
                <a:gsLst>
                  <a:gs pos="0">
                    <a:srgbClr val="009548"/>
                  </a:gs>
                  <a:gs pos="52000">
                    <a:srgbClr val="8CC642"/>
                  </a:gs>
                  <a:gs pos="100000">
                    <a:srgbClr val="C0CF3A"/>
                  </a:gs>
                </a:gsLst>
                <a:lin ang="0" scaled="1"/>
                <a:tileRect/>
              </a:gradFill>
              <a:latin typeface="Montserrat"/>
            </a:endParaRPr>
          </a:p>
          <a:p>
            <a:pPr marL="7619" algn="ctr">
              <a:spcBef>
                <a:spcPts val="61"/>
              </a:spcBef>
              <a:tabLst>
                <a:tab pos="639177" algn="l"/>
                <a:tab pos="2160879" algn="l"/>
                <a:tab pos="2880915" algn="l"/>
                <a:tab pos="6521911" algn="l"/>
              </a:tabLst>
            </a:pPr>
            <a:r>
              <a:rPr lang="en-US" sz="3200" i="1" dirty="0">
                <a:ln w="0"/>
                <a:gradFill flip="none">
                  <a:gsLst>
                    <a:gs pos="0">
                      <a:srgbClr val="009548"/>
                    </a:gs>
                    <a:gs pos="52000">
                      <a:srgbClr val="8CC642"/>
                    </a:gs>
                    <a:gs pos="100000">
                      <a:srgbClr val="C0CF3A"/>
                    </a:gs>
                  </a:gsLst>
                  <a:lin ang="0" scaled="1"/>
                  <a:tileRect/>
                </a:gradFill>
                <a:latin typeface="Montserrat"/>
              </a:rPr>
              <a:t>Where we get all our ducks in a row &amp; start activating the partnership! </a:t>
            </a:r>
          </a:p>
        </p:txBody>
      </p:sp>
    </p:spTree>
    <p:extLst>
      <p:ext uri="{BB962C8B-B14F-4D97-AF65-F5344CB8AC3E}">
        <p14:creationId xmlns:p14="http://schemas.microsoft.com/office/powerpoint/2010/main" val="229920330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07CB6-1EB4-1EDF-A441-AFDE24478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F7136F-ED1F-450B-8816-16AA91BD6CA3}"/>
              </a:ext>
            </a:extLst>
          </p:cNvPr>
          <p:cNvSpPr txBox="1"/>
          <p:nvPr/>
        </p:nvSpPr>
        <p:spPr>
          <a:xfrm>
            <a:off x="958111" y="504782"/>
            <a:ext cx="10275779" cy="7078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34" tIns="45717" rIns="91434" bIns="45717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619" algn="ctr">
              <a:spcBef>
                <a:spcPts val="61"/>
              </a:spcBef>
              <a:tabLst>
                <a:tab pos="639177" algn="l"/>
                <a:tab pos="2160879" algn="l"/>
                <a:tab pos="2880915" algn="l"/>
                <a:tab pos="6521911" algn="l"/>
              </a:tabLst>
            </a:pPr>
            <a:r>
              <a:rPr lang="en-US" sz="4000" b="1" dirty="0">
                <a:ln w="0"/>
                <a:gradFill flip="none">
                  <a:gsLst>
                    <a:gs pos="0">
                      <a:srgbClr val="009548"/>
                    </a:gs>
                    <a:gs pos="52000">
                      <a:srgbClr val="8CC642"/>
                    </a:gs>
                    <a:gs pos="100000">
                      <a:srgbClr val="C0CF3A"/>
                    </a:gs>
                  </a:gsLst>
                  <a:lin ang="0" scaled="1"/>
                  <a:tileRect/>
                </a:gradFill>
                <a:latin typeface="Montserrat"/>
              </a:rPr>
              <a:t>ONBOARDING &amp; INITIATION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3011D1-2EB9-3528-BA5F-2B993F4CAC3E}"/>
              </a:ext>
            </a:extLst>
          </p:cNvPr>
          <p:cNvSpPr txBox="1"/>
          <p:nvPr/>
        </p:nvSpPr>
        <p:spPr>
          <a:xfrm>
            <a:off x="584132" y="1414437"/>
            <a:ext cx="11009557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CA" sz="2400" b="1" dirty="0">
                <a:solidFill>
                  <a:schemeClr val="accent6"/>
                </a:solidFill>
                <a:latin typeface="Montserrat Medium"/>
              </a:rPr>
              <a:t>Step 1: Internal Alignment</a:t>
            </a:r>
          </a:p>
          <a:p>
            <a:pPr lvl="0"/>
            <a:endParaRPr lang="en-CA" dirty="0">
              <a:solidFill>
                <a:srgbClr val="000000"/>
              </a:solidFill>
              <a:latin typeface="Montserrat Medium"/>
            </a:endParaRPr>
          </a:p>
          <a:p>
            <a:pPr lvl="0"/>
            <a:r>
              <a:rPr lang="en-CA" b="1" dirty="0">
                <a:solidFill>
                  <a:srgbClr val="000000"/>
                </a:solidFill>
                <a:latin typeface="Montserrat Medium"/>
              </a:rPr>
              <a:t>Goal: </a:t>
            </a:r>
            <a:r>
              <a:rPr lang="en-US" sz="1600" dirty="0">
                <a:solidFill>
                  <a:srgbClr val="000000"/>
                </a:solidFill>
                <a:latin typeface="Montserrat Medium"/>
              </a:rPr>
              <a:t>To ensure all internal stakeholders are aligned on partnership goals, scope, responsibilities, timelines, and success metrics before activating the partnership.</a:t>
            </a:r>
          </a:p>
          <a:p>
            <a:pPr lvl="0"/>
            <a:endParaRPr lang="en-CA" b="1" dirty="0">
              <a:solidFill>
                <a:srgbClr val="000000"/>
              </a:solidFill>
              <a:latin typeface="Montserrat Medium"/>
            </a:endParaRPr>
          </a:p>
          <a:p>
            <a:pPr lvl="0"/>
            <a:r>
              <a:rPr lang="en-CA" b="1" dirty="0">
                <a:solidFill>
                  <a:srgbClr val="000000"/>
                </a:solidFill>
                <a:latin typeface="Montserrat Medium"/>
              </a:rPr>
              <a:t>Process: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Share news of confirmed partnership in Green Key Dream Team channel &amp; update </a:t>
            </a:r>
            <a:r>
              <a:rPr lang="en-US" sz="1600" dirty="0" err="1">
                <a:solidFill>
                  <a:srgbClr val="000000"/>
                </a:solidFill>
                <a:latin typeface="Montserrat Medium"/>
              </a:rPr>
              <a:t>Hubspot</a:t>
            </a:r>
            <a:endParaRPr lang="en-US" sz="1600" dirty="0">
              <a:solidFill>
                <a:srgbClr val="000000"/>
              </a:solidFill>
              <a:latin typeface="Montserrat Medium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Host internal kick-off meeting with, Operations, Marketing and Member Services.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Summarize finalized partnership terms, objectives, and commitments.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Identify internal roles required to service ongoing partnership and clarify responsibilities across departments.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Align on key milestones, launch timing, and critical dependencies.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Following the meeting, Account Manager finalizes the Partnership Project Plan and shares it with all internal stakeholders.</a:t>
            </a:r>
          </a:p>
          <a:p>
            <a:pPr lvl="0"/>
            <a:endParaRPr lang="en-CA" b="1" dirty="0">
              <a:solidFill>
                <a:srgbClr val="000000"/>
              </a:solidFill>
              <a:latin typeface="Montserrat Medium"/>
            </a:endParaRPr>
          </a:p>
          <a:p>
            <a:pPr lvl="0"/>
            <a:r>
              <a:rPr lang="en-CA" b="1" dirty="0">
                <a:solidFill>
                  <a:srgbClr val="000000"/>
                </a:solidFill>
                <a:latin typeface="Montserrat Medium"/>
              </a:rPr>
              <a:t>Supporting Resources: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solidFill>
                  <a:schemeClr val="accent3"/>
                </a:solidFill>
                <a:latin typeface="Montserrat Medium"/>
              </a:rPr>
              <a:t>Partnership Development Project Plan (Excel) – IN PROCESS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CA" b="1" dirty="0">
              <a:solidFill>
                <a:srgbClr val="000000"/>
              </a:solidFill>
              <a:latin typeface="Montserrat Medium"/>
            </a:endParaRPr>
          </a:p>
          <a:p>
            <a:pPr marL="342900" lvl="0" indent="-342900">
              <a:buFont typeface="+mj-lt"/>
              <a:buAutoNum type="arabicPeriod"/>
            </a:pPr>
            <a:endParaRPr lang="en-US" b="1" dirty="0">
              <a:solidFill>
                <a:srgbClr val="000000"/>
              </a:solidFill>
              <a:latin typeface="Montserrat Medium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65FB7B0-C708-B81A-A4AC-593AAA90A091}"/>
              </a:ext>
            </a:extLst>
          </p:cNvPr>
          <p:cNvGrpSpPr/>
          <p:nvPr/>
        </p:nvGrpSpPr>
        <p:grpSpPr>
          <a:xfrm>
            <a:off x="9658860" y="5705286"/>
            <a:ext cx="2180552" cy="848997"/>
            <a:chOff x="9413137" y="5596839"/>
            <a:chExt cx="2180552" cy="848997"/>
          </a:xfrm>
        </p:grpSpPr>
        <p:pic>
          <p:nvPicPr>
            <p:cNvPr id="8" name="Graphic 7" descr="Call center with solid fill">
              <a:extLst>
                <a:ext uri="{FF2B5EF4-FFF2-40B4-BE49-F238E27FC236}">
                  <a16:creationId xmlns:a16="http://schemas.microsoft.com/office/drawing/2014/main" id="{6AE2CEDF-1C04-3587-7995-03BDCC92ED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13137" y="5596839"/>
              <a:ext cx="725754" cy="72575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2C0740A-BFAD-616D-FEF3-CF593C3C6DBF}"/>
                </a:ext>
              </a:extLst>
            </p:cNvPr>
            <p:cNvSpPr txBox="1"/>
            <p:nvPr/>
          </p:nvSpPr>
          <p:spPr>
            <a:xfrm>
              <a:off x="10138891" y="5707172"/>
              <a:ext cx="145479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accent3"/>
                  </a:solidFill>
                  <a:latin typeface="Montserrat Medium" panose="00000600000000000000" pitchFamily="2" charset="0"/>
                </a:rPr>
                <a:t>Director with Account Manager</a:t>
              </a:r>
              <a:endParaRPr lang="en-CA" sz="1400" dirty="0">
                <a:solidFill>
                  <a:schemeClr val="accent3"/>
                </a:solidFill>
                <a:latin typeface="Montserrat Medium" panose="00000600000000000000" pitchFamily="2" charset="0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78B1C135-6159-884C-4D99-D9E4EBE1D992}"/>
              </a:ext>
            </a:extLst>
          </p:cNvPr>
          <p:cNvSpPr txBox="1"/>
          <p:nvPr/>
        </p:nvSpPr>
        <p:spPr>
          <a:xfrm>
            <a:off x="9897908" y="5470508"/>
            <a:ext cx="1454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accent3"/>
                </a:solidFill>
                <a:latin typeface="Montserrat Medium" panose="00000600000000000000" pitchFamily="2" charset="0"/>
              </a:rPr>
              <a:t>Responsible:</a:t>
            </a:r>
            <a:endParaRPr lang="en-CA" sz="1400" i="1" dirty="0">
              <a:solidFill>
                <a:schemeClr val="accent3"/>
              </a:solidFill>
              <a:latin typeface="Montserrat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60391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2F7B5-8272-DBF7-980C-BDC08C8DE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1A2804-3D68-45A3-209D-7ACBA3471F52}"/>
              </a:ext>
            </a:extLst>
          </p:cNvPr>
          <p:cNvSpPr txBox="1"/>
          <p:nvPr/>
        </p:nvSpPr>
        <p:spPr>
          <a:xfrm>
            <a:off x="958111" y="504782"/>
            <a:ext cx="10275779" cy="7078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34" tIns="45717" rIns="91434" bIns="45717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619" algn="ctr">
              <a:spcBef>
                <a:spcPts val="61"/>
              </a:spcBef>
              <a:tabLst>
                <a:tab pos="639177" algn="l"/>
                <a:tab pos="2160879" algn="l"/>
                <a:tab pos="2880915" algn="l"/>
                <a:tab pos="6521911" algn="l"/>
              </a:tabLst>
            </a:pPr>
            <a:r>
              <a:rPr lang="en-US" sz="4000" b="1" dirty="0">
                <a:ln w="0"/>
                <a:gradFill flip="none">
                  <a:gsLst>
                    <a:gs pos="0">
                      <a:srgbClr val="009548"/>
                    </a:gs>
                    <a:gs pos="52000">
                      <a:srgbClr val="8CC642"/>
                    </a:gs>
                    <a:gs pos="100000">
                      <a:srgbClr val="C0CF3A"/>
                    </a:gs>
                  </a:gsLst>
                  <a:lin ang="0" scaled="1"/>
                  <a:tileRect/>
                </a:gradFill>
                <a:latin typeface="Montserrat"/>
              </a:rPr>
              <a:t>ONBOARDING &amp; INITIATION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59F879-3A46-4568-16D8-7AE5C288C469}"/>
              </a:ext>
            </a:extLst>
          </p:cNvPr>
          <p:cNvSpPr txBox="1"/>
          <p:nvPr/>
        </p:nvSpPr>
        <p:spPr>
          <a:xfrm>
            <a:off x="584132" y="1414437"/>
            <a:ext cx="1100955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CA" sz="2400" b="1" dirty="0">
                <a:solidFill>
                  <a:schemeClr val="accent6"/>
                </a:solidFill>
                <a:latin typeface="Montserrat Medium"/>
              </a:rPr>
              <a:t>Step 2: Operational Set Up</a:t>
            </a:r>
          </a:p>
          <a:p>
            <a:pPr lvl="0"/>
            <a:endParaRPr lang="en-CA" dirty="0">
              <a:solidFill>
                <a:srgbClr val="000000"/>
              </a:solidFill>
              <a:latin typeface="Montserrat Medium"/>
            </a:endParaRPr>
          </a:p>
          <a:p>
            <a:pPr lvl="0"/>
            <a:r>
              <a:rPr lang="en-CA" b="1" dirty="0">
                <a:solidFill>
                  <a:srgbClr val="000000"/>
                </a:solidFill>
                <a:latin typeface="Montserrat Medium"/>
              </a:rPr>
              <a:t>Goal: </a:t>
            </a:r>
            <a:r>
              <a:rPr lang="en-US" sz="1600" dirty="0">
                <a:solidFill>
                  <a:srgbClr val="000000"/>
                </a:solidFill>
                <a:latin typeface="Montserrat Medium"/>
              </a:rPr>
              <a:t>To configure internal systems, processes, and operational requirements needed to deliver the partnership effectively and at scale.</a:t>
            </a:r>
          </a:p>
          <a:p>
            <a:pPr lvl="0"/>
            <a:endParaRPr lang="en-CA" b="1" dirty="0">
              <a:solidFill>
                <a:srgbClr val="000000"/>
              </a:solidFill>
              <a:latin typeface="Montserrat Medium"/>
            </a:endParaRPr>
          </a:p>
          <a:p>
            <a:pPr lvl="0"/>
            <a:r>
              <a:rPr lang="en-CA" b="1" dirty="0">
                <a:solidFill>
                  <a:srgbClr val="000000"/>
                </a:solidFill>
                <a:latin typeface="Montserrat Medium"/>
              </a:rPr>
              <a:t>Process: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Update MSA &amp; MOU </a:t>
            </a:r>
            <a:r>
              <a:rPr lang="en-US" sz="1600" dirty="0" err="1">
                <a:solidFill>
                  <a:srgbClr val="000000"/>
                </a:solidFill>
                <a:latin typeface="Montserrat Medium"/>
              </a:rPr>
              <a:t>Masterlist</a:t>
            </a:r>
            <a:r>
              <a:rPr lang="en-US" sz="1600" dirty="0">
                <a:solidFill>
                  <a:srgbClr val="000000"/>
                </a:solidFill>
                <a:latin typeface="Montserrat Medium"/>
              </a:rPr>
              <a:t> in SharePoint.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Set up partner records in internal systems (finance, GK Admin).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Set up Promo Codes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Establish operational workflows for onboarding properties into the certification program.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Configure billing, invoicing, and reporting processes according to agreement.</a:t>
            </a:r>
          </a:p>
          <a:p>
            <a:pPr lvl="0"/>
            <a:endParaRPr lang="en-CA" b="1" dirty="0">
              <a:solidFill>
                <a:srgbClr val="000000"/>
              </a:solidFill>
              <a:latin typeface="Montserrat Medium"/>
            </a:endParaRPr>
          </a:p>
          <a:p>
            <a:pPr lvl="0"/>
            <a:r>
              <a:rPr lang="en-CA" b="1" dirty="0">
                <a:solidFill>
                  <a:srgbClr val="000000"/>
                </a:solidFill>
                <a:latin typeface="Montserrat Medium"/>
              </a:rPr>
              <a:t>Supporting Resources: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solidFill>
                  <a:schemeClr val="accent3"/>
                </a:solidFill>
                <a:latin typeface="Montserrat Medium"/>
              </a:rPr>
              <a:t>Partner Onboarding Checklist (Word)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CA" b="1" dirty="0">
              <a:solidFill>
                <a:srgbClr val="000000"/>
              </a:solidFill>
              <a:latin typeface="Montserrat Medium"/>
            </a:endParaRPr>
          </a:p>
          <a:p>
            <a:pPr marL="342900" lvl="0" indent="-342900">
              <a:buFont typeface="+mj-lt"/>
              <a:buAutoNum type="arabicPeriod"/>
            </a:pPr>
            <a:endParaRPr lang="en-US" b="1" dirty="0">
              <a:solidFill>
                <a:srgbClr val="000000"/>
              </a:solidFill>
              <a:latin typeface="Montserrat Medium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001C7A2-D7CC-C960-55D3-D06B78539258}"/>
              </a:ext>
            </a:extLst>
          </p:cNvPr>
          <p:cNvGrpSpPr/>
          <p:nvPr/>
        </p:nvGrpSpPr>
        <p:grpSpPr>
          <a:xfrm>
            <a:off x="9427316" y="5654540"/>
            <a:ext cx="2180552" cy="725754"/>
            <a:chOff x="9700026" y="5069397"/>
            <a:chExt cx="2180552" cy="725754"/>
          </a:xfrm>
        </p:grpSpPr>
        <p:pic>
          <p:nvPicPr>
            <p:cNvPr id="8" name="Graphic 7" descr="Male profile with solid fill">
              <a:extLst>
                <a:ext uri="{FF2B5EF4-FFF2-40B4-BE49-F238E27FC236}">
                  <a16:creationId xmlns:a16="http://schemas.microsoft.com/office/drawing/2014/main" id="{8A4A91AA-A75B-08C8-C0DC-A8DEC3A7F3F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700026" y="5069397"/>
              <a:ext cx="725754" cy="72575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66E71A0-B343-5F37-BF3E-B822E0D58AC1}"/>
                </a:ext>
              </a:extLst>
            </p:cNvPr>
            <p:cNvSpPr txBox="1"/>
            <p:nvPr/>
          </p:nvSpPr>
          <p:spPr>
            <a:xfrm>
              <a:off x="10425780" y="5161598"/>
              <a:ext cx="145479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accent3"/>
                  </a:solidFill>
                  <a:latin typeface="Montserrat Medium" panose="00000600000000000000" pitchFamily="2" charset="0"/>
                </a:rPr>
                <a:t>Account Manager</a:t>
              </a:r>
              <a:endParaRPr lang="en-CA" sz="1400" dirty="0">
                <a:solidFill>
                  <a:schemeClr val="accent3"/>
                </a:solidFill>
                <a:latin typeface="Montserrat Medium" panose="00000600000000000000" pitchFamily="2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92B950B-F6CD-2785-6961-63385B42887B}"/>
              </a:ext>
            </a:extLst>
          </p:cNvPr>
          <p:cNvSpPr txBox="1"/>
          <p:nvPr/>
        </p:nvSpPr>
        <p:spPr>
          <a:xfrm>
            <a:off x="9779092" y="5391077"/>
            <a:ext cx="1454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accent3"/>
                </a:solidFill>
                <a:latin typeface="Montserrat Medium" panose="00000600000000000000" pitchFamily="2" charset="0"/>
              </a:rPr>
              <a:t>Responsible:</a:t>
            </a:r>
            <a:endParaRPr lang="en-CA" sz="1400" i="1" dirty="0">
              <a:solidFill>
                <a:schemeClr val="accent3"/>
              </a:solidFill>
              <a:latin typeface="Montserrat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466594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2EA7B-2503-A5B9-8A39-9B26CB6E1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AE0A73-3D05-977F-E839-C7790856E611}"/>
              </a:ext>
            </a:extLst>
          </p:cNvPr>
          <p:cNvSpPr txBox="1"/>
          <p:nvPr/>
        </p:nvSpPr>
        <p:spPr>
          <a:xfrm>
            <a:off x="584132" y="1414437"/>
            <a:ext cx="11009557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CA" sz="2400" b="1" dirty="0">
                <a:solidFill>
                  <a:schemeClr val="accent6"/>
                </a:solidFill>
                <a:latin typeface="Montserrat Medium"/>
              </a:rPr>
              <a:t>Step 3: Account Management Transition</a:t>
            </a:r>
          </a:p>
          <a:p>
            <a:pPr lvl="0"/>
            <a:endParaRPr lang="en-CA" dirty="0">
              <a:solidFill>
                <a:srgbClr val="000000"/>
              </a:solidFill>
              <a:latin typeface="Montserrat Medium"/>
            </a:endParaRPr>
          </a:p>
          <a:p>
            <a:pPr lvl="0"/>
            <a:r>
              <a:rPr lang="en-CA" b="1" dirty="0">
                <a:solidFill>
                  <a:srgbClr val="000000"/>
                </a:solidFill>
                <a:latin typeface="Montserrat Medium"/>
              </a:rPr>
              <a:t>Goal: </a:t>
            </a:r>
            <a:r>
              <a:rPr lang="en-US" sz="1600" dirty="0">
                <a:solidFill>
                  <a:srgbClr val="000000"/>
                </a:solidFill>
                <a:latin typeface="Montserrat Medium"/>
              </a:rPr>
              <a:t>Ensure seamless transfer from Market Development to Account Management.</a:t>
            </a:r>
            <a:br>
              <a:rPr lang="en-US" sz="1600" dirty="0">
                <a:solidFill>
                  <a:srgbClr val="000000"/>
                </a:solidFill>
                <a:latin typeface="Montserrat Medium"/>
              </a:rPr>
            </a:br>
            <a:endParaRPr lang="en-CA" b="1" dirty="0">
              <a:solidFill>
                <a:srgbClr val="000000"/>
              </a:solidFill>
              <a:latin typeface="Montserrat Medium"/>
            </a:endParaRPr>
          </a:p>
          <a:p>
            <a:pPr lvl="0"/>
            <a:r>
              <a:rPr lang="en-CA" b="1" dirty="0">
                <a:solidFill>
                  <a:srgbClr val="000000"/>
                </a:solidFill>
                <a:latin typeface="Montserrat Medium"/>
              </a:rPr>
              <a:t>Process: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Review agreement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Review pricing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Review commitments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Introduce Account Manager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Confirm partner contacts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Confirm implementation timeline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Transfer ownership in HubSpot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Schedule kickoff</a:t>
            </a:r>
            <a:br>
              <a:rPr lang="en-US" sz="1600" dirty="0">
                <a:solidFill>
                  <a:srgbClr val="000000"/>
                </a:solidFill>
                <a:latin typeface="Montserrat Medium"/>
              </a:rPr>
            </a:br>
            <a:endParaRPr lang="en-CA" b="1" dirty="0">
              <a:solidFill>
                <a:srgbClr val="000000"/>
              </a:solidFill>
              <a:latin typeface="Montserrat Medium"/>
            </a:endParaRPr>
          </a:p>
          <a:p>
            <a:pPr lvl="0"/>
            <a:r>
              <a:rPr lang="en-CA" b="1" dirty="0">
                <a:solidFill>
                  <a:srgbClr val="000000"/>
                </a:solidFill>
                <a:latin typeface="Montserrat Medium"/>
              </a:rPr>
              <a:t>Supporting Resources: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CA" b="1" dirty="0">
              <a:solidFill>
                <a:srgbClr val="000000"/>
              </a:solidFill>
              <a:latin typeface="Montserrat Medium"/>
            </a:endParaRPr>
          </a:p>
          <a:p>
            <a:pPr marL="342900" lvl="0" indent="-342900">
              <a:buFont typeface="+mj-lt"/>
              <a:buAutoNum type="arabicPeriod"/>
            </a:pPr>
            <a:endParaRPr lang="en-US" b="1" dirty="0">
              <a:solidFill>
                <a:srgbClr val="000000"/>
              </a:solidFill>
              <a:latin typeface="Montserrat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478A4D-9CE7-4A2D-64AE-1DEFB27276F8}"/>
              </a:ext>
            </a:extLst>
          </p:cNvPr>
          <p:cNvSpPr txBox="1"/>
          <p:nvPr/>
        </p:nvSpPr>
        <p:spPr>
          <a:xfrm>
            <a:off x="958111" y="504782"/>
            <a:ext cx="10275779" cy="7078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34" tIns="45717" rIns="91434" bIns="45717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619" algn="ctr">
              <a:spcBef>
                <a:spcPts val="61"/>
              </a:spcBef>
              <a:tabLst>
                <a:tab pos="639177" algn="l"/>
                <a:tab pos="2160879" algn="l"/>
                <a:tab pos="2880915" algn="l"/>
                <a:tab pos="6521911" algn="l"/>
              </a:tabLst>
            </a:pPr>
            <a:r>
              <a:rPr lang="en-US" sz="4000" b="1" dirty="0">
                <a:ln w="0"/>
                <a:gradFill flip="none">
                  <a:gsLst>
                    <a:gs pos="0">
                      <a:srgbClr val="009548"/>
                    </a:gs>
                    <a:gs pos="52000">
                      <a:srgbClr val="8CC642"/>
                    </a:gs>
                    <a:gs pos="100000">
                      <a:srgbClr val="C0CF3A"/>
                    </a:gs>
                  </a:gsLst>
                  <a:lin ang="0" scaled="1"/>
                  <a:tileRect/>
                </a:gradFill>
                <a:latin typeface="Montserrat"/>
              </a:rPr>
              <a:t>ONBOARDING &amp; INITIATION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6E6697C-56A5-1EAF-4EBC-90363ABAC1A5}"/>
              </a:ext>
            </a:extLst>
          </p:cNvPr>
          <p:cNvGrpSpPr/>
          <p:nvPr/>
        </p:nvGrpSpPr>
        <p:grpSpPr>
          <a:xfrm>
            <a:off x="9658860" y="5705286"/>
            <a:ext cx="2180552" cy="848997"/>
            <a:chOff x="9413137" y="5596839"/>
            <a:chExt cx="2180552" cy="848997"/>
          </a:xfrm>
        </p:grpSpPr>
        <p:pic>
          <p:nvPicPr>
            <p:cNvPr id="8" name="Graphic 7" descr="Call center with solid fill">
              <a:extLst>
                <a:ext uri="{FF2B5EF4-FFF2-40B4-BE49-F238E27FC236}">
                  <a16:creationId xmlns:a16="http://schemas.microsoft.com/office/drawing/2014/main" id="{9A549F11-6FB9-AB16-7B2F-2426DBD62AD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13137" y="5596839"/>
              <a:ext cx="725754" cy="72575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A00557E-76BA-E5D8-9C71-25C0270E05DA}"/>
                </a:ext>
              </a:extLst>
            </p:cNvPr>
            <p:cNvSpPr txBox="1"/>
            <p:nvPr/>
          </p:nvSpPr>
          <p:spPr>
            <a:xfrm>
              <a:off x="10138891" y="5707172"/>
              <a:ext cx="145479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accent3"/>
                  </a:solidFill>
                  <a:latin typeface="Montserrat Medium" panose="00000600000000000000" pitchFamily="2" charset="0"/>
                </a:rPr>
                <a:t>Account Manager &amp; Dir/BDR</a:t>
              </a:r>
              <a:endParaRPr lang="en-CA" sz="1400" dirty="0">
                <a:solidFill>
                  <a:schemeClr val="accent3"/>
                </a:solidFill>
                <a:latin typeface="Montserrat Medium" panose="00000600000000000000" pitchFamily="2" charset="0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B362BC3-C8E6-2E01-AF25-203AF4EE075F}"/>
              </a:ext>
            </a:extLst>
          </p:cNvPr>
          <p:cNvSpPr txBox="1"/>
          <p:nvPr/>
        </p:nvSpPr>
        <p:spPr>
          <a:xfrm>
            <a:off x="9897908" y="5470508"/>
            <a:ext cx="1454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accent3"/>
                </a:solidFill>
                <a:latin typeface="Montserrat Medium" panose="00000600000000000000" pitchFamily="2" charset="0"/>
              </a:rPr>
              <a:t>Responsible:</a:t>
            </a:r>
            <a:endParaRPr lang="en-CA" sz="1400" i="1" dirty="0">
              <a:solidFill>
                <a:schemeClr val="accent3"/>
              </a:solidFill>
              <a:latin typeface="Montserrat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3251857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B8EF4-FA06-E9C1-00F6-8E12F36CC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1A0567-0E6E-1666-D1D9-DBAC0C9E31C0}"/>
              </a:ext>
            </a:extLst>
          </p:cNvPr>
          <p:cNvSpPr txBox="1"/>
          <p:nvPr/>
        </p:nvSpPr>
        <p:spPr>
          <a:xfrm>
            <a:off x="584132" y="1414437"/>
            <a:ext cx="11009557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CA" sz="2400" b="1" dirty="0">
                <a:solidFill>
                  <a:schemeClr val="accent6"/>
                </a:solidFill>
                <a:latin typeface="Montserrat Medium"/>
              </a:rPr>
              <a:t>Step 4: Partnership Activation Meeting</a:t>
            </a:r>
          </a:p>
          <a:p>
            <a:pPr lvl="0"/>
            <a:endParaRPr lang="en-CA" dirty="0">
              <a:solidFill>
                <a:srgbClr val="000000"/>
              </a:solidFill>
              <a:latin typeface="Montserrat Medium"/>
            </a:endParaRPr>
          </a:p>
          <a:p>
            <a:pPr lvl="0"/>
            <a:r>
              <a:rPr lang="en-CA" b="1" dirty="0">
                <a:solidFill>
                  <a:srgbClr val="000000"/>
                </a:solidFill>
                <a:latin typeface="Montserrat Medium"/>
              </a:rPr>
              <a:t>Goal: </a:t>
            </a:r>
            <a:r>
              <a:rPr lang="en-US" sz="1600" dirty="0">
                <a:solidFill>
                  <a:srgbClr val="000000"/>
                </a:solidFill>
                <a:latin typeface="Montserrat Medium"/>
              </a:rPr>
              <a:t>To formally kick off the partnership with the partner’s team, align on objectives and expectations, and confirm the execution plan for the first year.</a:t>
            </a:r>
          </a:p>
          <a:p>
            <a:pPr lvl="0"/>
            <a:endParaRPr lang="en-CA" b="1" dirty="0">
              <a:solidFill>
                <a:srgbClr val="000000"/>
              </a:solidFill>
              <a:latin typeface="Montserrat Medium"/>
            </a:endParaRPr>
          </a:p>
          <a:p>
            <a:pPr lvl="0"/>
            <a:r>
              <a:rPr lang="en-CA" b="1" dirty="0">
                <a:solidFill>
                  <a:srgbClr val="000000"/>
                </a:solidFill>
                <a:latin typeface="Montserrat Medium"/>
              </a:rPr>
              <a:t>Process: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Host a partnership activation meeting with key stakeholders from both organizations. On GK side, attendees must include Account Manager and someone from marketing.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Review partnership objectives, targets, and success metrics.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Walk through the implementation plan, including timelines and responsibilities.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Confirm ongoing engagement model (meeting cadence, reporting, points of contact).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Review year‑one engagement plan (certification rollout, communications, initiatives).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Align on operational details (discount codes, data requirements, invoicing, support).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Confirm next steps and immediate priorities post‑kickoff.</a:t>
            </a:r>
          </a:p>
          <a:p>
            <a:pPr lvl="0"/>
            <a:endParaRPr lang="en-CA" b="1" dirty="0">
              <a:solidFill>
                <a:srgbClr val="000000"/>
              </a:solidFill>
              <a:latin typeface="Montserrat Medium"/>
            </a:endParaRPr>
          </a:p>
          <a:p>
            <a:pPr lvl="0"/>
            <a:r>
              <a:rPr lang="en-CA" b="1" dirty="0">
                <a:solidFill>
                  <a:srgbClr val="000000"/>
                </a:solidFill>
                <a:latin typeface="Montserrat Medium"/>
              </a:rPr>
              <a:t>Supporting Resources: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solidFill>
                  <a:schemeClr val="accent3"/>
                </a:solidFill>
                <a:latin typeface="Montserrat Medium"/>
              </a:rPr>
              <a:t>Partnership Activation Deck (PowerPoint)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CA" b="1" dirty="0">
              <a:solidFill>
                <a:srgbClr val="000000"/>
              </a:solidFill>
              <a:latin typeface="Montserrat Medium"/>
            </a:endParaRPr>
          </a:p>
          <a:p>
            <a:pPr marL="342900" lvl="0" indent="-342900">
              <a:buFont typeface="+mj-lt"/>
              <a:buAutoNum type="arabicPeriod"/>
            </a:pPr>
            <a:endParaRPr lang="en-US" b="1" dirty="0">
              <a:solidFill>
                <a:srgbClr val="000000"/>
              </a:solidFill>
              <a:latin typeface="Montserrat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42DD43-1288-2B83-233E-0EC3EE07E5A8}"/>
              </a:ext>
            </a:extLst>
          </p:cNvPr>
          <p:cNvSpPr txBox="1"/>
          <p:nvPr/>
        </p:nvSpPr>
        <p:spPr>
          <a:xfrm>
            <a:off x="958111" y="504782"/>
            <a:ext cx="10275779" cy="7078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34" tIns="45717" rIns="91434" bIns="45717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619" algn="ctr">
              <a:spcBef>
                <a:spcPts val="61"/>
              </a:spcBef>
              <a:tabLst>
                <a:tab pos="639177" algn="l"/>
                <a:tab pos="2160879" algn="l"/>
                <a:tab pos="2880915" algn="l"/>
                <a:tab pos="6521911" algn="l"/>
              </a:tabLst>
            </a:pPr>
            <a:r>
              <a:rPr lang="en-US" sz="4000" b="1" dirty="0">
                <a:ln w="0"/>
                <a:gradFill flip="none">
                  <a:gsLst>
                    <a:gs pos="0">
                      <a:srgbClr val="009548"/>
                    </a:gs>
                    <a:gs pos="52000">
                      <a:srgbClr val="8CC642"/>
                    </a:gs>
                    <a:gs pos="100000">
                      <a:srgbClr val="C0CF3A"/>
                    </a:gs>
                  </a:gsLst>
                  <a:lin ang="0" scaled="1"/>
                  <a:tileRect/>
                </a:gradFill>
                <a:latin typeface="Montserrat"/>
              </a:rPr>
              <a:t>ONBOARDING &amp; INITIATION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D8852A3-CB98-E4D4-ADD2-488B7CE673CC}"/>
              </a:ext>
            </a:extLst>
          </p:cNvPr>
          <p:cNvGrpSpPr/>
          <p:nvPr/>
        </p:nvGrpSpPr>
        <p:grpSpPr>
          <a:xfrm>
            <a:off x="9658860" y="5705286"/>
            <a:ext cx="2180552" cy="848997"/>
            <a:chOff x="9413137" y="5596839"/>
            <a:chExt cx="2180552" cy="848997"/>
          </a:xfrm>
        </p:grpSpPr>
        <p:pic>
          <p:nvPicPr>
            <p:cNvPr id="8" name="Graphic 7" descr="Call center with solid fill">
              <a:extLst>
                <a:ext uri="{FF2B5EF4-FFF2-40B4-BE49-F238E27FC236}">
                  <a16:creationId xmlns:a16="http://schemas.microsoft.com/office/drawing/2014/main" id="{9E3E07F5-497B-6DF6-EFDE-263E3B8BDAC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13137" y="5596839"/>
              <a:ext cx="725754" cy="72575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3121A33-C05D-A0AB-8D62-7A0290A7E04A}"/>
                </a:ext>
              </a:extLst>
            </p:cNvPr>
            <p:cNvSpPr txBox="1"/>
            <p:nvPr/>
          </p:nvSpPr>
          <p:spPr>
            <a:xfrm>
              <a:off x="10138891" y="5707172"/>
              <a:ext cx="145479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accent3"/>
                  </a:solidFill>
                  <a:latin typeface="Montserrat Medium" panose="00000600000000000000" pitchFamily="2" charset="0"/>
                </a:rPr>
                <a:t>Account Manager &amp; Dir/BDR</a:t>
              </a:r>
              <a:endParaRPr lang="en-CA" sz="1400" dirty="0">
                <a:solidFill>
                  <a:schemeClr val="accent3"/>
                </a:solidFill>
                <a:latin typeface="Montserrat Medium" panose="00000600000000000000" pitchFamily="2" charset="0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E9754C2-C224-768B-7196-314EDFA84352}"/>
              </a:ext>
            </a:extLst>
          </p:cNvPr>
          <p:cNvSpPr txBox="1"/>
          <p:nvPr/>
        </p:nvSpPr>
        <p:spPr>
          <a:xfrm>
            <a:off x="9897908" y="5470508"/>
            <a:ext cx="1454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accent3"/>
                </a:solidFill>
                <a:latin typeface="Montserrat Medium" panose="00000600000000000000" pitchFamily="2" charset="0"/>
              </a:rPr>
              <a:t>Responsible:</a:t>
            </a:r>
            <a:endParaRPr lang="en-CA" sz="1400" i="1" dirty="0">
              <a:solidFill>
                <a:schemeClr val="accent3"/>
              </a:solidFill>
              <a:latin typeface="Montserrat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8018698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E8DB0-4E04-D7E2-DBD6-A3A6908F4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760E9E-50D9-910A-3CAA-AEFD443326D4}"/>
              </a:ext>
            </a:extLst>
          </p:cNvPr>
          <p:cNvSpPr txBox="1"/>
          <p:nvPr/>
        </p:nvSpPr>
        <p:spPr>
          <a:xfrm>
            <a:off x="958111" y="504782"/>
            <a:ext cx="10275779" cy="7078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34" tIns="45717" rIns="91434" bIns="45717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619" algn="ctr">
              <a:spcBef>
                <a:spcPts val="61"/>
              </a:spcBef>
              <a:tabLst>
                <a:tab pos="639177" algn="l"/>
                <a:tab pos="2160879" algn="l"/>
                <a:tab pos="2880915" algn="l"/>
                <a:tab pos="6521911" algn="l"/>
              </a:tabLst>
            </a:pPr>
            <a:r>
              <a:rPr lang="en-US" sz="4000" b="1" dirty="0">
                <a:ln w="0"/>
                <a:gradFill flip="none">
                  <a:gsLst>
                    <a:gs pos="0">
                      <a:srgbClr val="009548"/>
                    </a:gs>
                    <a:gs pos="52000">
                      <a:srgbClr val="8CC642"/>
                    </a:gs>
                    <a:gs pos="100000">
                      <a:srgbClr val="C0CF3A"/>
                    </a:gs>
                  </a:gsLst>
                  <a:lin ang="0" scaled="1"/>
                  <a:tileRect/>
                </a:gradFill>
                <a:latin typeface="Montserrat"/>
              </a:rPr>
              <a:t>ONBOARDING &amp; INITIATION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A9319D-59C4-43E2-A18B-C0D287160FF5}"/>
              </a:ext>
            </a:extLst>
          </p:cNvPr>
          <p:cNvSpPr txBox="1"/>
          <p:nvPr/>
        </p:nvSpPr>
        <p:spPr>
          <a:xfrm>
            <a:off x="584132" y="1414437"/>
            <a:ext cx="11009557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CA" sz="2400" b="1" dirty="0">
                <a:solidFill>
                  <a:schemeClr val="accent6"/>
                </a:solidFill>
                <a:latin typeface="Montserrat Medium"/>
              </a:rPr>
              <a:t>Step 5: Marketing Launch</a:t>
            </a:r>
          </a:p>
          <a:p>
            <a:pPr lvl="0"/>
            <a:endParaRPr lang="en-CA" dirty="0">
              <a:solidFill>
                <a:srgbClr val="000000"/>
              </a:solidFill>
              <a:latin typeface="Montserrat Medium"/>
            </a:endParaRPr>
          </a:p>
          <a:p>
            <a:pPr lvl="0"/>
            <a:r>
              <a:rPr lang="en-CA" b="1" dirty="0">
                <a:solidFill>
                  <a:srgbClr val="000000"/>
                </a:solidFill>
                <a:latin typeface="Montserrat Medium"/>
              </a:rPr>
              <a:t>Goal: </a:t>
            </a:r>
            <a:r>
              <a:rPr lang="en-US" sz="1600" dirty="0">
                <a:solidFill>
                  <a:srgbClr val="000000"/>
                </a:solidFill>
                <a:latin typeface="Montserrat Medium"/>
              </a:rPr>
              <a:t>To publicly launch the partnership in a way that supports partner objectives, elevates credibility, and drives awareness and participation.</a:t>
            </a:r>
          </a:p>
          <a:p>
            <a:pPr lvl="0"/>
            <a:endParaRPr lang="en-CA" b="1" dirty="0">
              <a:solidFill>
                <a:srgbClr val="000000"/>
              </a:solidFill>
              <a:latin typeface="Montserrat Medium"/>
            </a:endParaRPr>
          </a:p>
          <a:p>
            <a:pPr lvl="0"/>
            <a:r>
              <a:rPr lang="en-CA" b="1" dirty="0">
                <a:solidFill>
                  <a:srgbClr val="000000"/>
                </a:solidFill>
                <a:latin typeface="Montserrat Medium"/>
              </a:rPr>
              <a:t>Process: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Develop a partnership launch marketing plan aligned with both organizations’ goals.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Define communications objectives for pre‑launch, launch, and post‑launch phases.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Align on key messages, proof points, and approved language.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Confirm channels and tactics (PR, website, social, email, events, sales collateral).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Coordinate timing and approvals across both organizations.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Execute launch activities and track initial performance.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CA" b="1" dirty="0">
              <a:solidFill>
                <a:srgbClr val="000000"/>
              </a:solidFill>
              <a:latin typeface="Montserrat Medium"/>
            </a:endParaRPr>
          </a:p>
          <a:p>
            <a:pPr lvl="0"/>
            <a:r>
              <a:rPr lang="en-CA" b="1" dirty="0">
                <a:solidFill>
                  <a:srgbClr val="000000"/>
                </a:solidFill>
                <a:latin typeface="Montserrat Medium"/>
              </a:rPr>
              <a:t>Supporting Resources: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solidFill>
                  <a:schemeClr val="accent3"/>
                </a:solidFill>
                <a:latin typeface="Montserrat Medium"/>
              </a:rPr>
              <a:t>Partnership Marketing Plan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solidFill>
                  <a:schemeClr val="accent3"/>
                </a:solidFill>
                <a:latin typeface="Montserrat Medium"/>
              </a:rPr>
              <a:t>Partnership Launch Marketing Calendar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solidFill>
                  <a:schemeClr val="accent3"/>
                </a:solidFill>
                <a:latin typeface="Montserrat Medium"/>
              </a:rPr>
              <a:t>Press Release Template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solidFill>
                  <a:schemeClr val="accent3"/>
                </a:solidFill>
                <a:latin typeface="Montserrat Medium"/>
              </a:rPr>
              <a:t>Social post &amp; website content templates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DDD3296-4A18-A957-B841-36D1E3CF2768}"/>
              </a:ext>
            </a:extLst>
          </p:cNvPr>
          <p:cNvGrpSpPr/>
          <p:nvPr/>
        </p:nvGrpSpPr>
        <p:grpSpPr>
          <a:xfrm>
            <a:off x="9588235" y="5654540"/>
            <a:ext cx="2180552" cy="725754"/>
            <a:chOff x="9700026" y="5069397"/>
            <a:chExt cx="2180552" cy="725754"/>
          </a:xfrm>
        </p:grpSpPr>
        <p:pic>
          <p:nvPicPr>
            <p:cNvPr id="8" name="Graphic 7" descr="Male profile with solid fill">
              <a:extLst>
                <a:ext uri="{FF2B5EF4-FFF2-40B4-BE49-F238E27FC236}">
                  <a16:creationId xmlns:a16="http://schemas.microsoft.com/office/drawing/2014/main" id="{C3334796-F5D3-55FF-77AE-8A13FE1E2B7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700026" y="5069397"/>
              <a:ext cx="725754" cy="72575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DEE3B06-50CD-6B6D-0432-4DF449180CFA}"/>
                </a:ext>
              </a:extLst>
            </p:cNvPr>
            <p:cNvSpPr txBox="1"/>
            <p:nvPr/>
          </p:nvSpPr>
          <p:spPr>
            <a:xfrm>
              <a:off x="10425780" y="5278385"/>
              <a:ext cx="145479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accent3"/>
                  </a:solidFill>
                  <a:latin typeface="Montserrat Medium" panose="00000600000000000000" pitchFamily="2" charset="0"/>
                </a:rPr>
                <a:t>Marketing</a:t>
              </a:r>
              <a:endParaRPr lang="en-CA" sz="1400" dirty="0">
                <a:solidFill>
                  <a:schemeClr val="accent3"/>
                </a:solidFill>
                <a:latin typeface="Montserrat Medium" panose="00000600000000000000" pitchFamily="2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9FFE3B8-FD70-A85C-3949-868E782F9033}"/>
              </a:ext>
            </a:extLst>
          </p:cNvPr>
          <p:cNvSpPr txBox="1"/>
          <p:nvPr/>
        </p:nvSpPr>
        <p:spPr>
          <a:xfrm>
            <a:off x="9779092" y="5391077"/>
            <a:ext cx="1454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accent3"/>
                </a:solidFill>
                <a:latin typeface="Montserrat Medium" panose="00000600000000000000" pitchFamily="2" charset="0"/>
              </a:rPr>
              <a:t>Responsible:</a:t>
            </a:r>
            <a:endParaRPr lang="en-CA" sz="1400" i="1" dirty="0">
              <a:solidFill>
                <a:schemeClr val="accent3"/>
              </a:solidFill>
              <a:latin typeface="Montserrat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5705192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61E6E-A5BE-ACF4-75FB-E62B543F4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51;p1">
            <a:extLst>
              <a:ext uri="{FF2B5EF4-FFF2-40B4-BE49-F238E27FC236}">
                <a16:creationId xmlns:a16="http://schemas.microsoft.com/office/drawing/2014/main" id="{C30DA098-C691-EB71-251C-607F11C6DE7A}"/>
              </a:ext>
            </a:extLst>
          </p:cNvPr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>
            <a:off x="7539583" y="3970953"/>
            <a:ext cx="4165281" cy="310912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1732857-E04B-3567-AC77-DA0846E6C891}"/>
              </a:ext>
            </a:extLst>
          </p:cNvPr>
          <p:cNvSpPr txBox="1"/>
          <p:nvPr/>
        </p:nvSpPr>
        <p:spPr>
          <a:xfrm>
            <a:off x="1026937" y="1399463"/>
            <a:ext cx="10275779" cy="23467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34" tIns="45717" rIns="91434" bIns="45717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619" algn="ctr">
              <a:spcBef>
                <a:spcPts val="61"/>
              </a:spcBef>
              <a:tabLst>
                <a:tab pos="639177" algn="l"/>
                <a:tab pos="2160879" algn="l"/>
                <a:tab pos="2880915" algn="l"/>
                <a:tab pos="6521911" algn="l"/>
              </a:tabLst>
            </a:pPr>
            <a:r>
              <a:rPr lang="en-US" sz="4000" b="1" dirty="0">
                <a:ln w="0"/>
                <a:gradFill flip="none">
                  <a:gsLst>
                    <a:gs pos="0">
                      <a:srgbClr val="009548"/>
                    </a:gs>
                    <a:gs pos="52000">
                      <a:srgbClr val="8CC642"/>
                    </a:gs>
                    <a:gs pos="100000">
                      <a:srgbClr val="C0CF3A"/>
                    </a:gs>
                  </a:gsLst>
                  <a:lin ang="0" scaled="1"/>
                  <a:tileRect/>
                </a:gradFill>
                <a:latin typeface="Montserrat"/>
              </a:rPr>
              <a:t>EXECUTION</a:t>
            </a:r>
          </a:p>
          <a:p>
            <a:pPr marL="7619" algn="ctr">
              <a:spcBef>
                <a:spcPts val="61"/>
              </a:spcBef>
              <a:tabLst>
                <a:tab pos="639177" algn="l"/>
                <a:tab pos="2160879" algn="l"/>
                <a:tab pos="2880915" algn="l"/>
                <a:tab pos="6521911" algn="l"/>
              </a:tabLst>
            </a:pPr>
            <a:r>
              <a:rPr lang="en-US" sz="4000" b="1" dirty="0">
                <a:ln w="0"/>
                <a:gradFill flip="none">
                  <a:gsLst>
                    <a:gs pos="0">
                      <a:srgbClr val="009548"/>
                    </a:gs>
                    <a:gs pos="52000">
                      <a:srgbClr val="8CC642"/>
                    </a:gs>
                    <a:gs pos="100000">
                      <a:srgbClr val="C0CF3A"/>
                    </a:gs>
                  </a:gsLst>
                  <a:lin ang="0" scaled="1"/>
                  <a:tileRect/>
                </a:gradFill>
                <a:latin typeface="Montserrat"/>
              </a:rPr>
              <a:t>PHASE: </a:t>
            </a:r>
          </a:p>
          <a:p>
            <a:pPr marL="7619" algn="ctr">
              <a:spcBef>
                <a:spcPts val="61"/>
              </a:spcBef>
              <a:tabLst>
                <a:tab pos="639177" algn="l"/>
                <a:tab pos="2160879" algn="l"/>
                <a:tab pos="2880915" algn="l"/>
                <a:tab pos="6521911" algn="l"/>
              </a:tabLst>
            </a:pPr>
            <a:endParaRPr lang="en-US" sz="3200" i="1" dirty="0">
              <a:ln w="0"/>
              <a:gradFill flip="none">
                <a:gsLst>
                  <a:gs pos="0">
                    <a:srgbClr val="009548"/>
                  </a:gs>
                  <a:gs pos="52000">
                    <a:srgbClr val="8CC642"/>
                  </a:gs>
                  <a:gs pos="100000">
                    <a:srgbClr val="C0CF3A"/>
                  </a:gs>
                </a:gsLst>
                <a:lin ang="0" scaled="1"/>
                <a:tileRect/>
              </a:gradFill>
              <a:latin typeface="Montserrat"/>
            </a:endParaRPr>
          </a:p>
          <a:p>
            <a:pPr marL="7619" algn="ctr">
              <a:spcBef>
                <a:spcPts val="61"/>
              </a:spcBef>
              <a:tabLst>
                <a:tab pos="639177" algn="l"/>
                <a:tab pos="2160879" algn="l"/>
                <a:tab pos="2880915" algn="l"/>
                <a:tab pos="6521911" algn="l"/>
              </a:tabLst>
            </a:pPr>
            <a:r>
              <a:rPr lang="en-US" sz="3200" i="1" dirty="0">
                <a:ln w="0"/>
                <a:gradFill flip="none">
                  <a:gsLst>
                    <a:gs pos="0">
                      <a:srgbClr val="009548"/>
                    </a:gs>
                    <a:gs pos="52000">
                      <a:srgbClr val="8CC642"/>
                    </a:gs>
                    <a:gs pos="100000">
                      <a:srgbClr val="C0CF3A"/>
                    </a:gs>
                  </a:gsLst>
                  <a:lin ang="0" scaled="1"/>
                  <a:tileRect/>
                </a:gradFill>
                <a:latin typeface="Montserrat"/>
              </a:rPr>
              <a:t>Delivering on the terms of the partnership </a:t>
            </a:r>
          </a:p>
        </p:txBody>
      </p:sp>
    </p:spTree>
    <p:extLst>
      <p:ext uri="{BB962C8B-B14F-4D97-AF65-F5344CB8AC3E}">
        <p14:creationId xmlns:p14="http://schemas.microsoft.com/office/powerpoint/2010/main" val="2766080240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100C5-4CA1-E490-C66C-56A0CE7C3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F0764A-4088-106E-CD6E-EB1865FF6BAA}"/>
              </a:ext>
            </a:extLst>
          </p:cNvPr>
          <p:cNvSpPr txBox="1"/>
          <p:nvPr/>
        </p:nvSpPr>
        <p:spPr>
          <a:xfrm>
            <a:off x="958111" y="504782"/>
            <a:ext cx="10275779" cy="7078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34" tIns="45717" rIns="91434" bIns="45717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619" algn="ctr">
              <a:spcBef>
                <a:spcPts val="61"/>
              </a:spcBef>
              <a:tabLst>
                <a:tab pos="639177" algn="l"/>
                <a:tab pos="2160879" algn="l"/>
                <a:tab pos="2880915" algn="l"/>
                <a:tab pos="6521911" algn="l"/>
              </a:tabLst>
            </a:pPr>
            <a:r>
              <a:rPr lang="en-US" sz="4000" b="1" dirty="0">
                <a:ln w="0"/>
                <a:gradFill flip="none">
                  <a:gsLst>
                    <a:gs pos="0">
                      <a:srgbClr val="009548"/>
                    </a:gs>
                    <a:gs pos="52000">
                      <a:srgbClr val="8CC642"/>
                    </a:gs>
                    <a:gs pos="100000">
                      <a:srgbClr val="C0CF3A"/>
                    </a:gs>
                  </a:gsLst>
                  <a:lin ang="0" scaled="1"/>
                  <a:tileRect/>
                </a:gradFill>
                <a:latin typeface="Montserrat"/>
              </a:rPr>
              <a:t>EXECUTION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BEC0D8-63BA-E05B-3802-0B99C1B35D73}"/>
              </a:ext>
            </a:extLst>
          </p:cNvPr>
          <p:cNvSpPr txBox="1"/>
          <p:nvPr/>
        </p:nvSpPr>
        <p:spPr>
          <a:xfrm>
            <a:off x="619808" y="1425726"/>
            <a:ext cx="1097388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CA" sz="2400" b="1" dirty="0">
                <a:solidFill>
                  <a:schemeClr val="accent6"/>
                </a:solidFill>
                <a:latin typeface="Montserrat Medium"/>
              </a:rPr>
              <a:t>Step 1: Ongoing Activities</a:t>
            </a:r>
          </a:p>
          <a:p>
            <a:pPr lvl="0"/>
            <a:endParaRPr lang="en-CA" dirty="0">
              <a:solidFill>
                <a:srgbClr val="000000"/>
              </a:solidFill>
              <a:latin typeface="Montserrat Medium"/>
            </a:endParaRPr>
          </a:p>
          <a:p>
            <a:pPr lvl="0"/>
            <a:r>
              <a:rPr lang="en-CA" b="1" dirty="0">
                <a:solidFill>
                  <a:srgbClr val="000000"/>
                </a:solidFill>
                <a:latin typeface="Montserrat Medium"/>
              </a:rPr>
              <a:t>Goal: </a:t>
            </a:r>
            <a:r>
              <a:rPr lang="en-US" sz="1600" dirty="0">
                <a:solidFill>
                  <a:srgbClr val="000000"/>
                </a:solidFill>
                <a:latin typeface="Montserrat Medium"/>
              </a:rPr>
              <a:t>To deliver on partnership commitments, maintain strong partner relationships, and drive measurable impact and value for both organizations throughout the partnership term.</a:t>
            </a:r>
            <a:endParaRPr lang="en-CA" sz="1600" dirty="0">
              <a:solidFill>
                <a:srgbClr val="000000"/>
              </a:solidFill>
              <a:latin typeface="Montserrat Medium"/>
            </a:endParaRPr>
          </a:p>
          <a:p>
            <a:pPr lvl="0"/>
            <a:endParaRPr lang="en-CA" b="1" dirty="0">
              <a:solidFill>
                <a:srgbClr val="000000"/>
              </a:solidFill>
              <a:latin typeface="Montserrat Medium"/>
            </a:endParaRPr>
          </a:p>
          <a:p>
            <a:pPr lvl="0"/>
            <a:r>
              <a:rPr lang="en-CA" b="1" dirty="0">
                <a:solidFill>
                  <a:srgbClr val="000000"/>
                </a:solidFill>
                <a:latin typeface="Montserrat Medium"/>
              </a:rPr>
              <a:t>Process: 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i="1" dirty="0">
                <a:solidFill>
                  <a:srgbClr val="000000"/>
                </a:solidFill>
                <a:latin typeface="Montserrat Medium"/>
              </a:rPr>
              <a:t>Note: process will vary greatly depending on nature of partnership / specific partnership terms. The following is high-level guidance only.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Execute agreed‑upon partnership activities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Act as the primary point of contact for the partner and coordinate internal resources as needed.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Support partners with certification rollout, troubleshooting, and best‑practice guidance.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Proactively identify opportunities to optimize performance or expand collaboration.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Monitor progress against agreed targets, timelines, and success metrics.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Maintain regular communication with the partner (e.g., check‑ins, updates, milestone reviews).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Take consistent notes and keep the Partnership Development Project Plan up-to-date.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CA" b="1" dirty="0">
              <a:solidFill>
                <a:srgbClr val="000000"/>
              </a:solidFill>
              <a:latin typeface="Montserrat Medium"/>
            </a:endParaRPr>
          </a:p>
          <a:p>
            <a:pPr lvl="0"/>
            <a:r>
              <a:rPr lang="en-CA" b="1" dirty="0">
                <a:solidFill>
                  <a:srgbClr val="000000"/>
                </a:solidFill>
                <a:latin typeface="Montserrat Medium"/>
              </a:rPr>
              <a:t>Supporting Resources: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solidFill>
                  <a:schemeClr val="accent3"/>
                </a:solidFill>
                <a:latin typeface="Montserrat Medium"/>
              </a:rPr>
              <a:t>Partnership Development Project Plan (Excel)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solidFill>
                  <a:schemeClr val="accent3"/>
                </a:solidFill>
                <a:latin typeface="Montserrat Medium"/>
              </a:rPr>
              <a:t>Ongoing Notes Template (Word)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91ED66A-4C76-512B-FDF3-A59ED3FE2369}"/>
              </a:ext>
            </a:extLst>
          </p:cNvPr>
          <p:cNvGrpSpPr/>
          <p:nvPr/>
        </p:nvGrpSpPr>
        <p:grpSpPr>
          <a:xfrm>
            <a:off x="9737414" y="5795151"/>
            <a:ext cx="2180552" cy="954107"/>
            <a:chOff x="9413137" y="5596839"/>
            <a:chExt cx="2180552" cy="954107"/>
          </a:xfrm>
        </p:grpSpPr>
        <p:pic>
          <p:nvPicPr>
            <p:cNvPr id="13" name="Graphic 12" descr="Call center with solid fill">
              <a:extLst>
                <a:ext uri="{FF2B5EF4-FFF2-40B4-BE49-F238E27FC236}">
                  <a16:creationId xmlns:a16="http://schemas.microsoft.com/office/drawing/2014/main" id="{C5E91D9C-EB1D-B8C6-F535-4FFBEF85428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13137" y="5596839"/>
              <a:ext cx="725754" cy="725754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A253C5D-52EB-C453-51C1-098BC187A263}"/>
                </a:ext>
              </a:extLst>
            </p:cNvPr>
            <p:cNvSpPr txBox="1"/>
            <p:nvPr/>
          </p:nvSpPr>
          <p:spPr>
            <a:xfrm>
              <a:off x="10138891" y="5596839"/>
              <a:ext cx="145479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accent3"/>
                  </a:solidFill>
                  <a:latin typeface="Montserrat Medium" panose="00000600000000000000" pitchFamily="2" charset="0"/>
                </a:rPr>
                <a:t>Account Manager &amp; Member Services</a:t>
              </a:r>
              <a:endParaRPr lang="en-CA" sz="1400" dirty="0">
                <a:solidFill>
                  <a:schemeClr val="accent3"/>
                </a:solidFill>
                <a:latin typeface="Montserrat Medium" panose="00000600000000000000" pitchFamily="2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DAB9AFA-D682-5F88-1179-8A46E3823B78}"/>
              </a:ext>
            </a:extLst>
          </p:cNvPr>
          <p:cNvSpPr txBox="1"/>
          <p:nvPr/>
        </p:nvSpPr>
        <p:spPr>
          <a:xfrm>
            <a:off x="9897908" y="5491175"/>
            <a:ext cx="1454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accent3"/>
                </a:solidFill>
                <a:latin typeface="Montserrat Medium" panose="00000600000000000000" pitchFamily="2" charset="0"/>
              </a:rPr>
              <a:t>Responsible:</a:t>
            </a:r>
            <a:endParaRPr lang="en-CA" sz="1400" i="1" dirty="0">
              <a:solidFill>
                <a:schemeClr val="accent3"/>
              </a:solidFill>
              <a:latin typeface="Montserrat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5506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42C7B-56E5-27DD-BADE-683274622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9DD77C-86B1-0495-03A6-5DF5EFECD87F}"/>
              </a:ext>
            </a:extLst>
          </p:cNvPr>
          <p:cNvSpPr txBox="1"/>
          <p:nvPr/>
        </p:nvSpPr>
        <p:spPr>
          <a:xfrm>
            <a:off x="958111" y="504782"/>
            <a:ext cx="10275779" cy="7078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34" tIns="45717" rIns="91434" bIns="45717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619" algn="ctr">
              <a:spcBef>
                <a:spcPts val="61"/>
              </a:spcBef>
              <a:tabLst>
                <a:tab pos="639177" algn="l"/>
                <a:tab pos="2160879" algn="l"/>
                <a:tab pos="2880915" algn="l"/>
                <a:tab pos="6521911" algn="l"/>
              </a:tabLst>
            </a:pPr>
            <a:r>
              <a:rPr lang="en-US" sz="4000" b="1" dirty="0">
                <a:ln w="0"/>
                <a:gradFill flip="none">
                  <a:gsLst>
                    <a:gs pos="0">
                      <a:srgbClr val="009548"/>
                    </a:gs>
                    <a:gs pos="52000">
                      <a:srgbClr val="8CC642"/>
                    </a:gs>
                    <a:gs pos="100000">
                      <a:srgbClr val="C0CF3A"/>
                    </a:gs>
                  </a:gsLst>
                  <a:lin ang="0" scaled="1"/>
                  <a:tileRect/>
                </a:gradFill>
                <a:latin typeface="Montserrat"/>
              </a:rPr>
              <a:t>EXECUTION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285FA7-6897-14EC-5BB6-37689A56F3EE}"/>
              </a:ext>
            </a:extLst>
          </p:cNvPr>
          <p:cNvSpPr txBox="1"/>
          <p:nvPr/>
        </p:nvSpPr>
        <p:spPr>
          <a:xfrm>
            <a:off x="619808" y="1425726"/>
            <a:ext cx="10973881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CA" sz="2400" b="1" dirty="0">
                <a:solidFill>
                  <a:schemeClr val="accent6"/>
                </a:solidFill>
                <a:latin typeface="Montserrat Medium"/>
              </a:rPr>
              <a:t>Step 2: Quarterly &amp; Annual Reporting</a:t>
            </a:r>
          </a:p>
          <a:p>
            <a:pPr lvl="0"/>
            <a:endParaRPr lang="en-CA" dirty="0">
              <a:solidFill>
                <a:srgbClr val="000000"/>
              </a:solidFill>
              <a:latin typeface="Montserrat Medium"/>
            </a:endParaRPr>
          </a:p>
          <a:p>
            <a:pPr lvl="0"/>
            <a:r>
              <a:rPr lang="en-CA" b="1" dirty="0">
                <a:solidFill>
                  <a:srgbClr val="000000"/>
                </a:solidFill>
                <a:latin typeface="Montserrat Medium"/>
              </a:rPr>
              <a:t>Goal: </a:t>
            </a:r>
            <a:r>
              <a:rPr lang="en-US" sz="1600" dirty="0">
                <a:solidFill>
                  <a:srgbClr val="000000"/>
                </a:solidFill>
                <a:latin typeface="Montserrat Medium"/>
              </a:rPr>
              <a:t>To provide regular updates to partners that demonstrate partnership progress &amp; value.</a:t>
            </a:r>
            <a:endParaRPr lang="en-CA" sz="1600" dirty="0">
              <a:solidFill>
                <a:srgbClr val="000000"/>
              </a:solidFill>
              <a:latin typeface="Montserrat Medium"/>
            </a:endParaRPr>
          </a:p>
          <a:p>
            <a:pPr lvl="0"/>
            <a:endParaRPr lang="en-CA" b="1" dirty="0">
              <a:solidFill>
                <a:srgbClr val="000000"/>
              </a:solidFill>
              <a:latin typeface="Montserrat Medium"/>
            </a:endParaRPr>
          </a:p>
          <a:p>
            <a:pPr lvl="0"/>
            <a:r>
              <a:rPr lang="en-CA" b="1" dirty="0">
                <a:solidFill>
                  <a:srgbClr val="000000"/>
                </a:solidFill>
                <a:latin typeface="Montserrat Medium"/>
              </a:rPr>
              <a:t>Process: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Track key performance indicators aligned with the partnership agreement.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Collect certification, participation, and impact data from GK Admin.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Prepare quarterly and/or annual Partnership Progress Reports using the template.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Share reports with partner stakeholders and review results together.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Capture lessons learned and identify recommendations for the next period..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CA" b="1" dirty="0">
              <a:solidFill>
                <a:srgbClr val="000000"/>
              </a:solidFill>
              <a:latin typeface="Montserrat Medium"/>
            </a:endParaRPr>
          </a:p>
          <a:p>
            <a:pPr lvl="0"/>
            <a:r>
              <a:rPr lang="en-CA" b="1" dirty="0">
                <a:solidFill>
                  <a:srgbClr val="000000"/>
                </a:solidFill>
                <a:latin typeface="Montserrat Medium"/>
              </a:rPr>
              <a:t>Supporting Resources: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solidFill>
                  <a:schemeClr val="accent3"/>
                </a:solidFill>
                <a:latin typeface="Montserrat Medium"/>
              </a:rPr>
              <a:t>Partnership Progress Report (PowerPoint)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solidFill>
                  <a:schemeClr val="accent3"/>
                </a:solidFill>
                <a:latin typeface="Montserrat Medium"/>
              </a:rPr>
              <a:t>Data exports from GK Admin?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4C52BF9-F099-124A-F27D-179B9C9B0264}"/>
              </a:ext>
            </a:extLst>
          </p:cNvPr>
          <p:cNvGrpSpPr/>
          <p:nvPr/>
        </p:nvGrpSpPr>
        <p:grpSpPr>
          <a:xfrm>
            <a:off x="9737414" y="5795151"/>
            <a:ext cx="2180552" cy="725754"/>
            <a:chOff x="9413137" y="5596839"/>
            <a:chExt cx="2180552" cy="725754"/>
          </a:xfrm>
        </p:grpSpPr>
        <p:pic>
          <p:nvPicPr>
            <p:cNvPr id="13" name="Graphic 12" descr="Call center with solid fill">
              <a:extLst>
                <a:ext uri="{FF2B5EF4-FFF2-40B4-BE49-F238E27FC236}">
                  <a16:creationId xmlns:a16="http://schemas.microsoft.com/office/drawing/2014/main" id="{6DC39F15-9AD3-5830-D46E-D0C0D8365A7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13137" y="5596839"/>
              <a:ext cx="725754" cy="725754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C8E8102-2039-E34E-636F-ABE58B352B7C}"/>
                </a:ext>
              </a:extLst>
            </p:cNvPr>
            <p:cNvSpPr txBox="1"/>
            <p:nvPr/>
          </p:nvSpPr>
          <p:spPr>
            <a:xfrm>
              <a:off x="10138891" y="5707172"/>
              <a:ext cx="145479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accent3"/>
                  </a:solidFill>
                  <a:latin typeface="Montserrat Medium" panose="00000600000000000000" pitchFamily="2" charset="0"/>
                </a:rPr>
                <a:t>Account Manager</a:t>
              </a:r>
              <a:endParaRPr lang="en-CA" sz="1400" dirty="0">
                <a:solidFill>
                  <a:schemeClr val="accent3"/>
                </a:solidFill>
                <a:latin typeface="Montserrat Medium" panose="00000600000000000000" pitchFamily="2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613A977-299D-A38B-86A7-8B744F0F58A8}"/>
              </a:ext>
            </a:extLst>
          </p:cNvPr>
          <p:cNvSpPr txBox="1"/>
          <p:nvPr/>
        </p:nvSpPr>
        <p:spPr>
          <a:xfrm>
            <a:off x="9883867" y="5487374"/>
            <a:ext cx="1454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accent3"/>
                </a:solidFill>
                <a:latin typeface="Montserrat Medium" panose="00000600000000000000" pitchFamily="2" charset="0"/>
              </a:rPr>
              <a:t>Responsible:</a:t>
            </a:r>
            <a:endParaRPr lang="en-CA" sz="1400" i="1" dirty="0">
              <a:solidFill>
                <a:schemeClr val="accent3"/>
              </a:solidFill>
              <a:latin typeface="Montserrat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1732138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AA43A-B004-993A-9250-188681217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51;p1">
            <a:extLst>
              <a:ext uri="{FF2B5EF4-FFF2-40B4-BE49-F238E27FC236}">
                <a16:creationId xmlns:a16="http://schemas.microsoft.com/office/drawing/2014/main" id="{C20D6D5B-8089-0251-31D8-F15270E34A39}"/>
              </a:ext>
            </a:extLst>
          </p:cNvPr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>
            <a:off x="7539583" y="3970953"/>
            <a:ext cx="4165281" cy="310912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3C3361A-42D0-ACFB-6BD4-89D398AE221C}"/>
              </a:ext>
            </a:extLst>
          </p:cNvPr>
          <p:cNvSpPr txBox="1"/>
          <p:nvPr/>
        </p:nvSpPr>
        <p:spPr>
          <a:xfrm>
            <a:off x="1026937" y="1399463"/>
            <a:ext cx="10275779" cy="28392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34" tIns="45717" rIns="91434" bIns="45717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619" algn="ctr">
              <a:spcBef>
                <a:spcPts val="61"/>
              </a:spcBef>
              <a:tabLst>
                <a:tab pos="639177" algn="l"/>
                <a:tab pos="2160879" algn="l"/>
                <a:tab pos="2880915" algn="l"/>
                <a:tab pos="6521911" algn="l"/>
              </a:tabLst>
            </a:pPr>
            <a:r>
              <a:rPr lang="en-US" sz="4000" b="1" dirty="0">
                <a:ln w="0"/>
                <a:gradFill flip="none">
                  <a:gsLst>
                    <a:gs pos="0">
                      <a:srgbClr val="009548"/>
                    </a:gs>
                    <a:gs pos="52000">
                      <a:srgbClr val="8CC642"/>
                    </a:gs>
                    <a:gs pos="100000">
                      <a:srgbClr val="C0CF3A"/>
                    </a:gs>
                  </a:gsLst>
                  <a:lin ang="0" scaled="1"/>
                  <a:tileRect/>
                </a:gradFill>
                <a:latin typeface="Montserrat"/>
              </a:rPr>
              <a:t>CLOSING &amp; RENEWAL</a:t>
            </a:r>
          </a:p>
          <a:p>
            <a:pPr marL="7619" algn="ctr">
              <a:spcBef>
                <a:spcPts val="61"/>
              </a:spcBef>
              <a:tabLst>
                <a:tab pos="639177" algn="l"/>
                <a:tab pos="2160879" algn="l"/>
                <a:tab pos="2880915" algn="l"/>
                <a:tab pos="6521911" algn="l"/>
              </a:tabLst>
            </a:pPr>
            <a:r>
              <a:rPr lang="en-US" sz="4000" b="1" dirty="0">
                <a:ln w="0"/>
                <a:gradFill flip="none">
                  <a:gsLst>
                    <a:gs pos="0">
                      <a:srgbClr val="009548"/>
                    </a:gs>
                    <a:gs pos="52000">
                      <a:srgbClr val="8CC642"/>
                    </a:gs>
                    <a:gs pos="100000">
                      <a:srgbClr val="C0CF3A"/>
                    </a:gs>
                  </a:gsLst>
                  <a:lin ang="0" scaled="1"/>
                  <a:tileRect/>
                </a:gradFill>
                <a:latin typeface="Montserrat"/>
              </a:rPr>
              <a:t>PHASE: </a:t>
            </a:r>
          </a:p>
          <a:p>
            <a:pPr marL="7619" algn="ctr">
              <a:spcBef>
                <a:spcPts val="61"/>
              </a:spcBef>
              <a:tabLst>
                <a:tab pos="639177" algn="l"/>
                <a:tab pos="2160879" algn="l"/>
                <a:tab pos="2880915" algn="l"/>
                <a:tab pos="6521911" algn="l"/>
              </a:tabLst>
            </a:pPr>
            <a:endParaRPr lang="en-US" sz="3200" i="1" dirty="0">
              <a:ln w="0"/>
              <a:gradFill flip="none">
                <a:gsLst>
                  <a:gs pos="0">
                    <a:srgbClr val="009548"/>
                  </a:gs>
                  <a:gs pos="52000">
                    <a:srgbClr val="8CC642"/>
                  </a:gs>
                  <a:gs pos="100000">
                    <a:srgbClr val="C0CF3A"/>
                  </a:gs>
                </a:gsLst>
                <a:lin ang="0" scaled="1"/>
                <a:tileRect/>
              </a:gradFill>
              <a:latin typeface="Montserrat"/>
            </a:endParaRPr>
          </a:p>
          <a:p>
            <a:pPr marL="7619" algn="ctr">
              <a:spcBef>
                <a:spcPts val="61"/>
              </a:spcBef>
              <a:tabLst>
                <a:tab pos="639177" algn="l"/>
                <a:tab pos="2160879" algn="l"/>
                <a:tab pos="2880915" algn="l"/>
                <a:tab pos="6521911" algn="l"/>
              </a:tabLst>
            </a:pPr>
            <a:r>
              <a:rPr lang="en-US" sz="3200" i="1" dirty="0">
                <a:ln w="0"/>
                <a:gradFill flip="none">
                  <a:gsLst>
                    <a:gs pos="0">
                      <a:srgbClr val="009548"/>
                    </a:gs>
                    <a:gs pos="52000">
                      <a:srgbClr val="8CC642"/>
                    </a:gs>
                    <a:gs pos="100000">
                      <a:srgbClr val="C0CF3A"/>
                    </a:gs>
                  </a:gsLst>
                  <a:lin ang="0" scaled="1"/>
                  <a:tileRect/>
                </a:gradFill>
                <a:latin typeface="Montserrat"/>
              </a:rPr>
              <a:t>Wrapping up the existing agreement &amp; (potentially) beginning a new one.</a:t>
            </a:r>
          </a:p>
        </p:txBody>
      </p:sp>
    </p:spTree>
    <p:extLst>
      <p:ext uri="{BB962C8B-B14F-4D97-AF65-F5344CB8AC3E}">
        <p14:creationId xmlns:p14="http://schemas.microsoft.com/office/powerpoint/2010/main" val="3844156609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E1D9A-45D4-6CC6-FDC8-76FE2D2BD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A5FFF7-1FD1-A762-8A72-25DEB8AE9C51}"/>
              </a:ext>
            </a:extLst>
          </p:cNvPr>
          <p:cNvSpPr txBox="1"/>
          <p:nvPr/>
        </p:nvSpPr>
        <p:spPr>
          <a:xfrm>
            <a:off x="958111" y="504782"/>
            <a:ext cx="10275779" cy="7078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34" tIns="45717" rIns="91434" bIns="45717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619" algn="ctr">
              <a:spcBef>
                <a:spcPts val="61"/>
              </a:spcBef>
              <a:tabLst>
                <a:tab pos="639177" algn="l"/>
                <a:tab pos="2160879" algn="l"/>
                <a:tab pos="2880915" algn="l"/>
                <a:tab pos="6521911" algn="l"/>
              </a:tabLst>
            </a:pPr>
            <a:r>
              <a:rPr lang="en-US" sz="4000" b="1" dirty="0">
                <a:ln w="0"/>
                <a:gradFill flip="none">
                  <a:gsLst>
                    <a:gs pos="0">
                      <a:srgbClr val="009548"/>
                    </a:gs>
                    <a:gs pos="52000">
                      <a:srgbClr val="8CC642"/>
                    </a:gs>
                    <a:gs pos="100000">
                      <a:srgbClr val="C0CF3A"/>
                    </a:gs>
                  </a:gsLst>
                  <a:lin ang="0" scaled="1"/>
                  <a:tileRect/>
                </a:gradFill>
                <a:latin typeface="Montserrat"/>
              </a:rPr>
              <a:t>CLOSING &amp; RENEWAL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95C3D1-04A2-1347-6078-7B27D775458A}"/>
              </a:ext>
            </a:extLst>
          </p:cNvPr>
          <p:cNvSpPr txBox="1"/>
          <p:nvPr/>
        </p:nvSpPr>
        <p:spPr>
          <a:xfrm>
            <a:off x="619808" y="1425726"/>
            <a:ext cx="10973881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CA" sz="2400" b="1" dirty="0">
                <a:solidFill>
                  <a:schemeClr val="accent6"/>
                </a:solidFill>
                <a:latin typeface="Montserrat Medium"/>
              </a:rPr>
              <a:t>Step 1: Renewal Strategy Meeting</a:t>
            </a:r>
          </a:p>
          <a:p>
            <a:pPr lvl="0"/>
            <a:endParaRPr lang="en-CA" dirty="0">
              <a:solidFill>
                <a:srgbClr val="000000"/>
              </a:solidFill>
              <a:latin typeface="Montserrat Medium"/>
            </a:endParaRPr>
          </a:p>
          <a:p>
            <a:pPr lvl="0"/>
            <a:r>
              <a:rPr lang="en-CA" b="1" dirty="0">
                <a:solidFill>
                  <a:srgbClr val="000000"/>
                </a:solidFill>
                <a:latin typeface="Montserrat Medium"/>
              </a:rPr>
              <a:t>Goal: </a:t>
            </a:r>
            <a:r>
              <a:rPr lang="en-US" sz="1600" dirty="0">
                <a:solidFill>
                  <a:srgbClr val="000000"/>
                </a:solidFill>
                <a:latin typeface="Montserrat Medium"/>
              </a:rPr>
              <a:t>To jointly evaluate the partnership, capture learnings, and determine whether to renew, evolve, or conclude the relationship.</a:t>
            </a:r>
            <a:endParaRPr lang="en-CA" sz="1600" dirty="0">
              <a:solidFill>
                <a:srgbClr val="000000"/>
              </a:solidFill>
              <a:latin typeface="Montserrat Medium"/>
            </a:endParaRPr>
          </a:p>
          <a:p>
            <a:pPr lvl="0"/>
            <a:endParaRPr lang="en-CA" b="1" dirty="0">
              <a:solidFill>
                <a:srgbClr val="000000"/>
              </a:solidFill>
              <a:latin typeface="Montserrat Medium"/>
            </a:endParaRPr>
          </a:p>
          <a:p>
            <a:pPr lvl="0"/>
            <a:r>
              <a:rPr lang="en-CA" b="1" dirty="0">
                <a:solidFill>
                  <a:srgbClr val="000000"/>
                </a:solidFill>
                <a:latin typeface="Montserrat Medium"/>
              </a:rPr>
              <a:t>Process: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Schedule and conduct a formal partnership debrief with key partner stakeholders.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Review objectives, outcomes, and performance against success metrics.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Discuss what worked well, challenges encountered, and improvement opportunities.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Assess overall partnership value and strategic fit moving forward.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Document key takeaways and partner feedback.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Agree on preliminary direction: renewal, modification, or wind‑down.</a:t>
            </a:r>
          </a:p>
          <a:p>
            <a:pPr lvl="0"/>
            <a:endParaRPr lang="en-CA" b="1" dirty="0">
              <a:solidFill>
                <a:srgbClr val="000000"/>
              </a:solidFill>
              <a:latin typeface="Montserrat Medium"/>
            </a:endParaRPr>
          </a:p>
          <a:p>
            <a:pPr lvl="0"/>
            <a:r>
              <a:rPr lang="en-CA" b="1" dirty="0">
                <a:solidFill>
                  <a:srgbClr val="000000"/>
                </a:solidFill>
                <a:latin typeface="Montserrat Medium"/>
              </a:rPr>
              <a:t>Supporting Resources: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solidFill>
                  <a:schemeClr val="accent3"/>
                </a:solidFill>
                <a:latin typeface="Montserrat Medium"/>
              </a:rPr>
              <a:t>Partnership Wrap Up Report (PowerPoint)</a:t>
            </a:r>
          </a:p>
          <a:p>
            <a:pPr lvl="1"/>
            <a:endParaRPr lang="en-US" sz="1600" dirty="0">
              <a:solidFill>
                <a:schemeClr val="accent3"/>
              </a:solidFill>
              <a:latin typeface="Montserrat Medium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DAFC7A4-8964-C767-8ED0-70689A4D92BD}"/>
              </a:ext>
            </a:extLst>
          </p:cNvPr>
          <p:cNvGrpSpPr/>
          <p:nvPr/>
        </p:nvGrpSpPr>
        <p:grpSpPr>
          <a:xfrm>
            <a:off x="9737414" y="5795151"/>
            <a:ext cx="2180552" cy="725754"/>
            <a:chOff x="9413137" y="5596839"/>
            <a:chExt cx="2180552" cy="725754"/>
          </a:xfrm>
        </p:grpSpPr>
        <p:pic>
          <p:nvPicPr>
            <p:cNvPr id="13" name="Graphic 12" descr="Call center with solid fill">
              <a:extLst>
                <a:ext uri="{FF2B5EF4-FFF2-40B4-BE49-F238E27FC236}">
                  <a16:creationId xmlns:a16="http://schemas.microsoft.com/office/drawing/2014/main" id="{64111D8A-48FB-0820-6817-A824BA0271C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13137" y="5596839"/>
              <a:ext cx="725754" cy="725754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1EE3801-F778-2FB5-685D-FB7B148C4FBC}"/>
                </a:ext>
              </a:extLst>
            </p:cNvPr>
            <p:cNvSpPr txBox="1"/>
            <p:nvPr/>
          </p:nvSpPr>
          <p:spPr>
            <a:xfrm>
              <a:off x="10138891" y="5707172"/>
              <a:ext cx="145479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accent3"/>
                  </a:solidFill>
                  <a:latin typeface="Montserrat Medium" panose="00000600000000000000" pitchFamily="2" charset="0"/>
                </a:rPr>
                <a:t>Account Manager</a:t>
              </a:r>
              <a:endParaRPr lang="en-CA" sz="1400" dirty="0">
                <a:solidFill>
                  <a:schemeClr val="accent3"/>
                </a:solidFill>
                <a:latin typeface="Montserrat Medium" panose="00000600000000000000" pitchFamily="2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777EAB8-3EFC-7F65-A794-5F90721CFBA9}"/>
              </a:ext>
            </a:extLst>
          </p:cNvPr>
          <p:cNvSpPr txBox="1"/>
          <p:nvPr/>
        </p:nvSpPr>
        <p:spPr>
          <a:xfrm>
            <a:off x="9883867" y="5445549"/>
            <a:ext cx="1454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accent3"/>
                </a:solidFill>
                <a:latin typeface="Montserrat Medium" panose="00000600000000000000" pitchFamily="2" charset="0"/>
              </a:rPr>
              <a:t>Responsible:</a:t>
            </a:r>
            <a:endParaRPr lang="en-CA" sz="1400" i="1" dirty="0">
              <a:solidFill>
                <a:schemeClr val="accent3"/>
              </a:solidFill>
              <a:latin typeface="Montserrat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968153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DA782-D5DD-865A-10E3-30337394D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13A747-79EF-6635-0FAE-F7C015D9C30A}"/>
              </a:ext>
            </a:extLst>
          </p:cNvPr>
          <p:cNvSpPr txBox="1"/>
          <p:nvPr/>
        </p:nvSpPr>
        <p:spPr>
          <a:xfrm>
            <a:off x="958111" y="504782"/>
            <a:ext cx="10275779" cy="7078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34" tIns="45717" rIns="91434" bIns="45717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619" algn="ctr">
              <a:spcBef>
                <a:spcPts val="61"/>
              </a:spcBef>
              <a:tabLst>
                <a:tab pos="639177" algn="l"/>
                <a:tab pos="2160879" algn="l"/>
                <a:tab pos="2880915" algn="l"/>
                <a:tab pos="6521911" algn="l"/>
              </a:tabLst>
            </a:pPr>
            <a:r>
              <a:rPr lang="en-US" sz="4000" b="1" dirty="0">
                <a:ln w="0"/>
                <a:gradFill flip="none">
                  <a:gsLst>
                    <a:gs pos="0">
                      <a:srgbClr val="009548"/>
                    </a:gs>
                    <a:gs pos="52000">
                      <a:srgbClr val="8CC642"/>
                    </a:gs>
                    <a:gs pos="100000">
                      <a:srgbClr val="C0CF3A"/>
                    </a:gs>
                  </a:gsLst>
                  <a:lin ang="0" scaled="1"/>
                  <a:tileRect/>
                </a:gradFill>
                <a:latin typeface="Montserrat"/>
              </a:rPr>
              <a:t>CLOSING &amp; RENEWAL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1B44E1-5138-6473-0DF8-CEC6BE41A868}"/>
              </a:ext>
            </a:extLst>
          </p:cNvPr>
          <p:cNvSpPr txBox="1"/>
          <p:nvPr/>
        </p:nvSpPr>
        <p:spPr>
          <a:xfrm>
            <a:off x="619808" y="1425726"/>
            <a:ext cx="10973881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CA" sz="2400" b="1" dirty="0">
                <a:solidFill>
                  <a:schemeClr val="accent6"/>
                </a:solidFill>
                <a:latin typeface="Montserrat Medium"/>
              </a:rPr>
              <a:t>Step 2: Offboarding</a:t>
            </a:r>
          </a:p>
          <a:p>
            <a:pPr lvl="0"/>
            <a:endParaRPr lang="en-CA" dirty="0">
              <a:solidFill>
                <a:srgbClr val="000000"/>
              </a:solidFill>
              <a:latin typeface="Montserrat Medium"/>
            </a:endParaRPr>
          </a:p>
          <a:p>
            <a:pPr lvl="0"/>
            <a:r>
              <a:rPr lang="en-CA" b="1" dirty="0">
                <a:solidFill>
                  <a:srgbClr val="000000"/>
                </a:solidFill>
                <a:latin typeface="Montserrat Medium"/>
              </a:rPr>
              <a:t>Goal: </a:t>
            </a:r>
            <a:r>
              <a:rPr lang="en-US" sz="1600" dirty="0">
                <a:solidFill>
                  <a:srgbClr val="000000"/>
                </a:solidFill>
                <a:latin typeface="Montserrat Medium"/>
              </a:rPr>
              <a:t>To smoothly conclude the partnership.</a:t>
            </a:r>
            <a:endParaRPr lang="en-CA" sz="1600" dirty="0">
              <a:solidFill>
                <a:srgbClr val="000000"/>
              </a:solidFill>
              <a:latin typeface="Montserrat Medium"/>
            </a:endParaRPr>
          </a:p>
          <a:p>
            <a:pPr lvl="0"/>
            <a:endParaRPr lang="en-CA" b="1" dirty="0">
              <a:solidFill>
                <a:srgbClr val="000000"/>
              </a:solidFill>
              <a:latin typeface="Montserrat Medium"/>
            </a:endParaRPr>
          </a:p>
          <a:p>
            <a:pPr lvl="0"/>
            <a:r>
              <a:rPr lang="en-CA" b="1" dirty="0">
                <a:solidFill>
                  <a:srgbClr val="000000"/>
                </a:solidFill>
                <a:latin typeface="Montserrat Medium"/>
              </a:rPr>
              <a:t>Process: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Confirm partnership end date and close out outstanding obligations.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Complete final reporting and financial reconciliation.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Support partner with transition or close‑out activities.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Remove or update systems access, promo codes, and marketing references.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/>
              </a:rPr>
              <a:t>Archive partnership documentation.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CA" b="1" dirty="0">
              <a:solidFill>
                <a:srgbClr val="000000"/>
              </a:solidFill>
              <a:latin typeface="Montserrat Medium"/>
            </a:endParaRPr>
          </a:p>
          <a:p>
            <a:pPr lvl="0"/>
            <a:r>
              <a:rPr lang="en-CA" b="1" dirty="0">
                <a:solidFill>
                  <a:srgbClr val="000000"/>
                </a:solidFill>
                <a:latin typeface="Montserrat Medium"/>
              </a:rPr>
              <a:t>Supporting Resources: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solidFill>
                  <a:schemeClr val="accent3"/>
                </a:solidFill>
                <a:latin typeface="Montserrat Medium"/>
              </a:rPr>
              <a:t>Partnership Offboarding Checklist (Word)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45A8486-A7AF-985B-0C75-F46019F2FC8B}"/>
              </a:ext>
            </a:extLst>
          </p:cNvPr>
          <p:cNvGrpSpPr/>
          <p:nvPr/>
        </p:nvGrpSpPr>
        <p:grpSpPr>
          <a:xfrm>
            <a:off x="9737414" y="5795151"/>
            <a:ext cx="2180552" cy="725754"/>
            <a:chOff x="9413137" y="5596839"/>
            <a:chExt cx="2180552" cy="725754"/>
          </a:xfrm>
        </p:grpSpPr>
        <p:pic>
          <p:nvPicPr>
            <p:cNvPr id="13" name="Graphic 12" descr="Call center with solid fill">
              <a:extLst>
                <a:ext uri="{FF2B5EF4-FFF2-40B4-BE49-F238E27FC236}">
                  <a16:creationId xmlns:a16="http://schemas.microsoft.com/office/drawing/2014/main" id="{D5473ED1-1740-09FA-AB4E-2AA85443CCD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13137" y="5596839"/>
              <a:ext cx="725754" cy="725754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490904E-EF09-1BC8-1580-4180065F64AC}"/>
                </a:ext>
              </a:extLst>
            </p:cNvPr>
            <p:cNvSpPr txBox="1"/>
            <p:nvPr/>
          </p:nvSpPr>
          <p:spPr>
            <a:xfrm>
              <a:off x="10138891" y="5707172"/>
              <a:ext cx="145479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accent3"/>
                  </a:solidFill>
                  <a:latin typeface="Montserrat Medium" panose="00000600000000000000" pitchFamily="2" charset="0"/>
                </a:rPr>
                <a:t>Account Manager</a:t>
              </a:r>
              <a:endParaRPr lang="en-CA" sz="1400" dirty="0">
                <a:solidFill>
                  <a:schemeClr val="accent3"/>
                </a:solidFill>
                <a:latin typeface="Montserrat Medium" panose="00000600000000000000" pitchFamily="2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D8574A1-EEDD-4CBE-CB9D-8178F9E038BD}"/>
              </a:ext>
            </a:extLst>
          </p:cNvPr>
          <p:cNvSpPr txBox="1"/>
          <p:nvPr/>
        </p:nvSpPr>
        <p:spPr>
          <a:xfrm>
            <a:off x="9874342" y="5487374"/>
            <a:ext cx="1454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accent3"/>
                </a:solidFill>
                <a:latin typeface="Montserrat Medium" panose="00000600000000000000" pitchFamily="2" charset="0"/>
              </a:rPr>
              <a:t>Responsible:</a:t>
            </a:r>
            <a:endParaRPr lang="en-CA" sz="1400" i="1" dirty="0">
              <a:solidFill>
                <a:schemeClr val="accent3"/>
              </a:solidFill>
              <a:latin typeface="Montserrat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553209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0"/>
          <p:cNvSpPr/>
          <p:nvPr/>
        </p:nvSpPr>
        <p:spPr>
          <a:xfrm>
            <a:off x="428" y="10012"/>
            <a:ext cx="12191144" cy="6857615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FCFC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0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0"/>
          <p:cNvSpPr txBox="1"/>
          <p:nvPr/>
        </p:nvSpPr>
        <p:spPr>
          <a:xfrm>
            <a:off x="6084181" y="3036579"/>
            <a:ext cx="692346" cy="212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07" rIns="0" bIns="0" anchor="t" anchorCtr="0">
            <a:spAutoFit/>
          </a:bodyPr>
          <a:lstStyle/>
          <a:p>
            <a:pPr marL="7701">
              <a:buClr>
                <a:srgbClr val="000000"/>
              </a:buClr>
              <a:buSzPts val="2200"/>
            </a:pPr>
            <a:r>
              <a:rPr lang="en-US" sz="1334" b="1">
                <a:solidFill>
                  <a:srgbClr val="504B4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E-mail</a:t>
            </a:r>
            <a:endParaRPr sz="1334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97" name="Google Shape;297;p20"/>
          <p:cNvSpPr txBox="1"/>
          <p:nvPr/>
        </p:nvSpPr>
        <p:spPr>
          <a:xfrm>
            <a:off x="6084009" y="3592756"/>
            <a:ext cx="941098" cy="1009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07" rIns="0" bIns="0" anchor="t" anchorCtr="0">
            <a:spAutoFit/>
          </a:bodyPr>
          <a:lstStyle/>
          <a:p>
            <a:pPr marL="7701">
              <a:buClr>
                <a:srgbClr val="000000"/>
              </a:buClr>
              <a:buSzPts val="2200"/>
            </a:pPr>
            <a:r>
              <a:rPr lang="en-US" sz="1334" b="1">
                <a:solidFill>
                  <a:srgbClr val="504B4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Website</a:t>
            </a:r>
            <a:endParaRPr sz="1334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7701" marR="72007">
              <a:lnSpc>
                <a:spcPct val="194400"/>
              </a:lnSpc>
              <a:buClr>
                <a:srgbClr val="000000"/>
              </a:buClr>
              <a:buSzPts val="2200"/>
            </a:pPr>
            <a:r>
              <a:rPr lang="en-US" sz="1334" b="1">
                <a:solidFill>
                  <a:srgbClr val="504B4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Phone Address</a:t>
            </a:r>
            <a:endParaRPr sz="1334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98" name="Google Shape;298;p20"/>
          <p:cNvSpPr txBox="1"/>
          <p:nvPr/>
        </p:nvSpPr>
        <p:spPr>
          <a:xfrm>
            <a:off x="7521230" y="3530327"/>
            <a:ext cx="2341578" cy="121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07" rIns="0" bIns="0" anchor="t" anchorCtr="0">
            <a:spAutoFit/>
          </a:bodyPr>
          <a:lstStyle/>
          <a:p>
            <a:pPr marL="7701">
              <a:buClr>
                <a:srgbClr val="000000"/>
              </a:buClr>
              <a:buSzPts val="2200"/>
            </a:pPr>
            <a:r>
              <a:rPr lang="en-US" sz="1334" u="sng">
                <a:solidFill>
                  <a:srgbClr val="504B44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www.greenkeyglobal.com</a:t>
            </a:r>
            <a:endParaRPr sz="1334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7701">
              <a:spcBef>
                <a:spcPts val="1507"/>
              </a:spcBef>
              <a:buClr>
                <a:srgbClr val="000000"/>
              </a:buClr>
              <a:buSzPts val="2200"/>
            </a:pPr>
            <a:r>
              <a:rPr lang="en-US" sz="1334">
                <a:solidFill>
                  <a:srgbClr val="504B44"/>
                </a:solidFill>
                <a:latin typeface="Montserrat"/>
                <a:ea typeface="Montserrat"/>
                <a:cs typeface="Montserrat"/>
                <a:sym typeface="Montserrat"/>
              </a:rPr>
              <a:t>(226) 894-3940</a:t>
            </a:r>
            <a:endParaRPr sz="84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701">
              <a:spcBef>
                <a:spcPts val="1507"/>
              </a:spcBef>
              <a:buClr>
                <a:srgbClr val="000000"/>
              </a:buClr>
              <a:buSzPts val="2200"/>
            </a:pPr>
            <a:r>
              <a:rPr lang="en-US" sz="1334">
                <a:solidFill>
                  <a:srgbClr val="504B44"/>
                </a:solidFill>
                <a:latin typeface="Montserrat"/>
                <a:ea typeface="Montserrat"/>
                <a:cs typeface="Montserrat"/>
                <a:sym typeface="Montserrat"/>
              </a:rPr>
              <a:t>130 Albert Street, Suite 1206 Ottawa, ON | K1P 5G4</a:t>
            </a:r>
            <a:endParaRPr sz="1334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9" name="Google Shape;299;p20"/>
          <p:cNvSpPr txBox="1">
            <a:spLocks noGrp="1"/>
          </p:cNvSpPr>
          <p:nvPr>
            <p:ph type="title"/>
          </p:nvPr>
        </p:nvSpPr>
        <p:spPr>
          <a:xfrm>
            <a:off x="6088299" y="2206208"/>
            <a:ext cx="3646774" cy="41755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6928" rIns="0" bIns="0" rtlCol="0" anchor="t" anchorCtr="0">
            <a:spAutoFit/>
          </a:bodyPr>
          <a:lstStyle/>
          <a:p>
            <a:pPr marL="7701"/>
            <a:r>
              <a:rPr lang="en-US" sz="2668">
                <a:solidFill>
                  <a:srgbClr val="504B44"/>
                </a:solidFill>
                <a:latin typeface="Montserrat"/>
                <a:ea typeface="Montserrat"/>
                <a:cs typeface="Montserrat"/>
                <a:sym typeface="Montserrat"/>
              </a:rPr>
              <a:t>C O N T A C T	 U S</a:t>
            </a:r>
            <a:endParaRPr sz="2668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0" name="Google Shape;300;p20"/>
          <p:cNvSpPr txBox="1"/>
          <p:nvPr/>
        </p:nvSpPr>
        <p:spPr>
          <a:xfrm>
            <a:off x="7521231" y="3004190"/>
            <a:ext cx="3734741" cy="212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07" rIns="0" bIns="0" anchor="t" anchorCtr="0">
            <a:spAutoFit/>
          </a:bodyPr>
          <a:lstStyle/>
          <a:p>
            <a:pPr marL="7701">
              <a:buClr>
                <a:srgbClr val="000000"/>
              </a:buClr>
              <a:buSzPts val="2200"/>
            </a:pPr>
            <a:r>
              <a:rPr lang="en-US" sz="1334" u="sng">
                <a:solidFill>
                  <a:srgbClr val="504B44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info@greenkeyglobal.com</a:t>
            </a:r>
            <a:endParaRPr sz="1334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01" name="Google Shape;301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5112" y="1195494"/>
            <a:ext cx="5780888" cy="4466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6BE3A4AE542B4E9A6055E5499FBF5C" ma:contentTypeVersion="13" ma:contentTypeDescription="Create a new document." ma:contentTypeScope="" ma:versionID="be0b756be5f2707e55a2a916a57c7286">
  <xsd:schema xmlns:xsd="http://www.w3.org/2001/XMLSchema" xmlns:xs="http://www.w3.org/2001/XMLSchema" xmlns:p="http://schemas.microsoft.com/office/2006/metadata/properties" xmlns:ns2="bd01fa90-c944-4a8a-855d-58d2420a4b3a" xmlns:ns3="d4cf1c01-a697-4c09-bd92-022c4f28f7d1" targetNamespace="http://schemas.microsoft.com/office/2006/metadata/properties" ma:root="true" ma:fieldsID="f657c69320d9e8dbb63e7a1405fd1c73" ns2:_="" ns3:_="">
    <xsd:import namespace="bd01fa90-c944-4a8a-855d-58d2420a4b3a"/>
    <xsd:import namespace="d4cf1c01-a697-4c09-bd92-022c4f28f7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01fa90-c944-4a8a-855d-58d2420a4b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4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2ff726bb-f96a-4d73-9b26-513cf2981e0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cf1c01-a697-4c09-bd92-022c4f28f7d1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7a3027e-a7d5-4f7c-b5de-c95b8d6166b4}" ma:internalName="TaxCatchAll" ma:showField="CatchAllData" ma:web="d4cf1c01-a697-4c09-bd92-022c4f28f7d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d01fa90-c944-4a8a-855d-58d2420a4b3a">
      <Terms xmlns="http://schemas.microsoft.com/office/infopath/2007/PartnerControls"/>
    </lcf76f155ced4ddcb4097134ff3c332f>
    <TaxCatchAll xmlns="d4cf1c01-a697-4c09-bd92-022c4f28f7d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95A5D77-ACA6-4C29-9BBE-4F798A32761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d01fa90-c944-4a8a-855d-58d2420a4b3a"/>
    <ds:schemaRef ds:uri="d4cf1c01-a697-4c09-bd92-022c4f28f7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0811A41-5205-4021-9960-178ED56782C0}">
  <ds:schemaRefs>
    <ds:schemaRef ds:uri="http://schemas.microsoft.com/office/2006/metadata/properties"/>
    <ds:schemaRef ds:uri="http://schemas.microsoft.com/office/infopath/2007/PartnerControls"/>
    <ds:schemaRef ds:uri="2cf66512-a0dd-41c7-9906-094e03ff8c95"/>
    <ds:schemaRef ds:uri="5d82c093-0a5d-42de-9b25-c5a36d1fb7fc"/>
    <ds:schemaRef ds:uri="bd01fa90-c944-4a8a-855d-58d2420a4b3a"/>
    <ds:schemaRef ds:uri="d4cf1c01-a697-4c09-bd92-022c4f28f7d1"/>
  </ds:schemaRefs>
</ds:datastoreItem>
</file>

<file path=customXml/itemProps3.xml><?xml version="1.0" encoding="utf-8"?>
<ds:datastoreItem xmlns:ds="http://schemas.openxmlformats.org/officeDocument/2006/customXml" ds:itemID="{ACD2FB9A-C675-4D13-9317-D880525A441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8131</TotalTime>
  <Words>2435</Words>
  <Application>Microsoft Office PowerPoint</Application>
  <PresentationFormat>Widescreen</PresentationFormat>
  <Paragraphs>466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4" baseType="lpstr">
      <vt:lpstr>Aptos</vt:lpstr>
      <vt:lpstr>Aptos Display</vt:lpstr>
      <vt:lpstr>Arial</vt:lpstr>
      <vt:lpstr>Avenir Next LT Pro</vt:lpstr>
      <vt:lpstr>Calibri</vt:lpstr>
      <vt:lpstr>Montserrat</vt:lpstr>
      <vt:lpstr>Montserrat Light</vt:lpstr>
      <vt:lpstr>Montserrat Medium</vt:lpstr>
      <vt:lpstr>Montserrat SemiBold</vt:lpstr>
      <vt:lpstr>Montserrat Thin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 O N T A C T  U 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Anick Levesque</dc:creator>
  <cp:lastModifiedBy>Dave Nitkiewicz</cp:lastModifiedBy>
  <cp:revision>3</cp:revision>
  <dcterms:created xsi:type="dcterms:W3CDTF">2026-03-25T16:18:17Z</dcterms:created>
  <dcterms:modified xsi:type="dcterms:W3CDTF">2026-07-18T19:59:33Z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0x010100FA6BE3A4AE542B4E9A6055E5499FBF5C</vt:lpwstr>
  </property>
  <property fmtid="{D5CDD505-2E9C-101B-9397-08002B2CF9AE}" pid="3" name="MediaServiceImageTags">
    <vt:lpwstr/>
  </property>
</Properties>
</file>